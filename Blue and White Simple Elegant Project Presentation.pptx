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5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8288000" cy="10287000"/>
  <p:notesSz cx="6858000" cy="9144000"/>
  <p:embeddedFontLst>
    <p:embeddedFont>
      <p:font typeface="DIN Next" panose="020B0604020202020204" charset="0"/>
      <p:regular r:id="rId16"/>
    </p:embeddedFont>
    <p:embeddedFont>
      <p:font typeface="DIN Next Bold" panose="020B0604020202020204" charset="0"/>
      <p:regular r:id="rId17"/>
    </p:embeddedFont>
    <p:embeddedFont>
      <p:font typeface="Droid Arabic Naskh" panose="020B0604020202020204" charset="0"/>
      <p:regular r:id="rId18"/>
    </p:embeddedFont>
    <p:embeddedFont>
      <p:font typeface="Liter" panose="020B0604020202020204" charset="0"/>
      <p:regular r:id="rId19"/>
    </p:embeddedFont>
    <p:embeddedFont>
      <p:font typeface="Quattrocento Sans" panose="020F0502020204030204" pitchFamily="3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YE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4319E45-5D1F-4579-A721-742161B6C794}" type="datetimeFigureOut">
              <a:rPr lang="ar-YE" smtClean="0"/>
              <a:t>29/08/1447</a:t>
            </a:fld>
            <a:endParaRPr lang="ar-YE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YE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YE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YE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9CDF3FAF-C906-4D0C-90E8-0EC9F01C2796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50809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YE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F3FAF-C906-4D0C-90E8-0EC9F01C2796}" type="slidenum">
              <a:rPr lang="ar-YE" smtClean="0"/>
              <a:t>13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1228525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8.png"/><Relationship Id="rId7" Type="http://schemas.openxmlformats.org/officeDocument/2006/relationships/image" Target="../media/image2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31" t="-19061" r="-11075" b="-17820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508779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4114800" y="0"/>
                </a:moveTo>
                <a:lnTo>
                  <a:pt x="0" y="0"/>
                </a:lnTo>
                <a:lnTo>
                  <a:pt x="0" y="826738"/>
                </a:lnTo>
                <a:lnTo>
                  <a:pt x="4114800" y="82673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97714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72698" y="8069580"/>
            <a:ext cx="12382805" cy="2863000"/>
            <a:chOff x="0" y="0"/>
            <a:chExt cx="16510407" cy="3817333"/>
          </a:xfrm>
        </p:grpSpPr>
        <p:sp>
          <p:nvSpPr>
            <p:cNvPr id="5" name="Freeform 5"/>
            <p:cNvSpPr/>
            <p:nvPr/>
          </p:nvSpPr>
          <p:spPr>
            <a:xfrm flipH="1">
              <a:off x="0" y="0"/>
              <a:ext cx="9753600" cy="3169920"/>
            </a:xfrm>
            <a:custGeom>
              <a:avLst/>
              <a:gdLst/>
              <a:ahLst/>
              <a:cxnLst/>
              <a:rect l="l" t="t" r="r" b="b"/>
              <a:pathLst>
                <a:path w="9753600" h="3169920">
                  <a:moveTo>
                    <a:pt x="9753600" y="0"/>
                  </a:moveTo>
                  <a:lnTo>
                    <a:pt x="0" y="0"/>
                  </a:lnTo>
                  <a:lnTo>
                    <a:pt x="0" y="3169920"/>
                  </a:lnTo>
                  <a:lnTo>
                    <a:pt x="9753600" y="3169920"/>
                  </a:lnTo>
                  <a:lnTo>
                    <a:pt x="9753600" y="0"/>
                  </a:lnTo>
                  <a:close/>
                </a:path>
              </a:pathLst>
            </a:custGeom>
            <a:blipFill>
              <a:blip r:embed="rId5">
                <a:alphaModFix amt="7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3909747" y="2687938"/>
              <a:ext cx="12600659" cy="1129395"/>
              <a:chOff x="0" y="0"/>
              <a:chExt cx="4507680" cy="40402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07680" cy="404023"/>
              </a:xfrm>
              <a:custGeom>
                <a:avLst/>
                <a:gdLst/>
                <a:ahLst/>
                <a:cxnLst/>
                <a:rect l="l" t="t" r="r" b="b"/>
                <a:pathLst>
                  <a:path w="4507680" h="404023">
                    <a:moveTo>
                      <a:pt x="203200" y="0"/>
                    </a:moveTo>
                    <a:lnTo>
                      <a:pt x="4507680" y="0"/>
                    </a:lnTo>
                    <a:lnTo>
                      <a:pt x="4304480" y="404023"/>
                    </a:lnTo>
                    <a:lnTo>
                      <a:pt x="0" y="40402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D5871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1600" y="-38100"/>
                <a:ext cx="4304480" cy="4421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1028700" y="2303723"/>
            <a:ext cx="15842421" cy="3194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45"/>
              </a:lnSpc>
            </a:pPr>
            <a:r>
              <a:rPr lang="en-US" sz="6818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SMART DIGITAL MICROSCOPIC </a:t>
            </a:r>
          </a:p>
          <a:p>
            <a:pPr algn="l">
              <a:lnSpc>
                <a:spcPts val="8045"/>
              </a:lnSpc>
            </a:pPr>
            <a:endParaRPr lang="en-US" sz="6818" b="1">
              <a:solidFill>
                <a:srgbClr val="3D5871"/>
              </a:solidFill>
              <a:latin typeface="DIN Next Bold"/>
              <a:ea typeface="DIN Next Bold"/>
              <a:cs typeface="DIN Next Bold"/>
              <a:sym typeface="DIN Next Bold"/>
            </a:endParaRPr>
          </a:p>
          <a:p>
            <a:pPr algn="l">
              <a:lnSpc>
                <a:spcPts val="8045"/>
              </a:lnSpc>
            </a:pPr>
            <a:endParaRPr lang="en-US" sz="6818" b="1">
              <a:solidFill>
                <a:srgbClr val="3D5871"/>
              </a:solidFill>
              <a:latin typeface="DIN Next Bold"/>
              <a:ea typeface="DIN Next Bold"/>
              <a:cs typeface="DIN Next Bold"/>
              <a:sym typeface="DIN Nex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82320" y="3402369"/>
            <a:ext cx="11016086" cy="1054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81"/>
              </a:lnSpc>
            </a:pPr>
            <a:r>
              <a:rPr lang="en-US" sz="3289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Integrating Traditional Optical Microscopy withModern Digital Imaging and Artificial Intelligence</a:t>
            </a:r>
          </a:p>
          <a:p>
            <a:pPr algn="l">
              <a:lnSpc>
                <a:spcPts val="57"/>
              </a:lnSpc>
            </a:pPr>
            <a:endParaRPr lang="en-US" sz="3289">
              <a:solidFill>
                <a:srgbClr val="55676D"/>
              </a:solidFill>
              <a:latin typeface="DIN Next"/>
              <a:ea typeface="DIN Next"/>
              <a:cs typeface="DIN Next"/>
              <a:sym typeface="DIN Nex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82320" y="4812036"/>
            <a:ext cx="6208038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5074"/>
              </a:lnSpc>
              <a:spcBef>
                <a:spcPct val="0"/>
              </a:spcBef>
            </a:pPr>
            <a:r>
              <a:rPr lang="ar-EG" sz="4300">
                <a:solidFill>
                  <a:srgbClr val="000000"/>
                </a:solidFill>
                <a:latin typeface="DIN Next"/>
                <a:ea typeface="DIN Next"/>
                <a:cs typeface="DIN Next"/>
                <a:sym typeface="DIN Next"/>
                <a:rtl/>
              </a:rPr>
              <a:t>:</a:t>
            </a:r>
            <a:r>
              <a:rPr lang="en-US" sz="4300">
                <a:solidFill>
                  <a:srgbClr val="000000"/>
                </a:solidFill>
                <a:latin typeface="DIN Next"/>
                <a:ea typeface="DIN Next"/>
                <a:cs typeface="DIN Next"/>
                <a:sym typeface="DIN Next"/>
              </a:rPr>
              <a:t>Prepared by</a:t>
            </a:r>
          </a:p>
          <a:p>
            <a:pPr algn="ctr" rtl="1">
              <a:lnSpc>
                <a:spcPts val="88"/>
              </a:lnSpc>
              <a:spcBef>
                <a:spcPct val="0"/>
              </a:spcBef>
            </a:pPr>
            <a:endParaRPr lang="en-US" sz="4300">
              <a:solidFill>
                <a:srgbClr val="000000"/>
              </a:solidFill>
              <a:latin typeface="DIN Next"/>
              <a:ea typeface="DIN Next"/>
              <a:cs typeface="DIN Next"/>
              <a:sym typeface="DIN Nex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07879" y="5569080"/>
            <a:ext cx="8784838" cy="274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536"/>
              </a:lnSpc>
            </a:pPr>
            <a:r>
              <a:rPr lang="en-US" sz="2997">
                <a:solidFill>
                  <a:srgbClr val="000000"/>
                </a:solidFill>
                <a:latin typeface="DIN Next"/>
                <a:ea typeface="DIN Next"/>
                <a:cs typeface="DIN Next"/>
                <a:sym typeface="DIN Next"/>
              </a:rPr>
              <a:t>Zahed Abdo Ghaleb Abdullah</a:t>
            </a:r>
          </a:p>
          <a:p>
            <a:pPr algn="l" rtl="1">
              <a:lnSpc>
                <a:spcPts val="3536"/>
              </a:lnSpc>
            </a:pPr>
            <a:r>
              <a:rPr lang="en-US" sz="2997">
                <a:solidFill>
                  <a:srgbClr val="000000"/>
                </a:solidFill>
                <a:latin typeface="DIN Next"/>
                <a:ea typeface="DIN Next"/>
                <a:cs typeface="DIN Next"/>
                <a:sym typeface="DIN Next"/>
              </a:rPr>
              <a:t>Bashar Munawwar Hassan Saleh Wajih Al-Din</a:t>
            </a:r>
          </a:p>
          <a:p>
            <a:pPr algn="l" rtl="1">
              <a:lnSpc>
                <a:spcPts val="3536"/>
              </a:lnSpc>
            </a:pPr>
            <a:r>
              <a:rPr lang="en-US" sz="2997">
                <a:solidFill>
                  <a:srgbClr val="000000"/>
                </a:solidFill>
                <a:latin typeface="DIN Next"/>
                <a:ea typeface="DIN Next"/>
                <a:cs typeface="DIN Next"/>
                <a:sym typeface="DIN Next"/>
              </a:rPr>
              <a:t>Ayman Ahsan Hammoud Mane</a:t>
            </a:r>
          </a:p>
          <a:p>
            <a:pPr algn="l" rtl="1">
              <a:lnSpc>
                <a:spcPts val="3536"/>
              </a:lnSpc>
            </a:pPr>
            <a:r>
              <a:rPr lang="en-US" sz="2997">
                <a:solidFill>
                  <a:srgbClr val="000000"/>
                </a:solidFill>
                <a:latin typeface="DIN Next"/>
                <a:ea typeface="DIN Next"/>
                <a:cs typeface="DIN Next"/>
                <a:sym typeface="DIN Next"/>
              </a:rPr>
              <a:t>Anwar Ibrahim Rajeh Saleh Al-Montaser</a:t>
            </a:r>
          </a:p>
          <a:p>
            <a:pPr algn="l" rtl="1">
              <a:lnSpc>
                <a:spcPts val="3536"/>
              </a:lnSpc>
            </a:pPr>
            <a:r>
              <a:rPr lang="en-US" sz="2997">
                <a:solidFill>
                  <a:srgbClr val="000000"/>
                </a:solidFill>
                <a:latin typeface="DIN Next"/>
                <a:ea typeface="DIN Next"/>
                <a:cs typeface="DIN Next"/>
                <a:sym typeface="DIN Next"/>
              </a:rPr>
              <a:t>Ahmed Mohammed Abdo Othman</a:t>
            </a:r>
          </a:p>
          <a:p>
            <a:pPr algn="l" rtl="1">
              <a:lnSpc>
                <a:spcPts val="3536"/>
              </a:lnSpc>
            </a:pPr>
            <a:endParaRPr lang="en-US" sz="2997">
              <a:solidFill>
                <a:srgbClr val="000000"/>
              </a:solidFill>
              <a:latin typeface="DIN Next"/>
              <a:ea typeface="DIN Next"/>
              <a:cs typeface="DIN Next"/>
              <a:sym typeface="DIN Nex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roid Arabic Naskh"/>
                <a:ea typeface="Droid Arabic Naskh"/>
                <a:cs typeface="Droid Arabic Naskh"/>
                <a:sym typeface="Droid Arabic Naskh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24093" r="-12737" b="-5568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0" y="0"/>
                </a:moveTo>
                <a:lnTo>
                  <a:pt x="4114800" y="0"/>
                </a:lnTo>
                <a:lnTo>
                  <a:pt x="4114800" y="826738"/>
                </a:lnTo>
                <a:lnTo>
                  <a:pt x="0" y="826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97714"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287477" y="8340853"/>
            <a:ext cx="19375671" cy="2421959"/>
          </a:xfrm>
          <a:custGeom>
            <a:avLst/>
            <a:gdLst/>
            <a:ahLst/>
            <a:cxnLst/>
            <a:rect l="l" t="t" r="r" b="b"/>
            <a:pathLst>
              <a:path w="19375671" h="2421959">
                <a:moveTo>
                  <a:pt x="19375671" y="0"/>
                </a:moveTo>
                <a:lnTo>
                  <a:pt x="0" y="0"/>
                </a:lnTo>
                <a:lnTo>
                  <a:pt x="0" y="2421959"/>
                </a:lnTo>
                <a:lnTo>
                  <a:pt x="19375671" y="2421959"/>
                </a:lnTo>
                <a:lnTo>
                  <a:pt x="19375671" y="0"/>
                </a:lnTo>
                <a:close/>
              </a:path>
            </a:pathLst>
          </a:custGeom>
          <a:blipFill>
            <a:blip r:embed="rId5">
              <a:alphaModFix amt="7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2090867" y="3511136"/>
            <a:ext cx="10661942" cy="5313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3775"/>
              </a:lnSpc>
              <a:buFont typeface="Arial"/>
              <a:buChar char="•"/>
            </a:pPr>
            <a:r>
              <a:rPr lang="en-US" sz="3199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The Smart Digital Microscopic System is designed to integrate traditional optical microscopy with modern digital imaging and artificial intelligence technologies.</a:t>
            </a:r>
          </a:p>
          <a:p>
            <a:pPr algn="l">
              <a:lnSpc>
                <a:spcPts val="3775"/>
              </a:lnSpc>
            </a:pPr>
            <a:endParaRPr lang="en-US" sz="3199">
              <a:solidFill>
                <a:srgbClr val="55676D"/>
              </a:solidFill>
              <a:latin typeface="DIN Next"/>
              <a:ea typeface="DIN Next"/>
              <a:cs typeface="DIN Next"/>
              <a:sym typeface="DIN Next"/>
            </a:endParaRPr>
          </a:p>
          <a:p>
            <a:pPr marL="690879" lvl="1" indent="-345439" algn="l">
              <a:lnSpc>
                <a:spcPts val="3775"/>
              </a:lnSpc>
              <a:buFont typeface="Arial"/>
              <a:buChar char="•"/>
            </a:pPr>
            <a:r>
              <a:rPr lang="en-US" sz="3199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The system enables automated image acquisition , enhancement , measurement , and intelligent analysis of microscopic samples.</a:t>
            </a:r>
          </a:p>
          <a:p>
            <a:pPr algn="l">
              <a:lnSpc>
                <a:spcPts val="3775"/>
              </a:lnSpc>
            </a:pPr>
            <a:endParaRPr lang="en-US" sz="3199">
              <a:solidFill>
                <a:srgbClr val="55676D"/>
              </a:solidFill>
              <a:latin typeface="DIN Next"/>
              <a:ea typeface="DIN Next"/>
              <a:cs typeface="DIN Next"/>
              <a:sym typeface="DIN Next"/>
            </a:endParaRPr>
          </a:p>
          <a:p>
            <a:pPr marL="690879" lvl="1" indent="-345439" algn="l">
              <a:lnSpc>
                <a:spcPts val="3775"/>
              </a:lnSpc>
              <a:buFont typeface="Arial"/>
              <a:buChar char="•"/>
            </a:pPr>
            <a:r>
              <a:rPr lang="en-US" sz="3199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It aims to improve </a:t>
            </a:r>
            <a:r>
              <a:rPr lang="en-US" sz="3199" b="1">
                <a:solidFill>
                  <a:srgbClr val="55676D"/>
                </a:solidFill>
                <a:latin typeface="DIN Next Bold"/>
                <a:ea typeface="DIN Next Bold"/>
                <a:cs typeface="DIN Next Bold"/>
                <a:sym typeface="DIN Next Bold"/>
              </a:rPr>
              <a:t>accuracy</a:t>
            </a:r>
            <a:r>
              <a:rPr lang="en-US" sz="3199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, </a:t>
            </a:r>
            <a:r>
              <a:rPr lang="en-US" sz="3199" b="1">
                <a:solidFill>
                  <a:srgbClr val="55676D"/>
                </a:solidFill>
                <a:latin typeface="DIN Next Bold"/>
                <a:ea typeface="DIN Next Bold"/>
                <a:cs typeface="DIN Next Bold"/>
                <a:sym typeface="DIN Next Bold"/>
              </a:rPr>
              <a:t>efficiency</a:t>
            </a:r>
            <a:r>
              <a:rPr lang="en-US" sz="3199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, and </a:t>
            </a:r>
            <a:r>
              <a:rPr lang="en-US" sz="3199" b="1">
                <a:solidFill>
                  <a:srgbClr val="55676D"/>
                </a:solidFill>
                <a:latin typeface="DIN Next Bold"/>
                <a:ea typeface="DIN Next Bold"/>
                <a:cs typeface="DIN Next Bold"/>
                <a:sym typeface="DIN Next Bold"/>
              </a:rPr>
              <a:t>reliability</a:t>
            </a:r>
            <a:r>
              <a:rPr lang="en-US" sz="3199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 in laboratory and medical environments.</a:t>
            </a:r>
          </a:p>
          <a:p>
            <a:pPr algn="l">
              <a:lnSpc>
                <a:spcPts val="3775"/>
              </a:lnSpc>
            </a:pPr>
            <a:endParaRPr lang="en-US" sz="3199">
              <a:solidFill>
                <a:srgbClr val="55676D"/>
              </a:solidFill>
              <a:latin typeface="DIN Next"/>
              <a:ea typeface="DIN Next"/>
              <a:cs typeface="DIN Next"/>
              <a:sym typeface="DIN Nex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090867" y="1994040"/>
            <a:ext cx="8146027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40"/>
              </a:lnSpc>
            </a:pPr>
            <a:r>
              <a:rPr lang="en-US" sz="8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roid Arabic Naskh"/>
                <a:ea typeface="Droid Arabic Naskh"/>
                <a:cs typeface="Droid Arabic Naskh"/>
                <a:sym typeface="Droid Arabic Naskh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333" t="-23232" r="-2272" b="-367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0" y="0"/>
                </a:moveTo>
                <a:lnTo>
                  <a:pt x="4114800" y="0"/>
                </a:lnTo>
                <a:lnTo>
                  <a:pt x="4114800" y="826738"/>
                </a:lnTo>
                <a:lnTo>
                  <a:pt x="0" y="826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9771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663798" y="1327769"/>
            <a:ext cx="7509634" cy="106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07"/>
              </a:lnSpc>
            </a:pPr>
            <a:r>
              <a:rPr lang="en-US" sz="6277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31600" y="2325663"/>
            <a:ext cx="2339010" cy="1084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7325" lvl="1" indent="-368663" algn="ctr">
              <a:lnSpc>
                <a:spcPts val="4029"/>
              </a:lnSpc>
              <a:buFont typeface="Arial"/>
              <a:buChar char="•"/>
            </a:pPr>
            <a:r>
              <a:rPr lang="en-US" sz="3415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Human Error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21302" y="3702801"/>
            <a:ext cx="3039968" cy="106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6293" lvl="1" indent="-358147" algn="ctr">
              <a:lnSpc>
                <a:spcPts val="3914"/>
              </a:lnSpc>
              <a:buFont typeface="Arial"/>
              <a:buChar char="•"/>
            </a:pPr>
            <a:r>
              <a:rPr lang="en-US" sz="3317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Inconsistent Results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5650936" y="6708266"/>
            <a:ext cx="13316219" cy="3578734"/>
          </a:xfrm>
          <a:custGeom>
            <a:avLst/>
            <a:gdLst/>
            <a:ahLst/>
            <a:cxnLst/>
            <a:rect l="l" t="t" r="r" b="b"/>
            <a:pathLst>
              <a:path w="13316219" h="3578734">
                <a:moveTo>
                  <a:pt x="13316219" y="0"/>
                </a:moveTo>
                <a:lnTo>
                  <a:pt x="0" y="0"/>
                </a:lnTo>
                <a:lnTo>
                  <a:pt x="0" y="3578734"/>
                </a:lnTo>
                <a:lnTo>
                  <a:pt x="13316219" y="3578734"/>
                </a:lnTo>
                <a:lnTo>
                  <a:pt x="13316219" y="0"/>
                </a:lnTo>
                <a:close/>
              </a:path>
            </a:pathLst>
          </a:custGeom>
          <a:blipFill>
            <a:blip r:embed="rId5">
              <a:alphaModFix amt="7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8" name="Group 8"/>
          <p:cNvGrpSpPr/>
          <p:nvPr/>
        </p:nvGrpSpPr>
        <p:grpSpPr>
          <a:xfrm>
            <a:off x="4001106" y="10044900"/>
            <a:ext cx="1860164" cy="484200"/>
            <a:chOff x="0" y="0"/>
            <a:chExt cx="812800" cy="2115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211572"/>
            </a:xfrm>
            <a:custGeom>
              <a:avLst/>
              <a:gdLst/>
              <a:ahLst/>
              <a:cxnLst/>
              <a:rect l="l" t="t" r="r" b="b"/>
              <a:pathLst>
                <a:path w="812800" h="211572">
                  <a:moveTo>
                    <a:pt x="203200" y="0"/>
                  </a:moveTo>
                  <a:lnTo>
                    <a:pt x="812800" y="0"/>
                  </a:lnTo>
                  <a:lnTo>
                    <a:pt x="609600" y="211572"/>
                  </a:lnTo>
                  <a:lnTo>
                    <a:pt x="0" y="21157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587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609600" cy="249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126068" y="2354238"/>
            <a:ext cx="8706004" cy="154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2864"/>
              </a:lnSpc>
              <a:spcBef>
                <a:spcPct val="0"/>
              </a:spcBef>
            </a:pPr>
            <a:r>
              <a:rPr lang="en-US" sz="2427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Subjective interpretation varies between observers, leading to inconsistent diagnostic outcomes and potential misclassification of critical samples</a:t>
            </a:r>
            <a:r>
              <a:rPr lang="ar-EG" sz="2427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  <a:rtl/>
              </a:rPr>
              <a:t>.</a:t>
            </a:r>
          </a:p>
          <a:p>
            <a:pPr algn="l" rtl="1">
              <a:lnSpc>
                <a:spcPts val="3336"/>
              </a:lnSpc>
              <a:spcBef>
                <a:spcPct val="0"/>
              </a:spcBef>
            </a:pPr>
            <a:endParaRPr lang="ar-EG" sz="2427" b="1">
              <a:solidFill>
                <a:srgbClr val="3D5871"/>
              </a:solidFill>
              <a:latin typeface="DIN Next Bold"/>
              <a:ea typeface="DIN Next Bold"/>
              <a:cs typeface="DIN Next Bold"/>
              <a:sym typeface="DIN Next Bold"/>
              <a:rtl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126068" y="3865862"/>
            <a:ext cx="9770177" cy="768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2858"/>
              </a:lnSpc>
              <a:spcBef>
                <a:spcPct val="0"/>
              </a:spcBef>
            </a:pPr>
            <a:r>
              <a:rPr lang="en-US" sz="2422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Measurement accuracy depends on operator skill and experience, resulting in variable precision across different users and sessions</a:t>
            </a:r>
            <a:r>
              <a:rPr lang="ar-EG" sz="2422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  <a:rtl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63798" y="5063777"/>
            <a:ext cx="3462270" cy="1104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291" lvl="1" indent="-376646" algn="ctr">
              <a:lnSpc>
                <a:spcPts val="4117"/>
              </a:lnSpc>
              <a:buFont typeface="Arial"/>
              <a:buChar char="•"/>
            </a:pPr>
            <a:r>
              <a:rPr lang="en-US" sz="3489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Time-Consuming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63798" y="6748193"/>
            <a:ext cx="3197472" cy="106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4428" lvl="1" indent="-357214" algn="ctr">
              <a:lnSpc>
                <a:spcPts val="3904"/>
              </a:lnSpc>
              <a:buFont typeface="Arial"/>
              <a:buChar char="•"/>
            </a:pPr>
            <a:r>
              <a:rPr lang="en-US" sz="3309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Data Management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26068" y="5203737"/>
            <a:ext cx="9380566" cy="180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2872"/>
              </a:lnSpc>
              <a:spcBef>
                <a:spcPct val="0"/>
              </a:spcBef>
            </a:pPr>
            <a:r>
              <a:rPr lang="en-US" sz="2434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Manual analysis requires significant time investment, limiting throughput and creating bottlenecks in high-demand laboratory environments</a:t>
            </a:r>
            <a:r>
              <a:rPr lang="ar-EG" sz="2434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  <a:rtl/>
              </a:rPr>
              <a:t>.</a:t>
            </a:r>
          </a:p>
          <a:p>
            <a:pPr algn="ctr" rtl="1">
              <a:lnSpc>
                <a:spcPts val="5350"/>
              </a:lnSpc>
              <a:spcBef>
                <a:spcPct val="0"/>
              </a:spcBef>
            </a:pPr>
            <a:endParaRPr lang="ar-EG" sz="2434" b="1">
              <a:solidFill>
                <a:srgbClr val="3D5871"/>
              </a:solidFill>
              <a:latin typeface="DIN Next Bold"/>
              <a:ea typeface="DIN Next Bold"/>
              <a:cs typeface="DIN Next Bold"/>
              <a:sym typeface="DIN Next Bold"/>
              <a:rtl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126068" y="7060691"/>
            <a:ext cx="9558169" cy="768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2853"/>
              </a:lnSpc>
              <a:spcBef>
                <a:spcPct val="0"/>
              </a:spcBef>
            </a:pPr>
            <a:r>
              <a:rPr lang="en-US" sz="2418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Difficulty in storing, retrieving, and comparing historical data hinders longitudinal studies and quality control processes</a:t>
            </a:r>
            <a:r>
              <a:rPr lang="ar-EG" sz="2418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  <a:rtl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D5871"/>
                </a:solidFill>
                <a:latin typeface="Droid Arabic Naskh"/>
                <a:ea typeface="Droid Arabic Naskh"/>
                <a:cs typeface="Droid Arabic Naskh"/>
                <a:sym typeface="Droid Arabic Naskh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0473" r="-31580" b="-1923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508779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4114800" y="0"/>
                </a:moveTo>
                <a:lnTo>
                  <a:pt x="0" y="0"/>
                </a:lnTo>
                <a:lnTo>
                  <a:pt x="0" y="826738"/>
                </a:lnTo>
                <a:lnTo>
                  <a:pt x="4114800" y="82673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97714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5791" y="9486900"/>
            <a:ext cx="12715897" cy="1445680"/>
            <a:chOff x="0" y="0"/>
            <a:chExt cx="16954530" cy="1927573"/>
          </a:xfrm>
        </p:grpSpPr>
        <p:sp>
          <p:nvSpPr>
            <p:cNvPr id="5" name="Freeform 5"/>
            <p:cNvSpPr/>
            <p:nvPr/>
          </p:nvSpPr>
          <p:spPr>
            <a:xfrm flipH="1">
              <a:off x="0" y="0"/>
              <a:ext cx="9753600" cy="1219200"/>
            </a:xfrm>
            <a:custGeom>
              <a:avLst/>
              <a:gdLst/>
              <a:ahLst/>
              <a:cxnLst/>
              <a:rect l="l" t="t" r="r" b="b"/>
              <a:pathLst>
                <a:path w="9753600" h="1219200">
                  <a:moveTo>
                    <a:pt x="97536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753600" y="1219200"/>
                  </a:lnTo>
                  <a:lnTo>
                    <a:pt x="9753600" y="0"/>
                  </a:lnTo>
                  <a:close/>
                </a:path>
              </a:pathLst>
            </a:custGeom>
            <a:blipFill>
              <a:blip r:embed="rId5">
                <a:alphaModFix amt="7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4353870" y="798178"/>
              <a:ext cx="12600659" cy="1129395"/>
              <a:chOff x="0" y="0"/>
              <a:chExt cx="4507680" cy="40402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07680" cy="404023"/>
              </a:xfrm>
              <a:custGeom>
                <a:avLst/>
                <a:gdLst/>
                <a:ahLst/>
                <a:cxnLst/>
                <a:rect l="l" t="t" r="r" b="b"/>
                <a:pathLst>
                  <a:path w="4507680" h="404023">
                    <a:moveTo>
                      <a:pt x="203200" y="0"/>
                    </a:moveTo>
                    <a:lnTo>
                      <a:pt x="4507680" y="0"/>
                    </a:lnTo>
                    <a:lnTo>
                      <a:pt x="4304480" y="404023"/>
                    </a:lnTo>
                    <a:lnTo>
                      <a:pt x="0" y="40402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D5871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1600" y="-38100"/>
                <a:ext cx="4304480" cy="4421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3356128" y="1628652"/>
            <a:ext cx="8953978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40"/>
              </a:lnSpc>
            </a:pPr>
            <a:r>
              <a:rPr lang="en-US" sz="8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Project Objectives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28443" y="3645474"/>
            <a:ext cx="14895136" cy="79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50"/>
              </a:lnSpc>
            </a:pPr>
            <a:r>
              <a:rPr lang="en-US" sz="25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To design and implement a smart digital microscope system capable of automated microscopic analysis.</a:t>
            </a:r>
          </a:p>
          <a:p>
            <a:pPr algn="just">
              <a:lnSpc>
                <a:spcPts val="2950"/>
              </a:lnSpc>
            </a:pPr>
            <a:endParaRPr lang="en-US" sz="2500">
              <a:solidFill>
                <a:srgbClr val="55676D"/>
              </a:solidFill>
              <a:latin typeface="DIN Next"/>
              <a:ea typeface="DIN Next"/>
              <a:cs typeface="DIN Next"/>
              <a:sym typeface="DIN Nex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41813" y="4992666"/>
            <a:ext cx="3695535" cy="1825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89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Capture high-resolution microscopic images with optimal clarity and detail preservation.</a:t>
            </a:r>
          </a:p>
          <a:p>
            <a:pPr algn="l">
              <a:lnSpc>
                <a:spcPts val="2819"/>
              </a:lnSpc>
            </a:pPr>
            <a:endParaRPr lang="en-US" sz="2389">
              <a:solidFill>
                <a:srgbClr val="55676D"/>
              </a:solidFill>
              <a:latin typeface="DIN Next"/>
              <a:ea typeface="DIN Next"/>
              <a:cs typeface="DIN Next"/>
              <a:sym typeface="DIN Nex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637348" y="5002191"/>
            <a:ext cx="3867155" cy="191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5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Apply digital image processing techniques for enhancement and noise reduction.</a:t>
            </a:r>
          </a:p>
          <a:p>
            <a:pPr algn="l">
              <a:lnSpc>
                <a:spcPts val="2950"/>
              </a:lnSpc>
            </a:pPr>
            <a:endParaRPr lang="en-US" sz="2500">
              <a:solidFill>
                <a:srgbClr val="55676D"/>
              </a:solidFill>
              <a:latin typeface="DIN Next"/>
              <a:ea typeface="DIN Next"/>
              <a:cs typeface="DIN Next"/>
              <a:sym typeface="DIN Nex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432880" y="3137326"/>
            <a:ext cx="2754892" cy="388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2242">
                <a:solidFill>
                  <a:srgbClr val="000000"/>
                </a:solidFill>
                <a:latin typeface="DIN Next"/>
                <a:ea typeface="DIN Next"/>
                <a:cs typeface="DIN Next"/>
                <a:sym typeface="DIN Next"/>
              </a:rPr>
              <a:t>Main Objective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20755" y="4585274"/>
            <a:ext cx="2567017" cy="396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735"/>
              </a:lnSpc>
              <a:spcBef>
                <a:spcPct val="0"/>
              </a:spcBef>
            </a:pPr>
            <a:r>
              <a:rPr lang="en-US" sz="231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Image Capture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75949" y="4585274"/>
            <a:ext cx="2314337" cy="396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735"/>
              </a:lnSpc>
              <a:spcBef>
                <a:spcPct val="0"/>
              </a:spcBef>
            </a:pPr>
            <a:r>
              <a:rPr lang="en-US" sz="231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Image Processing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76011" y="4585274"/>
            <a:ext cx="2909255" cy="396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5"/>
              </a:lnSpc>
              <a:spcBef>
                <a:spcPct val="0"/>
              </a:spcBef>
            </a:pPr>
            <a:r>
              <a:rPr lang="en-US" sz="231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Measurement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57464" y="5011716"/>
            <a:ext cx="4253924" cy="113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2892"/>
              </a:lnSpc>
              <a:spcBef>
                <a:spcPct val="0"/>
              </a:spcBef>
            </a:pPr>
            <a:r>
              <a:rPr lang="en-US" sz="2451">
                <a:solidFill>
                  <a:srgbClr val="000000">
                    <a:alpha val="53725"/>
                  </a:srgbClr>
                </a:solidFill>
                <a:latin typeface="DIN Next"/>
                <a:ea typeface="DIN Next"/>
                <a:cs typeface="DIN Next"/>
                <a:sym typeface="DIN Next"/>
              </a:rPr>
              <a:t>Implement accurate measurement algorithms for quantitative analysis</a:t>
            </a:r>
            <a:r>
              <a:rPr lang="ar-EG" sz="2451">
                <a:solidFill>
                  <a:srgbClr val="000000">
                    <a:alpha val="53725"/>
                  </a:srgbClr>
                </a:solidFill>
                <a:latin typeface="DIN Next"/>
                <a:ea typeface="DIN Next"/>
                <a:cs typeface="DIN Next"/>
                <a:sym typeface="DIN Next"/>
                <a:rtl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51159" y="6770384"/>
            <a:ext cx="1918335" cy="425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971"/>
              </a:lnSpc>
              <a:spcBef>
                <a:spcPct val="0"/>
              </a:spcBef>
            </a:pPr>
            <a:r>
              <a:rPr lang="en-US" sz="251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AI Integration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70925" y="6770384"/>
            <a:ext cx="4140994" cy="425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971"/>
              </a:lnSpc>
              <a:spcBef>
                <a:spcPct val="0"/>
              </a:spcBef>
            </a:pPr>
            <a:r>
              <a:rPr lang="en-US" sz="251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User Interface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41813" y="7310181"/>
            <a:ext cx="4769494" cy="1293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207"/>
              </a:lnSpc>
              <a:spcBef>
                <a:spcPct val="0"/>
              </a:spcBef>
            </a:pPr>
            <a:r>
              <a:rPr lang="en-US" sz="2718" b="1">
                <a:solidFill>
                  <a:srgbClr val="000000">
                    <a:alpha val="49804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</a:rPr>
              <a:t>Integrate an AI-based analysis module for intelligent sample classification</a:t>
            </a:r>
            <a:r>
              <a:rPr lang="ar-EG" sz="2718" b="1">
                <a:solidFill>
                  <a:srgbClr val="000000">
                    <a:alpha val="49804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  <a:rtl/>
              </a:rPr>
              <a:t>.</a:t>
            </a:r>
          </a:p>
          <a:p>
            <a:pPr algn="l" rtl="1">
              <a:lnSpc>
                <a:spcPts val="88"/>
              </a:lnSpc>
              <a:spcBef>
                <a:spcPct val="0"/>
              </a:spcBef>
            </a:pPr>
            <a:endParaRPr lang="ar-EG" sz="2718" b="1">
              <a:solidFill>
                <a:srgbClr val="000000">
                  <a:alpha val="49804"/>
                </a:srgbClr>
              </a:solidFill>
              <a:latin typeface="DIN Next Bold"/>
              <a:ea typeface="DIN Next Bold"/>
              <a:cs typeface="DIN Next Bold"/>
              <a:sym typeface="DIN Next Bold"/>
              <a:rtl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481281" y="7319706"/>
            <a:ext cx="5127963" cy="116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2971"/>
              </a:lnSpc>
              <a:spcBef>
                <a:spcPct val="0"/>
              </a:spcBef>
            </a:pPr>
            <a:r>
              <a:rPr lang="en-US" sz="2518" b="1">
                <a:solidFill>
                  <a:srgbClr val="000000">
                    <a:alpha val="56863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</a:rPr>
              <a:t>Provide a user-friendly graphical interface for seamless interaction and result visualization</a:t>
            </a:r>
            <a:r>
              <a:rPr lang="ar-EG" sz="2518" b="1">
                <a:solidFill>
                  <a:srgbClr val="000000">
                    <a:alpha val="56863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  <a:rtl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roid Arabic Naskh"/>
                <a:ea typeface="Droid Arabic Naskh"/>
                <a:cs typeface="Droid Arabic Naskh"/>
                <a:sym typeface="Droid Arabic Naskh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333" t="-23232" r="-2272" b="-367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0" y="0"/>
                </a:moveTo>
                <a:lnTo>
                  <a:pt x="4114800" y="0"/>
                </a:lnTo>
                <a:lnTo>
                  <a:pt x="4114800" y="826738"/>
                </a:lnTo>
                <a:lnTo>
                  <a:pt x="0" y="826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97714"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5346569" y="7393497"/>
            <a:ext cx="12941431" cy="3478010"/>
          </a:xfrm>
          <a:custGeom>
            <a:avLst/>
            <a:gdLst/>
            <a:ahLst/>
            <a:cxnLst/>
            <a:rect l="l" t="t" r="r" b="b"/>
            <a:pathLst>
              <a:path w="12941431" h="3478010">
                <a:moveTo>
                  <a:pt x="12941431" y="0"/>
                </a:moveTo>
                <a:lnTo>
                  <a:pt x="0" y="0"/>
                </a:lnTo>
                <a:lnTo>
                  <a:pt x="0" y="3478010"/>
                </a:lnTo>
                <a:lnTo>
                  <a:pt x="12941431" y="3478010"/>
                </a:lnTo>
                <a:lnTo>
                  <a:pt x="12941431" y="0"/>
                </a:lnTo>
                <a:close/>
              </a:path>
            </a:pathLst>
          </a:custGeom>
          <a:blipFill>
            <a:blip r:embed="rId5">
              <a:alphaModFix amt="7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4001106" y="10044900"/>
            <a:ext cx="1860164" cy="484200"/>
            <a:chOff x="0" y="0"/>
            <a:chExt cx="812800" cy="2115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211572"/>
            </a:xfrm>
            <a:custGeom>
              <a:avLst/>
              <a:gdLst/>
              <a:ahLst/>
              <a:cxnLst/>
              <a:rect l="l" t="t" r="r" b="b"/>
              <a:pathLst>
                <a:path w="812800" h="211572">
                  <a:moveTo>
                    <a:pt x="203200" y="0"/>
                  </a:moveTo>
                  <a:lnTo>
                    <a:pt x="812800" y="0"/>
                  </a:lnTo>
                  <a:lnTo>
                    <a:pt x="609600" y="211572"/>
                  </a:lnTo>
                  <a:lnTo>
                    <a:pt x="0" y="21157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587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609600" cy="249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344383" y="1496298"/>
            <a:ext cx="9569672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0"/>
              </a:lnSpc>
            </a:pPr>
            <a:r>
              <a:rPr lang="en-US" sz="8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Project Scope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99021" y="3002518"/>
            <a:ext cx="4559110" cy="62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387"/>
              </a:lnSpc>
              <a:spcBef>
                <a:spcPct val="0"/>
              </a:spcBef>
            </a:pPr>
            <a:r>
              <a:rPr lang="en-US" sz="3718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The Project Includes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81715" y="3793013"/>
            <a:ext cx="4559110" cy="700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2617"/>
              </a:lnSpc>
            </a:pPr>
            <a:r>
              <a:rPr lang="en-US" sz="2218">
                <a:solidFill>
                  <a:srgbClr val="3D5871"/>
                </a:solidFill>
                <a:latin typeface="DIN Next"/>
                <a:ea typeface="DIN Next"/>
                <a:cs typeface="DIN Next"/>
                <a:sym typeface="DIN Next"/>
              </a:rPr>
              <a:t>Integration of hardware and software components for seamless operation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1715" y="4590352"/>
            <a:ext cx="4559110" cy="102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2617"/>
              </a:lnSpc>
              <a:spcBef>
                <a:spcPct val="0"/>
              </a:spcBef>
            </a:pPr>
            <a:r>
              <a:rPr lang="en-US" sz="2218" b="1">
                <a:solidFill>
                  <a:srgbClr val="3D5871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</a:rPr>
              <a:t>Image acquisition and processing capabilities with advanced algorithms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81715" y="5777087"/>
            <a:ext cx="4136497" cy="700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2617"/>
              </a:lnSpc>
              <a:spcBef>
                <a:spcPct val="0"/>
              </a:spcBef>
            </a:pPr>
            <a:r>
              <a:rPr lang="en-US" sz="2218" b="1">
                <a:solidFill>
                  <a:srgbClr val="3D5871">
                    <a:alpha val="70980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</a:rPr>
              <a:t>AI-based analysis of microscopic samples for automated detection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0327" y="6702125"/>
            <a:ext cx="4136497" cy="69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2588"/>
              </a:lnSpc>
              <a:spcBef>
                <a:spcPct val="0"/>
              </a:spcBef>
            </a:pPr>
            <a:r>
              <a:rPr lang="en-US" sz="2193" b="1">
                <a:solidFill>
                  <a:srgbClr val="3D5871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</a:rPr>
              <a:t>Laboratory-based performance testing and validation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29219" y="3002518"/>
            <a:ext cx="5985391" cy="62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7"/>
              </a:lnSpc>
              <a:spcBef>
                <a:spcPct val="0"/>
              </a:spcBef>
            </a:pPr>
            <a:r>
              <a:rPr lang="en-US" sz="3718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The Project Does Not Include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29219" y="3773849"/>
            <a:ext cx="5313509" cy="72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2670"/>
              </a:lnSpc>
              <a:spcBef>
                <a:spcPct val="0"/>
              </a:spcBef>
            </a:pPr>
            <a:r>
              <a:rPr lang="en-US" sz="2263" b="1">
                <a:solidFill>
                  <a:srgbClr val="3D5871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</a:rPr>
              <a:t>Industrial-scale medical device production and manufacturing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29219" y="4655898"/>
            <a:ext cx="4495397" cy="700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2612"/>
              </a:lnSpc>
              <a:spcBef>
                <a:spcPct val="0"/>
              </a:spcBef>
            </a:pPr>
            <a:r>
              <a:rPr lang="en-US" sz="2214" b="1">
                <a:solidFill>
                  <a:srgbClr val="3D5871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</a:rPr>
              <a:t>Certified clinical diagnosis and medical certification processes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D5871"/>
                </a:solidFill>
                <a:latin typeface="Droid Arabic Naskh"/>
                <a:ea typeface="Droid Arabic Naskh"/>
                <a:cs typeface="Droid Arabic Naskh"/>
                <a:sym typeface="Droid Arabic Naskh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0473" r="-31580" b="-1923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508779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4114800" y="0"/>
                </a:moveTo>
                <a:lnTo>
                  <a:pt x="0" y="0"/>
                </a:lnTo>
                <a:lnTo>
                  <a:pt x="0" y="826738"/>
                </a:lnTo>
                <a:lnTo>
                  <a:pt x="4114800" y="82673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97714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72698" y="8069580"/>
            <a:ext cx="12382805" cy="2863000"/>
            <a:chOff x="0" y="0"/>
            <a:chExt cx="16510407" cy="3817333"/>
          </a:xfrm>
        </p:grpSpPr>
        <p:sp>
          <p:nvSpPr>
            <p:cNvPr id="5" name="Freeform 5"/>
            <p:cNvSpPr/>
            <p:nvPr/>
          </p:nvSpPr>
          <p:spPr>
            <a:xfrm flipH="1">
              <a:off x="0" y="0"/>
              <a:ext cx="9753600" cy="3169920"/>
            </a:xfrm>
            <a:custGeom>
              <a:avLst/>
              <a:gdLst/>
              <a:ahLst/>
              <a:cxnLst/>
              <a:rect l="l" t="t" r="r" b="b"/>
              <a:pathLst>
                <a:path w="9753600" h="3169920">
                  <a:moveTo>
                    <a:pt x="9753600" y="0"/>
                  </a:moveTo>
                  <a:lnTo>
                    <a:pt x="0" y="0"/>
                  </a:lnTo>
                  <a:lnTo>
                    <a:pt x="0" y="3169920"/>
                  </a:lnTo>
                  <a:lnTo>
                    <a:pt x="9753600" y="3169920"/>
                  </a:lnTo>
                  <a:lnTo>
                    <a:pt x="9753600" y="0"/>
                  </a:lnTo>
                  <a:close/>
                </a:path>
              </a:pathLst>
            </a:custGeom>
            <a:blipFill>
              <a:blip r:embed="rId5">
                <a:alphaModFix amt="7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3909747" y="2687938"/>
              <a:ext cx="12600659" cy="1129395"/>
              <a:chOff x="0" y="0"/>
              <a:chExt cx="4507680" cy="40402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07680" cy="404023"/>
              </a:xfrm>
              <a:custGeom>
                <a:avLst/>
                <a:gdLst/>
                <a:ahLst/>
                <a:cxnLst/>
                <a:rect l="l" t="t" r="r" b="b"/>
                <a:pathLst>
                  <a:path w="4507680" h="404023">
                    <a:moveTo>
                      <a:pt x="203200" y="0"/>
                    </a:moveTo>
                    <a:lnTo>
                      <a:pt x="4507680" y="0"/>
                    </a:lnTo>
                    <a:lnTo>
                      <a:pt x="4304480" y="404023"/>
                    </a:lnTo>
                    <a:lnTo>
                      <a:pt x="0" y="40402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D5871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1600" y="-38100"/>
                <a:ext cx="4304480" cy="4421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12858726" y="2575350"/>
            <a:ext cx="5981865" cy="5951654"/>
          </a:xfrm>
          <a:custGeom>
            <a:avLst/>
            <a:gdLst/>
            <a:ahLst/>
            <a:cxnLst/>
            <a:rect l="l" t="t" r="r" b="b"/>
            <a:pathLst>
              <a:path w="5981865" h="5951654">
                <a:moveTo>
                  <a:pt x="0" y="0"/>
                </a:moveTo>
                <a:lnTo>
                  <a:pt x="5981865" y="0"/>
                </a:lnTo>
                <a:lnTo>
                  <a:pt x="5981865" y="5951654"/>
                </a:lnTo>
                <a:lnTo>
                  <a:pt x="0" y="59516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575368" y="1493073"/>
            <a:ext cx="9283359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0"/>
              </a:lnSpc>
            </a:pPr>
            <a:r>
              <a:rPr lang="en-US" sz="8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Project Limitations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30376" y="3647152"/>
            <a:ext cx="3964186" cy="53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679"/>
              </a:lnSpc>
              <a:spcBef>
                <a:spcPct val="0"/>
              </a:spcBef>
            </a:pPr>
            <a:r>
              <a:rPr lang="en-US" sz="3118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Hardware Dependency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8456" y="4407130"/>
            <a:ext cx="5343889" cy="142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735"/>
              </a:lnSpc>
              <a:spcBef>
                <a:spcPct val="0"/>
              </a:spcBef>
            </a:pPr>
            <a:r>
              <a:rPr lang="en-US" sz="2318" b="1">
                <a:solidFill>
                  <a:srgbClr val="3D5871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</a:rPr>
              <a:t>Performance depends on camera resolution and lighting quality, which may affect image clarity and analysis accuracy</a:t>
            </a:r>
            <a:r>
              <a:rPr lang="ar-EG" sz="2318" b="1">
                <a:solidFill>
                  <a:srgbClr val="3D5871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  <a:rtl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44424" y="3647152"/>
            <a:ext cx="3125391" cy="53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679"/>
              </a:lnSpc>
              <a:spcBef>
                <a:spcPct val="0"/>
              </a:spcBef>
            </a:pPr>
            <a:r>
              <a:rPr lang="en-US" sz="3118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Processing Speed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62315" y="4407130"/>
            <a:ext cx="5289609" cy="142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735"/>
              </a:lnSpc>
              <a:spcBef>
                <a:spcPct val="0"/>
              </a:spcBef>
            </a:pPr>
            <a:r>
              <a:rPr lang="en-US" sz="2318" b="1">
                <a:solidFill>
                  <a:srgbClr val="3D5871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</a:rPr>
              <a:t>Processing speed depends on hardware capability, with complex AI algorithms requiring significant computational resources</a:t>
            </a:r>
            <a:r>
              <a:rPr lang="ar-EG" sz="2318" b="1">
                <a:solidFill>
                  <a:srgbClr val="3D5871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  <a:rtl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96196" y="6422795"/>
            <a:ext cx="3709749" cy="53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797"/>
              </a:lnSpc>
              <a:spcBef>
                <a:spcPct val="0"/>
              </a:spcBef>
            </a:pPr>
            <a:r>
              <a:rPr lang="en-US" sz="3218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Testing Environment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20228" y="6422795"/>
            <a:ext cx="3768999" cy="53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797"/>
              </a:lnSpc>
              <a:spcBef>
                <a:spcPct val="0"/>
              </a:spcBef>
            </a:pPr>
            <a:r>
              <a:rPr lang="en-US" sz="3218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Dataset Limitations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30376" y="7183445"/>
            <a:ext cx="4961969" cy="1768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735"/>
              </a:lnSpc>
              <a:spcBef>
                <a:spcPct val="0"/>
              </a:spcBef>
            </a:pPr>
            <a:r>
              <a:rPr lang="en-US" sz="2318" b="1">
                <a:solidFill>
                  <a:srgbClr val="3D5871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</a:rPr>
              <a:t>Limited dataset used for AI training may affect model generalization and performance on diverse sample types</a:t>
            </a:r>
            <a:r>
              <a:rPr lang="ar-EG" sz="2318" b="1">
                <a:solidFill>
                  <a:srgbClr val="3D5871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  <a:rtl/>
              </a:rPr>
              <a:t>.</a:t>
            </a:r>
          </a:p>
          <a:p>
            <a:pPr algn="ctr" rtl="1">
              <a:lnSpc>
                <a:spcPts val="2735"/>
              </a:lnSpc>
              <a:spcBef>
                <a:spcPct val="0"/>
              </a:spcBef>
            </a:pPr>
            <a:endParaRPr lang="ar-EG" sz="2318" b="1">
              <a:solidFill>
                <a:srgbClr val="3D5871">
                  <a:alpha val="65882"/>
                </a:srgbClr>
              </a:solidFill>
              <a:latin typeface="DIN Next Bold"/>
              <a:ea typeface="DIN Next Bold"/>
              <a:cs typeface="DIN Next Bold"/>
              <a:sym typeface="DIN Next Bold"/>
              <a:rtl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955513" y="7183445"/>
            <a:ext cx="5903214" cy="1082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735"/>
              </a:lnSpc>
              <a:spcBef>
                <a:spcPct val="0"/>
              </a:spcBef>
            </a:pPr>
            <a:r>
              <a:rPr lang="en-US" sz="2318" b="1">
                <a:solidFill>
                  <a:srgbClr val="3D5871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</a:rPr>
              <a:t>Testing conducted in controlled laboratory conditions may not fully represent real-world clinical scenarios</a:t>
            </a:r>
            <a:r>
              <a:rPr lang="ar-EG" sz="2318" b="1">
                <a:solidFill>
                  <a:srgbClr val="3D5871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  <a:rtl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D5871"/>
                </a:solidFill>
                <a:latin typeface="Droid Arabic Naskh"/>
                <a:ea typeface="Droid Arabic Naskh"/>
                <a:cs typeface="Droid Arabic Naskh"/>
                <a:sym typeface="Droid Arabic Naskh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102" t="-23232" r="-1503" b="-367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0" y="0"/>
                </a:moveTo>
                <a:lnTo>
                  <a:pt x="4114800" y="0"/>
                </a:lnTo>
                <a:lnTo>
                  <a:pt x="4114800" y="826738"/>
                </a:lnTo>
                <a:lnTo>
                  <a:pt x="0" y="826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97714"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5272698" y="6884796"/>
            <a:ext cx="13316219" cy="3578734"/>
          </a:xfrm>
          <a:custGeom>
            <a:avLst/>
            <a:gdLst/>
            <a:ahLst/>
            <a:cxnLst/>
            <a:rect l="l" t="t" r="r" b="b"/>
            <a:pathLst>
              <a:path w="13316219" h="3578734">
                <a:moveTo>
                  <a:pt x="13316219" y="0"/>
                </a:moveTo>
                <a:lnTo>
                  <a:pt x="0" y="0"/>
                </a:lnTo>
                <a:lnTo>
                  <a:pt x="0" y="3578734"/>
                </a:lnTo>
                <a:lnTo>
                  <a:pt x="13316219" y="3578734"/>
                </a:lnTo>
                <a:lnTo>
                  <a:pt x="13316219" y="0"/>
                </a:lnTo>
                <a:close/>
              </a:path>
            </a:pathLst>
          </a:custGeom>
          <a:blipFill>
            <a:blip r:embed="rId5">
              <a:alphaModFix amt="7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4001106" y="10044900"/>
            <a:ext cx="1860164" cy="484200"/>
            <a:chOff x="0" y="0"/>
            <a:chExt cx="812800" cy="2115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211572"/>
            </a:xfrm>
            <a:custGeom>
              <a:avLst/>
              <a:gdLst/>
              <a:ahLst/>
              <a:cxnLst/>
              <a:rect l="l" t="t" r="r" b="b"/>
              <a:pathLst>
                <a:path w="812800" h="211572">
                  <a:moveTo>
                    <a:pt x="203200" y="0"/>
                  </a:moveTo>
                  <a:lnTo>
                    <a:pt x="812800" y="0"/>
                  </a:lnTo>
                  <a:lnTo>
                    <a:pt x="609600" y="211572"/>
                  </a:lnTo>
                  <a:lnTo>
                    <a:pt x="0" y="21157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587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609600" cy="249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447154" y="1945470"/>
            <a:ext cx="5876027" cy="7846229"/>
          </a:xfrm>
          <a:custGeom>
            <a:avLst/>
            <a:gdLst/>
            <a:ahLst/>
            <a:cxnLst/>
            <a:rect l="l" t="t" r="r" b="b"/>
            <a:pathLst>
              <a:path w="4906198" h="6189492">
                <a:moveTo>
                  <a:pt x="0" y="0"/>
                </a:moveTo>
                <a:lnTo>
                  <a:pt x="4906198" y="0"/>
                </a:lnTo>
                <a:lnTo>
                  <a:pt x="4906198" y="6189492"/>
                </a:lnTo>
                <a:lnTo>
                  <a:pt x="0" y="61894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61136" y="1289904"/>
            <a:ext cx="9569672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0"/>
              </a:lnSpc>
            </a:pPr>
            <a:r>
              <a:rPr lang="en-US" sz="8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Project Methodology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30920" y="2605624"/>
            <a:ext cx="7904228" cy="396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2735"/>
              </a:lnSpc>
              <a:spcBef>
                <a:spcPct val="0"/>
              </a:spcBef>
            </a:pPr>
            <a:r>
              <a:rPr lang="en-US" sz="2318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The project was developed following these stages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64333" y="3695700"/>
            <a:ext cx="6539971" cy="49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 dirty="0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Problem Analysis &amp; Theoretical Study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10649" y="4334294"/>
            <a:ext cx="7447340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 dirty="0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System Design &amp; Component Selection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93502" y="4915717"/>
            <a:ext cx="5690013" cy="49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443"/>
              </a:lnSpc>
              <a:spcBef>
                <a:spcPct val="0"/>
              </a:spcBef>
            </a:pPr>
            <a:r>
              <a:rPr lang="en-US" sz="2918" b="1" dirty="0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Hardware Assembly &amp; Calibration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89165" y="5524784"/>
            <a:ext cx="9341642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 dirty="0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Software Development &amp; Algorithm Implementation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89165" y="6200426"/>
            <a:ext cx="4013486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 dirty="0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AI Model Integration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08374" y="6970330"/>
            <a:ext cx="6084480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 dirty="0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Testing, Validation &amp; Evaluation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08374" y="7573099"/>
            <a:ext cx="4071193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 dirty="0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Iterative Approach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D5871"/>
                </a:solidFill>
                <a:latin typeface="Droid Arabic Naskh"/>
                <a:ea typeface="Droid Arabic Naskh"/>
                <a:cs typeface="Droid Arabic Naskh"/>
                <a:sym typeface="Droid Arabic Naskh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0473" r="-31580" b="-1923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508779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4114800" y="0"/>
                </a:moveTo>
                <a:lnTo>
                  <a:pt x="0" y="0"/>
                </a:lnTo>
                <a:lnTo>
                  <a:pt x="0" y="826738"/>
                </a:lnTo>
                <a:lnTo>
                  <a:pt x="4114800" y="82673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97714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5791" y="9486900"/>
            <a:ext cx="12715897" cy="1445680"/>
            <a:chOff x="0" y="0"/>
            <a:chExt cx="16954530" cy="1927573"/>
          </a:xfrm>
        </p:grpSpPr>
        <p:sp>
          <p:nvSpPr>
            <p:cNvPr id="5" name="Freeform 5"/>
            <p:cNvSpPr/>
            <p:nvPr/>
          </p:nvSpPr>
          <p:spPr>
            <a:xfrm flipH="1">
              <a:off x="0" y="0"/>
              <a:ext cx="9753600" cy="1219200"/>
            </a:xfrm>
            <a:custGeom>
              <a:avLst/>
              <a:gdLst/>
              <a:ahLst/>
              <a:cxnLst/>
              <a:rect l="l" t="t" r="r" b="b"/>
              <a:pathLst>
                <a:path w="9753600" h="1219200">
                  <a:moveTo>
                    <a:pt x="97536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753600" y="1219200"/>
                  </a:lnTo>
                  <a:lnTo>
                    <a:pt x="9753600" y="0"/>
                  </a:lnTo>
                  <a:close/>
                </a:path>
              </a:pathLst>
            </a:custGeom>
            <a:blipFill>
              <a:blip r:embed="rId5">
                <a:alphaModFix amt="7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4353870" y="798178"/>
              <a:ext cx="12600659" cy="1129395"/>
              <a:chOff x="0" y="0"/>
              <a:chExt cx="4507680" cy="40402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07680" cy="404023"/>
              </a:xfrm>
              <a:custGeom>
                <a:avLst/>
                <a:gdLst/>
                <a:ahLst/>
                <a:cxnLst/>
                <a:rect l="l" t="t" r="r" b="b"/>
                <a:pathLst>
                  <a:path w="4507680" h="404023">
                    <a:moveTo>
                      <a:pt x="203200" y="0"/>
                    </a:moveTo>
                    <a:lnTo>
                      <a:pt x="4507680" y="0"/>
                    </a:lnTo>
                    <a:lnTo>
                      <a:pt x="4304480" y="404023"/>
                    </a:lnTo>
                    <a:lnTo>
                      <a:pt x="0" y="40402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D5871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1600" y="-38100"/>
                <a:ext cx="4304480" cy="4421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12647612" y="1859944"/>
            <a:ext cx="5640388" cy="7245955"/>
          </a:xfrm>
          <a:custGeom>
            <a:avLst/>
            <a:gdLst/>
            <a:ahLst/>
            <a:cxnLst/>
            <a:rect l="l" t="t" r="r" b="b"/>
            <a:pathLst>
              <a:path w="6359682" h="5856474">
                <a:moveTo>
                  <a:pt x="0" y="0"/>
                </a:moveTo>
                <a:lnTo>
                  <a:pt x="6359681" y="0"/>
                </a:lnTo>
                <a:lnTo>
                  <a:pt x="6359681" y="5856475"/>
                </a:lnTo>
                <a:lnTo>
                  <a:pt x="0" y="58564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195855" y="1764695"/>
            <a:ext cx="7896291" cy="850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5922"/>
              </a:lnSpc>
              <a:spcBef>
                <a:spcPct val="0"/>
              </a:spcBef>
            </a:pPr>
            <a:r>
              <a:rPr lang="en-US" sz="5019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Medical Background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07000" y="3266247"/>
            <a:ext cx="3773924" cy="49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Blood Cell Examination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94631" y="3285551"/>
            <a:ext cx="3694554" cy="47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325"/>
              </a:lnSpc>
              <a:spcBef>
                <a:spcPct val="0"/>
              </a:spcBef>
            </a:pPr>
            <a:r>
              <a:rPr lang="en-US" sz="281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Tissue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57604" y="5805401"/>
            <a:ext cx="3694554" cy="921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Bacteria &amp; Parasite Detection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94631" y="5805401"/>
            <a:ext cx="3694554" cy="921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Pathological Sample Evaluation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73595" y="3711810"/>
            <a:ext cx="4909194" cy="194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2971"/>
              </a:lnSpc>
              <a:spcBef>
                <a:spcPct val="0"/>
              </a:spcBef>
            </a:pPr>
            <a:r>
              <a:rPr lang="en-US" sz="2518" b="1">
                <a:solidFill>
                  <a:srgbClr val="000000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</a:rPr>
              <a:t>Complete blood count analysis, cell morphology assessment, and identification of abnormal cell types for disease diagnosis</a:t>
            </a:r>
            <a:r>
              <a:rPr lang="ar-EG" sz="2518" b="1">
                <a:solidFill>
                  <a:srgbClr val="000000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  <a:rtl/>
              </a:rPr>
              <a:t>.</a:t>
            </a:r>
          </a:p>
          <a:p>
            <a:pPr algn="l" rtl="1">
              <a:lnSpc>
                <a:spcPts val="3207"/>
              </a:lnSpc>
              <a:spcBef>
                <a:spcPct val="0"/>
              </a:spcBef>
            </a:pPr>
            <a:endParaRPr lang="ar-EG" sz="2518" b="1">
              <a:solidFill>
                <a:srgbClr val="000000">
                  <a:alpha val="65882"/>
                </a:srgbClr>
              </a:solidFill>
              <a:latin typeface="DIN Next Bold"/>
              <a:ea typeface="DIN Next Bold"/>
              <a:cs typeface="DIN Next Bold"/>
              <a:sym typeface="DIN Next Bold"/>
              <a:rtl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11091" y="6679589"/>
            <a:ext cx="4787581" cy="153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2971"/>
              </a:lnSpc>
              <a:spcBef>
                <a:spcPct val="0"/>
              </a:spcBef>
            </a:pPr>
            <a:r>
              <a:rPr lang="en-US" sz="2518" b="1">
                <a:solidFill>
                  <a:srgbClr val="000000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</a:rPr>
              <a:t>Identification of infectious agents in clinical samples for accurate diagnosis and treatment planning</a:t>
            </a:r>
            <a:r>
              <a:rPr lang="ar-EG" sz="2518" b="1">
                <a:solidFill>
                  <a:srgbClr val="000000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  <a:rtl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94631" y="3711810"/>
            <a:ext cx="4852980" cy="1911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2971"/>
              </a:lnSpc>
              <a:spcBef>
                <a:spcPct val="0"/>
              </a:spcBef>
            </a:pPr>
            <a:r>
              <a:rPr lang="en-US" sz="2518" b="1">
                <a:solidFill>
                  <a:srgbClr val="000000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</a:rPr>
              <a:t>Histopathological examination of tissue samples to detect cancer, inflammation, and other pathological conditions</a:t>
            </a:r>
            <a:r>
              <a:rPr lang="ar-EG" sz="2518" b="1">
                <a:solidFill>
                  <a:srgbClr val="000000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  <a:rtl/>
              </a:rPr>
              <a:t>.</a:t>
            </a:r>
          </a:p>
          <a:p>
            <a:pPr algn="l" rtl="1">
              <a:lnSpc>
                <a:spcPts val="2971"/>
              </a:lnSpc>
              <a:spcBef>
                <a:spcPct val="0"/>
              </a:spcBef>
            </a:pPr>
            <a:endParaRPr lang="ar-EG" sz="2518" b="1">
              <a:solidFill>
                <a:srgbClr val="000000">
                  <a:alpha val="65882"/>
                </a:srgbClr>
              </a:solidFill>
              <a:latin typeface="DIN Next Bold"/>
              <a:ea typeface="DIN Next Bold"/>
              <a:cs typeface="DIN Next Bold"/>
              <a:sym typeface="DIN Next Bold"/>
              <a:rtl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570713" y="6679589"/>
            <a:ext cx="4142390" cy="153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971"/>
              </a:lnSpc>
              <a:spcBef>
                <a:spcPct val="0"/>
              </a:spcBef>
            </a:pPr>
            <a:r>
              <a:rPr lang="en-US" sz="2518" b="1">
                <a:solidFill>
                  <a:srgbClr val="000000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</a:rPr>
              <a:t>Comprehensive analysis of diseased tissue and cellular abnormalities for clinical decision-making</a:t>
            </a:r>
            <a:r>
              <a:rPr lang="ar-EG" sz="2518" b="1">
                <a:solidFill>
                  <a:srgbClr val="000000">
                    <a:alpha val="65882"/>
                  </a:srgbClr>
                </a:solidFill>
                <a:latin typeface="DIN Next Bold"/>
                <a:ea typeface="DIN Next Bold"/>
                <a:cs typeface="DIN Next Bold"/>
                <a:sym typeface="DIN Next Bold"/>
                <a:rtl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roid Arabic Naskh"/>
                <a:ea typeface="Droid Arabic Naskh"/>
                <a:cs typeface="Droid Arabic Naskh"/>
                <a:sym typeface="Droid Arabic Naskh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515" r="-20306" b="-18366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50080" y="9092685"/>
            <a:ext cx="9961255" cy="1344769"/>
          </a:xfrm>
          <a:custGeom>
            <a:avLst/>
            <a:gdLst/>
            <a:ahLst/>
            <a:cxnLst/>
            <a:rect l="l" t="t" r="r" b="b"/>
            <a:pathLst>
              <a:path w="9961255" h="1344769">
                <a:moveTo>
                  <a:pt x="9961255" y="0"/>
                </a:moveTo>
                <a:lnTo>
                  <a:pt x="0" y="0"/>
                </a:lnTo>
                <a:lnTo>
                  <a:pt x="0" y="1344769"/>
                </a:lnTo>
                <a:lnTo>
                  <a:pt x="9961255" y="1344769"/>
                </a:lnTo>
                <a:lnTo>
                  <a:pt x="9961255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1459798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4114800" y="0"/>
                </a:moveTo>
                <a:lnTo>
                  <a:pt x="0" y="0"/>
                </a:lnTo>
                <a:lnTo>
                  <a:pt x="0" y="826738"/>
                </a:lnTo>
                <a:lnTo>
                  <a:pt x="4114800" y="82673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9771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404860" y="1591966"/>
            <a:ext cx="8698674" cy="92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6473"/>
              </a:lnSpc>
              <a:spcBef>
                <a:spcPct val="0"/>
              </a:spcBef>
            </a:pPr>
            <a:r>
              <a:rPr lang="en-US" sz="5486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Literature Review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90800" y="3278575"/>
            <a:ext cx="5367831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 dirty="0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Digital Image Enhancement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43200" y="4154844"/>
            <a:ext cx="5367831" cy="49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 dirty="0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Deep Learning Classification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43200" y="4897815"/>
            <a:ext cx="4468416" cy="49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 dirty="0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Low-Cost Development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7201" y="5740533"/>
            <a:ext cx="5080413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 dirty="0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Research Gap Identified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77835" y="6673973"/>
            <a:ext cx="4905424" cy="49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 dirty="0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Project Contribution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roid Arabic Naskh"/>
                <a:ea typeface="Droid Arabic Naskh"/>
                <a:cs typeface="Droid Arabic Naskh"/>
                <a:sym typeface="Droid Arabic Naskh"/>
              </a:rPr>
              <a:t>9</a:t>
            </a:r>
          </a:p>
        </p:txBody>
      </p:sp>
      <p:pic>
        <p:nvPicPr>
          <p:cNvPr id="13" name="صورة 12">
            <a:extLst>
              <a:ext uri="{FF2B5EF4-FFF2-40B4-BE49-F238E27FC236}">
                <a16:creationId xmlns:a16="http://schemas.microsoft.com/office/drawing/2014/main" id="{DB1D6F67-2C71-29C9-CFCB-C70D716491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915" y="2663231"/>
            <a:ext cx="6553200" cy="698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515" r="-20306" b="-18366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50080" y="9092685"/>
            <a:ext cx="9961255" cy="1344769"/>
          </a:xfrm>
          <a:custGeom>
            <a:avLst/>
            <a:gdLst/>
            <a:ahLst/>
            <a:cxnLst/>
            <a:rect l="l" t="t" r="r" b="b"/>
            <a:pathLst>
              <a:path w="9961255" h="1344769">
                <a:moveTo>
                  <a:pt x="9961255" y="0"/>
                </a:moveTo>
                <a:lnTo>
                  <a:pt x="0" y="0"/>
                </a:lnTo>
                <a:lnTo>
                  <a:pt x="0" y="1344769"/>
                </a:lnTo>
                <a:lnTo>
                  <a:pt x="9961255" y="1344769"/>
                </a:lnTo>
                <a:lnTo>
                  <a:pt x="9961255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2669473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4114800" y="0"/>
                </a:moveTo>
                <a:lnTo>
                  <a:pt x="0" y="0"/>
                </a:lnTo>
                <a:lnTo>
                  <a:pt x="0" y="826738"/>
                </a:lnTo>
                <a:lnTo>
                  <a:pt x="4114800" y="82673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9771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404860" y="648010"/>
            <a:ext cx="8698674" cy="92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6473"/>
              </a:lnSpc>
              <a:spcBef>
                <a:spcPct val="0"/>
              </a:spcBef>
            </a:pPr>
            <a:r>
              <a:rPr lang="en-US" sz="5486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Hardware Components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96248" y="2755471"/>
            <a:ext cx="3998429" cy="49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Optical Microscope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45845" y="2755471"/>
            <a:ext cx="5367831" cy="49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Digital Camera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430" y="5970461"/>
            <a:ext cx="4468416" cy="49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Mounting Structure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33744" y="5970461"/>
            <a:ext cx="3269099" cy="49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Illumination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43274" y="5970461"/>
            <a:ext cx="4905424" cy="49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443"/>
              </a:lnSpc>
              <a:spcBef>
                <a:spcPct val="0"/>
              </a:spcBef>
            </a:pPr>
            <a:r>
              <a:rPr lang="en-US" sz="291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Processing Unit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roid Arabic Naskh"/>
                <a:ea typeface="Droid Arabic Naskh"/>
                <a:cs typeface="Droid Arabic Naskh"/>
                <a:sym typeface="Droid Arabic Naskh"/>
              </a:rPr>
              <a:t>10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98764" y="6861015"/>
            <a:ext cx="2824609" cy="1520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8"/>
              </a:lnSpc>
              <a:spcBef>
                <a:spcPct val="0"/>
              </a:spcBef>
            </a:pPr>
            <a:r>
              <a:rPr lang="en-US" sz="2024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Computer or embedded system for running </a:t>
            </a:r>
          </a:p>
          <a:p>
            <a:pPr algn="ctr">
              <a:lnSpc>
                <a:spcPts val="2388"/>
              </a:lnSpc>
              <a:spcBef>
                <a:spcPct val="0"/>
              </a:spcBef>
            </a:pPr>
            <a:r>
              <a:rPr lang="en-US" sz="2024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image processing algorithms and AI models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3313" y="6841965"/>
            <a:ext cx="2549961" cy="143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sz="235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Controlled lighting setup for optimal </a:t>
            </a:r>
          </a:p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sz="235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sample visibility and contrast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53352" y="6731426"/>
            <a:ext cx="2951508" cy="17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2"/>
              </a:lnSpc>
              <a:spcBef>
                <a:spcPct val="0"/>
              </a:spcBef>
            </a:pPr>
            <a:r>
              <a:rPr lang="en-US" sz="2324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Stable mounting system to ensure image</a:t>
            </a:r>
          </a:p>
          <a:p>
            <a:pPr algn="ctr">
              <a:lnSpc>
                <a:spcPts val="2742"/>
              </a:lnSpc>
              <a:spcBef>
                <a:spcPct val="0"/>
              </a:spcBef>
            </a:pPr>
            <a:r>
              <a:rPr lang="en-US" sz="2324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 stability and precise positioning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27616" y="3608658"/>
            <a:ext cx="3604289" cy="160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4"/>
              </a:lnSpc>
              <a:spcBef>
                <a:spcPct val="0"/>
              </a:spcBef>
            </a:pPr>
            <a:r>
              <a:rPr lang="en-US" sz="2630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High-resolution imaging sensor for capturing detailed microscopic images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05374" y="3668107"/>
            <a:ext cx="2628370" cy="1645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3"/>
              </a:lnSpc>
              <a:spcBef>
                <a:spcPct val="0"/>
              </a:spcBef>
            </a:pPr>
            <a:r>
              <a:rPr lang="en-US" sz="2180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High-quality optical system for initial</a:t>
            </a:r>
          </a:p>
          <a:p>
            <a:pPr algn="ctr">
              <a:lnSpc>
                <a:spcPts val="2573"/>
              </a:lnSpc>
              <a:spcBef>
                <a:spcPct val="0"/>
              </a:spcBef>
            </a:pPr>
            <a:r>
              <a:rPr lang="en-US" sz="2180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 sample magnification and visualization</a:t>
            </a:r>
          </a:p>
        </p:txBody>
      </p:sp>
      <p:pic>
        <p:nvPicPr>
          <p:cNvPr id="18" name="صورة 17">
            <a:extLst>
              <a:ext uri="{FF2B5EF4-FFF2-40B4-BE49-F238E27FC236}">
                <a16:creationId xmlns:a16="http://schemas.microsoft.com/office/drawing/2014/main" id="{20C42547-7DEF-ADA6-06FA-0D4228819B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5050" y="5844501"/>
            <a:ext cx="4464544" cy="3248184"/>
          </a:xfrm>
          <a:prstGeom prst="rect">
            <a:avLst/>
          </a:prstGeom>
        </p:spPr>
      </p:pic>
      <p:pic>
        <p:nvPicPr>
          <p:cNvPr id="20" name="صورة 19">
            <a:extLst>
              <a:ext uri="{FF2B5EF4-FFF2-40B4-BE49-F238E27FC236}">
                <a16:creationId xmlns:a16="http://schemas.microsoft.com/office/drawing/2014/main" id="{9309B1F1-59AE-88F8-3731-102D597AB8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985" y="2321854"/>
            <a:ext cx="4065746" cy="305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515" r="-20306" b="-18366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50080" y="9092685"/>
            <a:ext cx="9961255" cy="1344769"/>
          </a:xfrm>
          <a:custGeom>
            <a:avLst/>
            <a:gdLst/>
            <a:ahLst/>
            <a:cxnLst/>
            <a:rect l="l" t="t" r="r" b="b"/>
            <a:pathLst>
              <a:path w="9961255" h="1344769">
                <a:moveTo>
                  <a:pt x="9961255" y="0"/>
                </a:moveTo>
                <a:lnTo>
                  <a:pt x="0" y="0"/>
                </a:lnTo>
                <a:lnTo>
                  <a:pt x="0" y="1344769"/>
                </a:lnTo>
                <a:lnTo>
                  <a:pt x="9961255" y="1344769"/>
                </a:lnTo>
                <a:lnTo>
                  <a:pt x="9961255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2840923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4114800" y="0"/>
                </a:moveTo>
                <a:lnTo>
                  <a:pt x="0" y="0"/>
                </a:lnTo>
                <a:lnTo>
                  <a:pt x="0" y="826738"/>
                </a:lnTo>
                <a:lnTo>
                  <a:pt x="4114800" y="82673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9771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404860" y="648010"/>
            <a:ext cx="8698674" cy="92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6473"/>
              </a:lnSpc>
              <a:spcBef>
                <a:spcPct val="0"/>
              </a:spcBef>
            </a:pPr>
            <a:r>
              <a:rPr lang="en-US" sz="5486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Software Components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roid Arabic Naskh"/>
                <a:ea typeface="Droid Arabic Naskh"/>
                <a:cs typeface="Droid Arabic Naskh"/>
                <a:sym typeface="Droid Arabic Naskh"/>
              </a:rPr>
              <a:t>11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17995" y="3109114"/>
            <a:ext cx="7495377" cy="3377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67340" lvl="1" indent="-483670" algn="l">
              <a:lnSpc>
                <a:spcPts val="5286"/>
              </a:lnSpc>
              <a:buFont typeface="Arial"/>
              <a:buChar char="•"/>
            </a:pPr>
            <a:r>
              <a:rPr lang="en-US" sz="4480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Python Environment</a:t>
            </a:r>
          </a:p>
          <a:p>
            <a:pPr marL="967340" lvl="1" indent="-483670" algn="l">
              <a:lnSpc>
                <a:spcPts val="5286"/>
              </a:lnSpc>
              <a:buFont typeface="Arial"/>
              <a:buChar char="•"/>
            </a:pPr>
            <a:r>
              <a:rPr lang="en-US" sz="4480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OpenCV Library</a:t>
            </a:r>
          </a:p>
          <a:p>
            <a:pPr marL="967340" lvl="1" indent="-483670" algn="l">
              <a:lnSpc>
                <a:spcPts val="5286"/>
              </a:lnSpc>
              <a:buFont typeface="Arial"/>
              <a:buChar char="•"/>
            </a:pPr>
            <a:r>
              <a:rPr lang="en-US" sz="4480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TensorFlow/PyTorch</a:t>
            </a:r>
          </a:p>
          <a:p>
            <a:pPr marL="967340" lvl="1" indent="-483670" algn="l">
              <a:lnSpc>
                <a:spcPts val="5286"/>
              </a:lnSpc>
              <a:buFont typeface="Arial"/>
              <a:buChar char="•"/>
            </a:pPr>
            <a:r>
              <a:rPr lang="en-US" sz="4480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GUI Framework</a:t>
            </a:r>
          </a:p>
          <a:p>
            <a:pPr marL="967340" lvl="1" indent="-483670" algn="l">
              <a:lnSpc>
                <a:spcPts val="5286"/>
              </a:lnSpc>
              <a:buFont typeface="Arial"/>
              <a:buChar char="•"/>
            </a:pPr>
            <a:r>
              <a:rPr lang="en-US" sz="4480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Data Management System</a:t>
            </a:r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404E4AE2-8233-C546-795A-BA95D72197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904" y="2875899"/>
            <a:ext cx="8890000" cy="584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515" r="-20306" b="-183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578035"/>
            <a:ext cx="18288000" cy="7981890"/>
          </a:xfrm>
          <a:custGeom>
            <a:avLst/>
            <a:gdLst/>
            <a:ahLst/>
            <a:cxnLst/>
            <a:rect l="l" t="t" r="r" b="b"/>
            <a:pathLst>
              <a:path w="18288000" h="7981890">
                <a:moveTo>
                  <a:pt x="0" y="0"/>
                </a:moveTo>
                <a:lnTo>
                  <a:pt x="18288000" y="0"/>
                </a:lnTo>
                <a:lnTo>
                  <a:pt x="18288000" y="7981890"/>
                </a:lnTo>
                <a:lnTo>
                  <a:pt x="0" y="7981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1" t="-10509" r="-11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roid Arabic Naskh"/>
                <a:ea typeface="Droid Arabic Naskh"/>
                <a:cs typeface="Droid Arabic Naskh"/>
                <a:sym typeface="Droid Arabic Naskh"/>
              </a:rPr>
              <a:t>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29791" y="148670"/>
            <a:ext cx="9760955" cy="88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6157"/>
              </a:lnSpc>
              <a:spcBef>
                <a:spcPct val="0"/>
              </a:spcBef>
            </a:pPr>
            <a:r>
              <a:rPr lang="en-US" sz="5218" b="1">
                <a:solidFill>
                  <a:srgbClr val="000000"/>
                </a:solidFill>
                <a:latin typeface="DIN Next Bold"/>
                <a:ea typeface="DIN Next Bold"/>
                <a:cs typeface="DIN Next Bold"/>
                <a:sym typeface="DIN Next Bold"/>
              </a:rPr>
              <a:t>Software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7241724" y="9220200"/>
            <a:ext cx="187552" cy="35907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Droid Arabic Naskh"/>
                <a:ea typeface="Droid Arabic Naskh"/>
                <a:cs typeface="Droid Arabic Naskh"/>
                <a:sym typeface="Droid Arabic Naskh"/>
              </a:rPr>
              <a:t>4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140974C5-1ABB-E324-F905-27042D5D203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5000"/>
                </a:srgbClr>
              </a:gs>
              <a:gs pos="50000">
                <a:srgbClr val="2C3E50">
                  <a:alpha val="90000"/>
                </a:srgbClr>
              </a:gs>
              <a:gs pos="100000">
                <a:srgbClr val="1ABC9C">
                  <a:alpha val="40000"/>
                </a:srgbClr>
              </a:gs>
            </a:gsLst>
            <a:lin ang="2700000" scaled="1"/>
          </a:gradFill>
          <a:ln/>
        </p:spPr>
      </p:sp>
      <p:pic>
        <p:nvPicPr>
          <p:cNvPr id="9" name="Image 0" descr="https://kimi-web-img.moonshot.cn/img/images.squarespace-cdn.com/eb2e719e08addc4a2a95e5a8da1ed899de5b5c38.jpg">
            <a:extLst>
              <a:ext uri="{FF2B5EF4-FFF2-40B4-BE49-F238E27FC236}">
                <a16:creationId xmlns:a16="http://schemas.microsoft.com/office/drawing/2014/main" id="{5C987B56-078F-AE92-6EC4-CBCEDD0094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t="7904" b="7904"/>
          <a:stretch/>
        </p:blipFill>
        <p:spPr>
          <a:xfrm>
            <a:off x="0" y="0"/>
            <a:ext cx="18288000" cy="10287000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AA7DCF00-F546-8BF5-C630-EC262DA4E19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5000"/>
                </a:srgbClr>
              </a:gs>
              <a:gs pos="50000">
                <a:srgbClr val="2C3E50">
                  <a:alpha val="90000"/>
                </a:srgbClr>
              </a:gs>
              <a:gs pos="100000">
                <a:srgbClr val="1ABC9C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F50DCDE9-F654-871B-6AC7-17CA1FDE027F}"/>
              </a:ext>
            </a:extLst>
          </p:cNvPr>
          <p:cNvSpPr/>
          <p:nvPr/>
        </p:nvSpPr>
        <p:spPr>
          <a:xfrm>
            <a:off x="7677150" y="857250"/>
            <a:ext cx="1314450" cy="131445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1ABC9C">
              <a:alpha val="20000"/>
            </a:srgbClr>
          </a:solidFill>
          <a:ln w="50800">
            <a:solidFill>
              <a:srgbClr val="1ABC9C"/>
            </a:solidFill>
            <a:prstDash val="solid"/>
          </a:ln>
        </p:spPr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90AAF868-4226-FBE9-BB20-25A411D61FE7}"/>
              </a:ext>
            </a:extLst>
          </p:cNvPr>
          <p:cNvSpPr/>
          <p:nvPr/>
        </p:nvSpPr>
        <p:spPr>
          <a:xfrm>
            <a:off x="7915274" y="1066800"/>
            <a:ext cx="809626" cy="9144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88263" y="62597"/>
                </a:moveTo>
                <a:cubicBezTo>
                  <a:pt x="401032" y="71884"/>
                  <a:pt x="403890" y="89743"/>
                  <a:pt x="394603" y="102513"/>
                </a:cubicBezTo>
                <a:lnTo>
                  <a:pt x="166003" y="416838"/>
                </a:lnTo>
                <a:cubicBezTo>
                  <a:pt x="161092" y="423624"/>
                  <a:pt x="153501" y="427821"/>
                  <a:pt x="145107" y="428536"/>
                </a:cubicBezTo>
                <a:cubicBezTo>
                  <a:pt x="136714" y="429250"/>
                  <a:pt x="128588" y="426125"/>
                  <a:pt x="122694" y="420231"/>
                </a:cubicBezTo>
                <a:lnTo>
                  <a:pt x="8394" y="305931"/>
                </a:lnTo>
                <a:cubicBezTo>
                  <a:pt x="-2768" y="294769"/>
                  <a:pt x="-2768" y="276642"/>
                  <a:pt x="8394" y="265480"/>
                </a:cubicBezTo>
                <a:cubicBezTo>
                  <a:pt x="19556" y="254318"/>
                  <a:pt x="37683" y="254318"/>
                  <a:pt x="48845" y="265480"/>
                </a:cubicBezTo>
                <a:lnTo>
                  <a:pt x="139482" y="356116"/>
                </a:lnTo>
                <a:lnTo>
                  <a:pt x="348436" y="68848"/>
                </a:lnTo>
                <a:cubicBezTo>
                  <a:pt x="357723" y="56078"/>
                  <a:pt x="375583" y="53221"/>
                  <a:pt x="388352" y="62508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E1AC4415-E104-8093-EE6D-D2EB05359993}"/>
              </a:ext>
            </a:extLst>
          </p:cNvPr>
          <p:cNvSpPr/>
          <p:nvPr/>
        </p:nvSpPr>
        <p:spPr>
          <a:xfrm>
            <a:off x="5891212" y="2383157"/>
            <a:ext cx="470058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CF0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25868295-D574-E413-1B54-DB82F67EF1F7}"/>
              </a:ext>
            </a:extLst>
          </p:cNvPr>
          <p:cNvSpPr/>
          <p:nvPr/>
        </p:nvSpPr>
        <p:spPr>
          <a:xfrm>
            <a:off x="7315200" y="3107057"/>
            <a:ext cx="1828800" cy="5715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99702C2-5FB9-5A0D-7B6A-A4249F587A8C}"/>
              </a:ext>
            </a:extLst>
          </p:cNvPr>
          <p:cNvSpPr/>
          <p:nvPr/>
        </p:nvSpPr>
        <p:spPr>
          <a:xfrm>
            <a:off x="6172200" y="3373757"/>
            <a:ext cx="44434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ECF0F1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attention.</a:t>
            </a:r>
            <a:endParaRPr lang="en-US" sz="16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E9EF367A-432F-356B-6986-3B9BD58799B1}"/>
              </a:ext>
            </a:extLst>
          </p:cNvPr>
          <p:cNvSpPr/>
          <p:nvPr/>
        </p:nvSpPr>
        <p:spPr>
          <a:xfrm>
            <a:off x="6181725" y="3754636"/>
            <a:ext cx="44148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CF0F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welcome your questions.</a:t>
            </a:r>
            <a:endParaRPr lang="en-US" sz="16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71FF6224-D8D0-14C2-3BA1-9D75B69A917B}"/>
              </a:ext>
            </a:extLst>
          </p:cNvPr>
          <p:cNvSpPr/>
          <p:nvPr/>
        </p:nvSpPr>
        <p:spPr>
          <a:xfrm>
            <a:off x="4572000" y="4152900"/>
            <a:ext cx="7983855" cy="2796344"/>
          </a:xfrm>
          <a:custGeom>
            <a:avLst/>
            <a:gdLst/>
            <a:ahLst/>
            <a:cxnLst/>
            <a:rect l="l" t="t" r="r" b="b"/>
            <a:pathLst>
              <a:path w="5322570" h="1864229">
                <a:moveTo>
                  <a:pt x="152394" y="0"/>
                </a:moveTo>
                <a:lnTo>
                  <a:pt x="5170176" y="0"/>
                </a:lnTo>
                <a:cubicBezTo>
                  <a:pt x="5254341" y="0"/>
                  <a:pt x="5322570" y="99064"/>
                  <a:pt x="5322570" y="221265"/>
                </a:cubicBezTo>
                <a:lnTo>
                  <a:pt x="5322570" y="1642963"/>
                </a:lnTo>
                <a:cubicBezTo>
                  <a:pt x="5322570" y="1765165"/>
                  <a:pt x="5254341" y="1864229"/>
                  <a:pt x="5170176" y="1864229"/>
                </a:cubicBezTo>
                <a:lnTo>
                  <a:pt x="152394" y="1864229"/>
                </a:lnTo>
                <a:cubicBezTo>
                  <a:pt x="68229" y="1864229"/>
                  <a:pt x="0" y="1765165"/>
                  <a:pt x="0" y="1642963"/>
                </a:cubicBezTo>
                <a:lnTo>
                  <a:pt x="0" y="221265"/>
                </a:lnTo>
                <a:cubicBezTo>
                  <a:pt x="0" y="99146"/>
                  <a:pt x="68286" y="0"/>
                  <a:pt x="15239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ar-YE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D6461ADE-28F6-1A06-DC17-C62481DCAD13}"/>
              </a:ext>
            </a:extLst>
          </p:cNvPr>
          <p:cNvSpPr/>
          <p:nvPr/>
        </p:nvSpPr>
        <p:spPr>
          <a:xfrm>
            <a:off x="5780484" y="4314825"/>
            <a:ext cx="535782" cy="428625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1DA681A8-03D9-082D-9A16-EC1FA2659DB8}"/>
              </a:ext>
            </a:extLst>
          </p:cNvPr>
          <p:cNvSpPr/>
          <p:nvPr/>
        </p:nvSpPr>
        <p:spPr>
          <a:xfrm>
            <a:off x="4913649" y="4861197"/>
            <a:ext cx="23002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ECF0F1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</a:t>
            </a:r>
            <a:endParaRPr lang="en-US" sz="44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94DCFC86-3C6D-3378-3601-931B8C7BF214}"/>
              </a:ext>
            </a:extLst>
          </p:cNvPr>
          <p:cNvSpPr/>
          <p:nvPr/>
        </p:nvSpPr>
        <p:spPr>
          <a:xfrm>
            <a:off x="4663857" y="5184926"/>
            <a:ext cx="2799872" cy="1245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Zahed, Bashar, Ayman , Ahmed ,Anwar</a:t>
            </a:r>
            <a:endParaRPr lang="en-US" sz="28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87EDB02D-4250-B375-D812-55C699A89655}"/>
              </a:ext>
            </a:extLst>
          </p:cNvPr>
          <p:cNvSpPr/>
          <p:nvPr/>
        </p:nvSpPr>
        <p:spPr>
          <a:xfrm>
            <a:off x="8334375" y="4250185"/>
            <a:ext cx="375047" cy="428625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88052" y="138410"/>
                  <a:pt x="58043" y="108401"/>
                  <a:pt x="58043" y="71438"/>
                </a:cubicBezTo>
                <a:cubicBezTo>
                  <a:pt x="58043" y="34474"/>
                  <a:pt x="88052" y="4465"/>
                  <a:pt x="125016" y="4465"/>
                </a:cubicBezTo>
                <a:cubicBezTo>
                  <a:pt x="161979" y="4465"/>
                  <a:pt x="191988" y="34474"/>
                  <a:pt x="191988" y="71437"/>
                </a:cubicBezTo>
                <a:cubicBezTo>
                  <a:pt x="191988" y="108401"/>
                  <a:pt x="161979" y="138410"/>
                  <a:pt x="125016" y="138410"/>
                </a:cubicBezTo>
                <a:close/>
                <a:moveTo>
                  <a:pt x="107993" y="169664"/>
                </a:moveTo>
                <a:lnTo>
                  <a:pt x="142038" y="169664"/>
                </a:lnTo>
                <a:cubicBezTo>
                  <a:pt x="147451" y="169664"/>
                  <a:pt x="151805" y="174017"/>
                  <a:pt x="151805" y="179431"/>
                </a:cubicBezTo>
                <a:cubicBezTo>
                  <a:pt x="151805" y="181775"/>
                  <a:pt x="150968" y="184007"/>
                  <a:pt x="149461" y="185793"/>
                </a:cubicBezTo>
                <a:lnTo>
                  <a:pt x="134169" y="203653"/>
                </a:lnTo>
                <a:lnTo>
                  <a:pt x="151470" y="267891"/>
                </a:lnTo>
                <a:lnTo>
                  <a:pt x="151805" y="267891"/>
                </a:lnTo>
                <a:lnTo>
                  <a:pt x="171115" y="190593"/>
                </a:lnTo>
                <a:cubicBezTo>
                  <a:pt x="172343" y="185738"/>
                  <a:pt x="177310" y="182780"/>
                  <a:pt x="181998" y="184565"/>
                </a:cubicBezTo>
                <a:cubicBezTo>
                  <a:pt x="216545" y="197737"/>
                  <a:pt x="241102" y="231223"/>
                  <a:pt x="241102" y="270402"/>
                </a:cubicBezTo>
                <a:cubicBezTo>
                  <a:pt x="241102" y="278829"/>
                  <a:pt x="234237" y="285694"/>
                  <a:pt x="225809" y="285694"/>
                </a:cubicBezTo>
                <a:lnTo>
                  <a:pt x="24222" y="285750"/>
                </a:lnTo>
                <a:cubicBezTo>
                  <a:pt x="15794" y="285750"/>
                  <a:pt x="8930" y="278885"/>
                  <a:pt x="8930" y="270458"/>
                </a:cubicBezTo>
                <a:cubicBezTo>
                  <a:pt x="8930" y="231279"/>
                  <a:pt x="33486" y="197793"/>
                  <a:pt x="68033" y="184621"/>
                </a:cubicBezTo>
                <a:cubicBezTo>
                  <a:pt x="72721" y="182835"/>
                  <a:pt x="77688" y="185793"/>
                  <a:pt x="78916" y="190649"/>
                </a:cubicBezTo>
                <a:lnTo>
                  <a:pt x="98227" y="267946"/>
                </a:lnTo>
                <a:lnTo>
                  <a:pt x="98561" y="267946"/>
                </a:lnTo>
                <a:lnTo>
                  <a:pt x="115863" y="203708"/>
                </a:lnTo>
                <a:lnTo>
                  <a:pt x="100571" y="185849"/>
                </a:lnTo>
                <a:cubicBezTo>
                  <a:pt x="99064" y="184063"/>
                  <a:pt x="98227" y="181831"/>
                  <a:pt x="98227" y="179487"/>
                </a:cubicBezTo>
                <a:cubicBezTo>
                  <a:pt x="98227" y="174073"/>
                  <a:pt x="102580" y="169720"/>
                  <a:pt x="107993" y="169720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C236AAF4-BFE5-11FB-8C72-E43C60ED98DA}"/>
              </a:ext>
            </a:extLst>
          </p:cNvPr>
          <p:cNvSpPr/>
          <p:nvPr/>
        </p:nvSpPr>
        <p:spPr>
          <a:xfrm>
            <a:off x="7330440" y="4861197"/>
            <a:ext cx="23002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ECF0F1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</a:t>
            </a:r>
            <a:endParaRPr lang="en-US" sz="40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0759E579-3757-D4E7-EB2D-7118DF94221E}"/>
              </a:ext>
            </a:extLst>
          </p:cNvPr>
          <p:cNvSpPr/>
          <p:nvPr/>
        </p:nvSpPr>
        <p:spPr>
          <a:xfrm>
            <a:off x="7299960" y="5452114"/>
            <a:ext cx="2314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 Awadh AL-Kubati</a:t>
            </a:r>
            <a:endParaRPr lang="en-US" sz="2400" dirty="0"/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6D70BE61-9A24-2BAD-F870-961E8EAFC048}"/>
              </a:ext>
            </a:extLst>
          </p:cNvPr>
          <p:cNvSpPr/>
          <p:nvPr/>
        </p:nvSpPr>
        <p:spPr>
          <a:xfrm>
            <a:off x="10826355" y="4254576"/>
            <a:ext cx="375047" cy="428625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0"/>
                </a:moveTo>
                <a:cubicBezTo>
                  <a:pt x="81316" y="0"/>
                  <a:pt x="89297" y="7981"/>
                  <a:pt x="89297" y="17859"/>
                </a:cubicBezTo>
                <a:lnTo>
                  <a:pt x="89297" y="35719"/>
                </a:lnTo>
                <a:lnTo>
                  <a:pt x="160734" y="35719"/>
                </a:lnTo>
                <a:lnTo>
                  <a:pt x="160734" y="17859"/>
                </a:lnTo>
                <a:cubicBezTo>
                  <a:pt x="160734" y="7981"/>
                  <a:pt x="168715" y="0"/>
                  <a:pt x="178594" y="0"/>
                </a:cubicBezTo>
                <a:cubicBezTo>
                  <a:pt x="188472" y="0"/>
                  <a:pt x="196453" y="7981"/>
                  <a:pt x="196453" y="17859"/>
                </a:cubicBezTo>
                <a:lnTo>
                  <a:pt x="196453" y="35719"/>
                </a:lnTo>
                <a:lnTo>
                  <a:pt x="214313" y="35719"/>
                </a:lnTo>
                <a:cubicBezTo>
                  <a:pt x="234014" y="35719"/>
                  <a:pt x="250031" y="51736"/>
                  <a:pt x="250031" y="71438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71438"/>
                </a:lnTo>
                <a:cubicBezTo>
                  <a:pt x="0" y="51736"/>
                  <a:pt x="16018" y="35719"/>
                  <a:pt x="35719" y="35719"/>
                </a:cubicBezTo>
                <a:lnTo>
                  <a:pt x="53578" y="35719"/>
                </a:lnTo>
                <a:lnTo>
                  <a:pt x="53578" y="17859"/>
                </a:lnTo>
                <a:cubicBezTo>
                  <a:pt x="53578" y="7981"/>
                  <a:pt x="61559" y="0"/>
                  <a:pt x="71438" y="0"/>
                </a:cubicBezTo>
                <a:close/>
                <a:moveTo>
                  <a:pt x="35719" y="133945"/>
                </a:moveTo>
                <a:lnTo>
                  <a:pt x="35719" y="151805"/>
                </a:lnTo>
                <a:cubicBezTo>
                  <a:pt x="35719" y="156716"/>
                  <a:pt x="39737" y="160734"/>
                  <a:pt x="44648" y="160734"/>
                </a:cubicBezTo>
                <a:lnTo>
                  <a:pt x="62508" y="160734"/>
                </a:lnTo>
                <a:cubicBezTo>
                  <a:pt x="67419" y="160734"/>
                  <a:pt x="71438" y="156716"/>
                  <a:pt x="71438" y="151805"/>
                </a:cubicBezTo>
                <a:lnTo>
                  <a:pt x="71438" y="133945"/>
                </a:lnTo>
                <a:cubicBezTo>
                  <a:pt x="71438" y="129034"/>
                  <a:pt x="67419" y="125016"/>
                  <a:pt x="62508" y="125016"/>
                </a:cubicBezTo>
                <a:lnTo>
                  <a:pt x="44648" y="125016"/>
                </a:lnTo>
                <a:cubicBezTo>
                  <a:pt x="39737" y="125016"/>
                  <a:pt x="35719" y="129034"/>
                  <a:pt x="35719" y="133945"/>
                </a:cubicBezTo>
                <a:close/>
                <a:moveTo>
                  <a:pt x="107156" y="133945"/>
                </a:moveTo>
                <a:lnTo>
                  <a:pt x="107156" y="151805"/>
                </a:lnTo>
                <a:cubicBezTo>
                  <a:pt x="107156" y="156716"/>
                  <a:pt x="111175" y="160734"/>
                  <a:pt x="116086" y="160734"/>
                </a:cubicBezTo>
                <a:lnTo>
                  <a:pt x="133945" y="160734"/>
                </a:lnTo>
                <a:cubicBezTo>
                  <a:pt x="138857" y="160734"/>
                  <a:pt x="142875" y="156716"/>
                  <a:pt x="142875" y="151805"/>
                </a:cubicBezTo>
                <a:lnTo>
                  <a:pt x="142875" y="133945"/>
                </a:lnTo>
                <a:cubicBezTo>
                  <a:pt x="142875" y="129034"/>
                  <a:pt x="138857" y="125016"/>
                  <a:pt x="133945" y="125016"/>
                </a:cubicBezTo>
                <a:lnTo>
                  <a:pt x="116086" y="125016"/>
                </a:lnTo>
                <a:cubicBezTo>
                  <a:pt x="111175" y="125016"/>
                  <a:pt x="107156" y="129034"/>
                  <a:pt x="107156" y="133945"/>
                </a:cubicBezTo>
                <a:close/>
                <a:moveTo>
                  <a:pt x="187523" y="125016"/>
                </a:moveTo>
                <a:cubicBezTo>
                  <a:pt x="182612" y="125016"/>
                  <a:pt x="178594" y="129034"/>
                  <a:pt x="178594" y="133945"/>
                </a:cubicBezTo>
                <a:lnTo>
                  <a:pt x="178594" y="151805"/>
                </a:lnTo>
                <a:cubicBezTo>
                  <a:pt x="178594" y="156716"/>
                  <a:pt x="182612" y="160734"/>
                  <a:pt x="187523" y="160734"/>
                </a:cubicBezTo>
                <a:lnTo>
                  <a:pt x="205383" y="160734"/>
                </a:lnTo>
                <a:cubicBezTo>
                  <a:pt x="210294" y="160734"/>
                  <a:pt x="214313" y="156716"/>
                  <a:pt x="214313" y="151805"/>
                </a:cubicBezTo>
                <a:lnTo>
                  <a:pt x="214313" y="133945"/>
                </a:lnTo>
                <a:cubicBezTo>
                  <a:pt x="214313" y="129034"/>
                  <a:pt x="210294" y="125016"/>
                  <a:pt x="205383" y="125016"/>
                </a:cubicBezTo>
                <a:lnTo>
                  <a:pt x="187523" y="125016"/>
                </a:lnTo>
                <a:close/>
                <a:moveTo>
                  <a:pt x="35719" y="205383"/>
                </a:move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62508" y="232172"/>
                </a:lnTo>
                <a:cubicBezTo>
                  <a:pt x="67419" y="232172"/>
                  <a:pt x="71438" y="228154"/>
                  <a:pt x="71438" y="223242"/>
                </a:cubicBezTo>
                <a:lnTo>
                  <a:pt x="71438" y="205383"/>
                </a:lnTo>
                <a:cubicBezTo>
                  <a:pt x="71438" y="200471"/>
                  <a:pt x="67419" y="196453"/>
                  <a:pt x="62508" y="196453"/>
                </a:cubicBezTo>
                <a:lnTo>
                  <a:pt x="44648" y="196453"/>
                </a:lnTo>
                <a:cubicBezTo>
                  <a:pt x="39737" y="196453"/>
                  <a:pt x="35719" y="200471"/>
                  <a:pt x="35719" y="205383"/>
                </a:cubicBezTo>
                <a:close/>
                <a:moveTo>
                  <a:pt x="116086" y="196453"/>
                </a:moveTo>
                <a:cubicBezTo>
                  <a:pt x="111175" y="196453"/>
                  <a:pt x="107156" y="200471"/>
                  <a:pt x="107156" y="205383"/>
                </a:cubicBezTo>
                <a:lnTo>
                  <a:pt x="107156" y="223242"/>
                </a:lnTo>
                <a:cubicBezTo>
                  <a:pt x="107156" y="228154"/>
                  <a:pt x="111175" y="232172"/>
                  <a:pt x="116086" y="232172"/>
                </a:cubicBezTo>
                <a:lnTo>
                  <a:pt x="133945" y="232172"/>
                </a:lnTo>
                <a:cubicBezTo>
                  <a:pt x="138857" y="232172"/>
                  <a:pt x="142875" y="228154"/>
                  <a:pt x="142875" y="223242"/>
                </a:cubicBezTo>
                <a:lnTo>
                  <a:pt x="142875" y="205383"/>
                </a:lnTo>
                <a:cubicBezTo>
                  <a:pt x="142875" y="200471"/>
                  <a:pt x="138857" y="196453"/>
                  <a:pt x="133945" y="196453"/>
                </a:cubicBezTo>
                <a:lnTo>
                  <a:pt x="116086" y="196453"/>
                </a:lnTo>
                <a:close/>
                <a:moveTo>
                  <a:pt x="178594" y="205383"/>
                </a:moveTo>
                <a:lnTo>
                  <a:pt x="178594" y="223242"/>
                </a:lnTo>
                <a:cubicBezTo>
                  <a:pt x="178594" y="228154"/>
                  <a:pt x="182612" y="232172"/>
                  <a:pt x="187523" y="232172"/>
                </a:cubicBezTo>
                <a:lnTo>
                  <a:pt x="205383" y="232172"/>
                </a:lnTo>
                <a:cubicBezTo>
                  <a:pt x="210294" y="232172"/>
                  <a:pt x="214313" y="228154"/>
                  <a:pt x="214313" y="223242"/>
                </a:cubicBezTo>
                <a:lnTo>
                  <a:pt x="214313" y="205383"/>
                </a:lnTo>
                <a:cubicBezTo>
                  <a:pt x="214313" y="200471"/>
                  <a:pt x="210294" y="196453"/>
                  <a:pt x="205383" y="196453"/>
                </a:cubicBezTo>
                <a:lnTo>
                  <a:pt x="187523" y="196453"/>
                </a:lnTo>
                <a:cubicBezTo>
                  <a:pt x="182612" y="196453"/>
                  <a:pt x="178594" y="200471"/>
                  <a:pt x="178594" y="205383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76F4DC16-0FDD-6697-382C-55B683EAFD52}"/>
              </a:ext>
            </a:extLst>
          </p:cNvPr>
          <p:cNvSpPr/>
          <p:nvPr/>
        </p:nvSpPr>
        <p:spPr>
          <a:xfrm>
            <a:off x="9863735" y="4844173"/>
            <a:ext cx="23002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ECF0F1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</a:t>
            </a:r>
            <a:endParaRPr lang="en-US" sz="16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70F4CA66-2531-E8E6-01E4-A2C8FA9C7CD7}"/>
              </a:ext>
            </a:extLst>
          </p:cNvPr>
          <p:cNvSpPr/>
          <p:nvPr/>
        </p:nvSpPr>
        <p:spPr>
          <a:xfrm>
            <a:off x="9896954" y="5443252"/>
            <a:ext cx="2314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ECF0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2026–2025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634</Words>
  <Application>Microsoft Office PowerPoint</Application>
  <PresentationFormat>مخصص</PresentationFormat>
  <Paragraphs>123</Paragraphs>
  <Slides>13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21" baseType="lpstr">
      <vt:lpstr>Quattrocento Sans</vt:lpstr>
      <vt:lpstr>Calibri</vt:lpstr>
      <vt:lpstr>Droid Arabic Naskh</vt:lpstr>
      <vt:lpstr>DIN Next</vt:lpstr>
      <vt:lpstr>Liter</vt:lpstr>
      <vt:lpstr>DIN Next Bold</vt:lpstr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Simple Elegant Project Presentation</dc:title>
  <cp:lastModifiedBy>ذي يزن المنصوب</cp:lastModifiedBy>
  <cp:revision>3</cp:revision>
  <dcterms:created xsi:type="dcterms:W3CDTF">2006-08-16T00:00:00Z</dcterms:created>
  <dcterms:modified xsi:type="dcterms:W3CDTF">2026-02-16T03:21:06Z</dcterms:modified>
  <dc:identifier>DAHBbbabMrs</dc:identifier>
</cp:coreProperties>
</file>