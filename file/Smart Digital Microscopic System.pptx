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embeddedFontLst>
    <p:embeddedFont>
      <p:font typeface="Liter" panose="020B0604020202020204" charset="0"/>
      <p:regular r:id="rId21"/>
    </p:embeddedFont>
    <p:embeddedFont>
      <p:font typeface="Quattrocento Sans" panose="020F0502020204030204" pitchFamily="34" charset="0"/>
      <p:regular r:id="rId22"/>
    </p:embeddedFont>
  </p:embeddedFontLst>
  <p:defaultTextStyle>
    <a:defPPr>
      <a:defRPr lang="ar-YE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0213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leica-microsystems.com/eb7901b1a452b9df3ec859a849b38cf7d2e45860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7833" b="783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95000"/>
                </a:srgbClr>
              </a:gs>
              <a:gs pos="50000">
                <a:srgbClr val="2C3E50">
                  <a:alpha val="90000"/>
                </a:srgbClr>
              </a:gs>
              <a:gs pos="100000">
                <a:srgbClr val="1ABC9C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2029" y="533791"/>
            <a:ext cx="3855496" cy="388620"/>
          </a:xfrm>
          <a:custGeom>
            <a:avLst/>
            <a:gdLst/>
            <a:ahLst/>
            <a:cxnLst/>
            <a:rect l="l" t="t" r="r" b="b"/>
            <a:pathLst>
              <a:path w="2731770" h="388620">
                <a:moveTo>
                  <a:pt x="76201" y="0"/>
                </a:moveTo>
                <a:lnTo>
                  <a:pt x="2655569" y="0"/>
                </a:lnTo>
                <a:cubicBezTo>
                  <a:pt x="2697654" y="0"/>
                  <a:pt x="2731770" y="34116"/>
                  <a:pt x="2731770" y="76201"/>
                </a:cubicBezTo>
                <a:lnTo>
                  <a:pt x="2731770" y="312419"/>
                </a:lnTo>
                <a:cubicBezTo>
                  <a:pt x="2731770" y="354504"/>
                  <a:pt x="2697654" y="388620"/>
                  <a:pt x="265556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BC9C">
              <a:alpha val="20000"/>
            </a:srgbClr>
          </a:solidFill>
          <a:ln w="1016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19" y="613801"/>
            <a:ext cx="35917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kern="0" spc="60" dirty="0">
                <a:solidFill>
                  <a:srgbClr val="1ABC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GRADUATION PROJECT DEFENSE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81000" y="1154821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5400" b="1" dirty="0">
                <a:solidFill>
                  <a:srgbClr val="ECF0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Digital</a:t>
            </a:r>
            <a:endParaRPr lang="en-US" sz="1600" dirty="0"/>
          </a:p>
          <a:p>
            <a:pPr algn="l">
              <a:lnSpc>
                <a:spcPct val="100000"/>
              </a:lnSpc>
            </a:pPr>
            <a:r>
              <a:rPr lang="en-US" sz="5400" b="1" dirty="0">
                <a:solidFill>
                  <a:srgbClr val="ECF0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Microscopic System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289621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8" name="Text 5"/>
          <p:cNvSpPr/>
          <p:nvPr/>
        </p:nvSpPr>
        <p:spPr>
          <a:xfrm>
            <a:off x="384810" y="3235714"/>
            <a:ext cx="64960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dirty="0">
                <a:solidFill>
                  <a:srgbClr val="ECF0F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Integrating Traditional Optical Microscopy with Modern Digital Imaging and Artificial Intelligence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83381" y="4952438"/>
            <a:ext cx="503027" cy="851052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0" name="Text 7"/>
          <p:cNvSpPr/>
          <p:nvPr/>
        </p:nvSpPr>
        <p:spPr>
          <a:xfrm>
            <a:off x="709613" y="4344861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ECF0F1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130568" y="4622701"/>
            <a:ext cx="25984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ECF0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Zahed Abdo Ghaleb Abdullah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130568" y="5009581"/>
            <a:ext cx="4167187" cy="320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ECF0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Bashar Munawwar Hassan Saleh Wajih Al-Din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30568" y="5393100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ECF0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Ayman Ahsan Hammoud Mane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251116" y="4499719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52831" y="83046"/>
                  <a:pt x="34826" y="65040"/>
                  <a:pt x="34826" y="42863"/>
                </a:cubicBezTo>
                <a:cubicBezTo>
                  <a:pt x="34826" y="20685"/>
                  <a:pt x="52831" y="2679"/>
                  <a:pt x="75009" y="2679"/>
                </a:cubicBezTo>
                <a:cubicBezTo>
                  <a:pt x="97187" y="2679"/>
                  <a:pt x="115193" y="20685"/>
                  <a:pt x="115193" y="42862"/>
                </a:cubicBezTo>
                <a:cubicBezTo>
                  <a:pt x="115193" y="65040"/>
                  <a:pt x="97187" y="83046"/>
                  <a:pt x="75009" y="83046"/>
                </a:cubicBezTo>
                <a:close/>
                <a:moveTo>
                  <a:pt x="64796" y="101798"/>
                </a:moveTo>
                <a:lnTo>
                  <a:pt x="85223" y="101798"/>
                </a:lnTo>
                <a:cubicBezTo>
                  <a:pt x="88471" y="101798"/>
                  <a:pt x="91083" y="104410"/>
                  <a:pt x="91083" y="107659"/>
                </a:cubicBezTo>
                <a:cubicBezTo>
                  <a:pt x="91083" y="109065"/>
                  <a:pt x="90581" y="110404"/>
                  <a:pt x="89676" y="111476"/>
                </a:cubicBezTo>
                <a:lnTo>
                  <a:pt x="80501" y="122192"/>
                </a:lnTo>
                <a:lnTo>
                  <a:pt x="90882" y="160734"/>
                </a:lnTo>
                <a:lnTo>
                  <a:pt x="91083" y="160734"/>
                </a:lnTo>
                <a:lnTo>
                  <a:pt x="102669" y="114356"/>
                </a:lnTo>
                <a:cubicBezTo>
                  <a:pt x="103406" y="111443"/>
                  <a:pt x="106386" y="109668"/>
                  <a:pt x="109199" y="110739"/>
                </a:cubicBezTo>
                <a:cubicBezTo>
                  <a:pt x="129927" y="118642"/>
                  <a:pt x="144661" y="138734"/>
                  <a:pt x="144661" y="162241"/>
                </a:cubicBezTo>
                <a:cubicBezTo>
                  <a:pt x="144661" y="167298"/>
                  <a:pt x="140542" y="171417"/>
                  <a:pt x="135486" y="171417"/>
                </a:cubicBezTo>
                <a:lnTo>
                  <a:pt x="14533" y="171450"/>
                </a:lnTo>
                <a:cubicBezTo>
                  <a:pt x="9477" y="171450"/>
                  <a:pt x="5358" y="167331"/>
                  <a:pt x="5358" y="162275"/>
                </a:cubicBezTo>
                <a:cubicBezTo>
                  <a:pt x="5358" y="138767"/>
                  <a:pt x="20092" y="118676"/>
                  <a:pt x="40820" y="110773"/>
                </a:cubicBezTo>
                <a:cubicBezTo>
                  <a:pt x="43633" y="109701"/>
                  <a:pt x="46613" y="111476"/>
                  <a:pt x="47350" y="114389"/>
                </a:cubicBezTo>
                <a:lnTo>
                  <a:pt x="58936" y="160768"/>
                </a:lnTo>
                <a:lnTo>
                  <a:pt x="59137" y="160768"/>
                </a:lnTo>
                <a:lnTo>
                  <a:pt x="69518" y="122225"/>
                </a:lnTo>
                <a:lnTo>
                  <a:pt x="60342" y="111509"/>
                </a:lnTo>
                <a:cubicBezTo>
                  <a:pt x="59438" y="110438"/>
                  <a:pt x="58936" y="109098"/>
                  <a:pt x="58936" y="107692"/>
                </a:cubicBezTo>
                <a:cubicBezTo>
                  <a:pt x="58936" y="104444"/>
                  <a:pt x="61548" y="101832"/>
                  <a:pt x="64796" y="101832"/>
                </a:cubicBezTo>
                <a:close/>
              </a:path>
            </a:pathLst>
          </a:custGeom>
          <a:solidFill>
            <a:srgbClr val="1ABC9C"/>
          </a:solidFill>
          <a:ln/>
        </p:spPr>
        <p:txBody>
          <a:bodyPr/>
          <a:lstStyle/>
          <a:p>
            <a:endParaRPr lang="ar-YE" dirty="0"/>
          </a:p>
        </p:txBody>
      </p:sp>
      <p:sp>
        <p:nvSpPr>
          <p:cNvPr id="15" name="Text 12"/>
          <p:cNvSpPr/>
          <p:nvPr/>
        </p:nvSpPr>
        <p:spPr>
          <a:xfrm>
            <a:off x="7268976" y="4160801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ECF0F1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545200" y="4419093"/>
            <a:ext cx="2674563" cy="394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ECF0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Dr. Awadh Ali AL-</a:t>
            </a:r>
            <a:r>
              <a:rPr lang="en-US" sz="1600" b="1" dirty="0" err="1">
                <a:solidFill>
                  <a:srgbClr val="ECF0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Kubati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7240401" y="525045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91049" y="6764"/>
                </a:moveTo>
                <a:cubicBezTo>
                  <a:pt x="87768" y="4889"/>
                  <a:pt x="83716" y="4889"/>
                  <a:pt x="80401" y="6764"/>
                </a:cubicBezTo>
                <a:lnTo>
                  <a:pt x="5391" y="49627"/>
                </a:lnTo>
                <a:cubicBezTo>
                  <a:pt x="1172" y="52038"/>
                  <a:pt x="-904" y="56994"/>
                  <a:pt x="335" y="61682"/>
                </a:cubicBezTo>
                <a:cubicBezTo>
                  <a:pt x="1574" y="66370"/>
                  <a:pt x="5860" y="69652"/>
                  <a:pt x="10716" y="69652"/>
                </a:cubicBezTo>
                <a:lnTo>
                  <a:pt x="21431" y="69652"/>
                </a:lnTo>
                <a:lnTo>
                  <a:pt x="21431" y="139303"/>
                </a:lnTo>
                <a:lnTo>
                  <a:pt x="21431" y="139303"/>
                </a:lnTo>
                <a:lnTo>
                  <a:pt x="4286" y="152162"/>
                </a:lnTo>
                <a:cubicBezTo>
                  <a:pt x="1574" y="154171"/>
                  <a:pt x="0" y="157352"/>
                  <a:pt x="0" y="160734"/>
                </a:cubicBezTo>
                <a:cubicBezTo>
                  <a:pt x="0" y="166661"/>
                  <a:pt x="4789" y="171450"/>
                  <a:pt x="10716" y="171450"/>
                </a:cubicBezTo>
                <a:lnTo>
                  <a:pt x="160734" y="171450"/>
                </a:lnTo>
                <a:cubicBezTo>
                  <a:pt x="166661" y="171450"/>
                  <a:pt x="171450" y="166661"/>
                  <a:pt x="171450" y="160734"/>
                </a:cubicBezTo>
                <a:cubicBezTo>
                  <a:pt x="171450" y="157352"/>
                  <a:pt x="169876" y="154171"/>
                  <a:pt x="167164" y="152162"/>
                </a:cubicBezTo>
                <a:lnTo>
                  <a:pt x="150019" y="139303"/>
                </a:lnTo>
                <a:lnTo>
                  <a:pt x="150019" y="69652"/>
                </a:lnTo>
                <a:lnTo>
                  <a:pt x="160734" y="69652"/>
                </a:lnTo>
                <a:cubicBezTo>
                  <a:pt x="165590" y="69652"/>
                  <a:pt x="169843" y="66370"/>
                  <a:pt x="171082" y="61682"/>
                </a:cubicBezTo>
                <a:cubicBezTo>
                  <a:pt x="172321" y="56994"/>
                  <a:pt x="170244" y="52038"/>
                  <a:pt x="166025" y="49627"/>
                </a:cubicBezTo>
                <a:lnTo>
                  <a:pt x="91016" y="6764"/>
                </a:lnTo>
                <a:close/>
                <a:moveTo>
                  <a:pt x="133945" y="69652"/>
                </a:moveTo>
                <a:lnTo>
                  <a:pt x="133945" y="139303"/>
                </a:lnTo>
                <a:lnTo>
                  <a:pt x="112514" y="139303"/>
                </a:lnTo>
                <a:lnTo>
                  <a:pt x="112514" y="69652"/>
                </a:lnTo>
                <a:lnTo>
                  <a:pt x="133945" y="69652"/>
                </a:lnTo>
                <a:close/>
                <a:moveTo>
                  <a:pt x="96441" y="69652"/>
                </a:moveTo>
                <a:lnTo>
                  <a:pt x="96441" y="139303"/>
                </a:lnTo>
                <a:lnTo>
                  <a:pt x="75009" y="139303"/>
                </a:lnTo>
                <a:lnTo>
                  <a:pt x="75009" y="69652"/>
                </a:lnTo>
                <a:lnTo>
                  <a:pt x="96441" y="69652"/>
                </a:lnTo>
                <a:close/>
                <a:moveTo>
                  <a:pt x="58936" y="69652"/>
                </a:moveTo>
                <a:lnTo>
                  <a:pt x="58936" y="139303"/>
                </a:lnTo>
                <a:lnTo>
                  <a:pt x="37505" y="139303"/>
                </a:lnTo>
                <a:lnTo>
                  <a:pt x="37505" y="69652"/>
                </a:lnTo>
                <a:lnTo>
                  <a:pt x="58936" y="69652"/>
                </a:lnTo>
                <a:close/>
                <a:moveTo>
                  <a:pt x="85725" y="32147"/>
                </a:moveTo>
                <a:cubicBezTo>
                  <a:pt x="91639" y="32147"/>
                  <a:pt x="96441" y="36948"/>
                  <a:pt x="96441" y="42863"/>
                </a:cubicBezTo>
                <a:cubicBezTo>
                  <a:pt x="96441" y="48777"/>
                  <a:pt x="91639" y="53578"/>
                  <a:pt x="85725" y="53578"/>
                </a:cubicBezTo>
                <a:cubicBezTo>
                  <a:pt x="79811" y="53578"/>
                  <a:pt x="75009" y="48777"/>
                  <a:pt x="75009" y="42863"/>
                </a:cubicBezTo>
                <a:cubicBezTo>
                  <a:pt x="75009" y="36948"/>
                  <a:pt x="79811" y="32147"/>
                  <a:pt x="85725" y="32147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8" name="Text 15"/>
          <p:cNvSpPr/>
          <p:nvPr/>
        </p:nvSpPr>
        <p:spPr>
          <a:xfrm>
            <a:off x="7545200" y="5024718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ECF0F1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University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545201" y="5217453"/>
            <a:ext cx="24414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ECF0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 September University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7251116" y="5929593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21431" y="80367"/>
                </a:moveTo>
                <a:lnTo>
                  <a:pt x="21431" y="91083"/>
                </a:lnTo>
                <a:cubicBezTo>
                  <a:pt x="21431" y="94030"/>
                  <a:pt x="23842" y="96441"/>
                  <a:pt x="26789" y="96441"/>
                </a:cubicBezTo>
                <a:lnTo>
                  <a:pt x="37505" y="96441"/>
                </a:lnTo>
                <a:cubicBezTo>
                  <a:pt x="40451" y="96441"/>
                  <a:pt x="42863" y="94030"/>
                  <a:pt x="42863" y="91083"/>
                </a:cubicBezTo>
                <a:lnTo>
                  <a:pt x="42863" y="80367"/>
                </a:lnTo>
                <a:cubicBezTo>
                  <a:pt x="42863" y="77420"/>
                  <a:pt x="40451" y="75009"/>
                  <a:pt x="37505" y="75009"/>
                </a:cubicBezTo>
                <a:lnTo>
                  <a:pt x="26789" y="75009"/>
                </a:lnTo>
                <a:cubicBezTo>
                  <a:pt x="23842" y="75009"/>
                  <a:pt x="21431" y="77420"/>
                  <a:pt x="21431" y="80367"/>
                </a:cubicBezTo>
                <a:close/>
                <a:moveTo>
                  <a:pt x="64294" y="80367"/>
                </a:moveTo>
                <a:lnTo>
                  <a:pt x="64294" y="91083"/>
                </a:lnTo>
                <a:cubicBezTo>
                  <a:pt x="64294" y="94030"/>
                  <a:pt x="66705" y="96441"/>
                  <a:pt x="69652" y="96441"/>
                </a:cubicBezTo>
                <a:lnTo>
                  <a:pt x="80367" y="96441"/>
                </a:lnTo>
                <a:cubicBezTo>
                  <a:pt x="83314" y="96441"/>
                  <a:pt x="85725" y="94030"/>
                  <a:pt x="85725" y="91083"/>
                </a:cubicBezTo>
                <a:lnTo>
                  <a:pt x="85725" y="80367"/>
                </a:lnTo>
                <a:cubicBezTo>
                  <a:pt x="85725" y="77420"/>
                  <a:pt x="83314" y="75009"/>
                  <a:pt x="80367" y="75009"/>
                </a:cubicBezTo>
                <a:lnTo>
                  <a:pt x="69652" y="75009"/>
                </a:lnTo>
                <a:cubicBezTo>
                  <a:pt x="66705" y="75009"/>
                  <a:pt x="64294" y="77420"/>
                  <a:pt x="64294" y="80367"/>
                </a:cubicBezTo>
                <a:close/>
                <a:moveTo>
                  <a:pt x="112514" y="75009"/>
                </a:moveTo>
                <a:cubicBezTo>
                  <a:pt x="109567" y="75009"/>
                  <a:pt x="107156" y="77420"/>
                  <a:pt x="107156" y="80367"/>
                </a:cubicBezTo>
                <a:lnTo>
                  <a:pt x="107156" y="91083"/>
                </a:lnTo>
                <a:cubicBezTo>
                  <a:pt x="107156" y="94030"/>
                  <a:pt x="109567" y="96441"/>
                  <a:pt x="112514" y="96441"/>
                </a:cubicBezTo>
                <a:lnTo>
                  <a:pt x="123230" y="96441"/>
                </a:lnTo>
                <a:cubicBezTo>
                  <a:pt x="126176" y="96441"/>
                  <a:pt x="128588" y="94030"/>
                  <a:pt x="128588" y="91083"/>
                </a:cubicBezTo>
                <a:lnTo>
                  <a:pt x="128588" y="80367"/>
                </a:lnTo>
                <a:cubicBezTo>
                  <a:pt x="128588" y="77420"/>
                  <a:pt x="126176" y="75009"/>
                  <a:pt x="123230" y="75009"/>
                </a:cubicBezTo>
                <a:lnTo>
                  <a:pt x="112514" y="75009"/>
                </a:lnTo>
                <a:close/>
                <a:moveTo>
                  <a:pt x="21431" y="123230"/>
                </a:move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37505" y="139303"/>
                </a:lnTo>
                <a:cubicBezTo>
                  <a:pt x="40451" y="139303"/>
                  <a:pt x="42863" y="136892"/>
                  <a:pt x="42863" y="133945"/>
                </a:cubicBezTo>
                <a:lnTo>
                  <a:pt x="42863" y="123230"/>
                </a:lnTo>
                <a:cubicBezTo>
                  <a:pt x="42863" y="120283"/>
                  <a:pt x="40451" y="117872"/>
                  <a:pt x="37505" y="117872"/>
                </a:cubicBezTo>
                <a:lnTo>
                  <a:pt x="26789" y="117872"/>
                </a:lnTo>
                <a:cubicBezTo>
                  <a:pt x="23842" y="117872"/>
                  <a:pt x="21431" y="120283"/>
                  <a:pt x="21431" y="123230"/>
                </a:cubicBezTo>
                <a:close/>
                <a:moveTo>
                  <a:pt x="69652" y="117872"/>
                </a:moveTo>
                <a:cubicBezTo>
                  <a:pt x="66705" y="117872"/>
                  <a:pt x="64294" y="120283"/>
                  <a:pt x="64294" y="123230"/>
                </a:cubicBezTo>
                <a:lnTo>
                  <a:pt x="64294" y="133945"/>
                </a:lnTo>
                <a:cubicBezTo>
                  <a:pt x="64294" y="136892"/>
                  <a:pt x="66705" y="139303"/>
                  <a:pt x="69652" y="139303"/>
                </a:cubicBezTo>
                <a:lnTo>
                  <a:pt x="80367" y="139303"/>
                </a:lnTo>
                <a:cubicBezTo>
                  <a:pt x="83314" y="139303"/>
                  <a:pt x="85725" y="136892"/>
                  <a:pt x="85725" y="133945"/>
                </a:cubicBezTo>
                <a:lnTo>
                  <a:pt x="85725" y="123230"/>
                </a:lnTo>
                <a:cubicBezTo>
                  <a:pt x="85725" y="120283"/>
                  <a:pt x="83314" y="117872"/>
                  <a:pt x="80367" y="117872"/>
                </a:cubicBezTo>
                <a:lnTo>
                  <a:pt x="69652" y="117872"/>
                </a:lnTo>
                <a:close/>
                <a:moveTo>
                  <a:pt x="107156" y="123230"/>
                </a:moveTo>
                <a:lnTo>
                  <a:pt x="107156" y="133945"/>
                </a:lnTo>
                <a:cubicBezTo>
                  <a:pt x="107156" y="136892"/>
                  <a:pt x="109567" y="139303"/>
                  <a:pt x="112514" y="139303"/>
                </a:cubicBezTo>
                <a:lnTo>
                  <a:pt x="123230" y="139303"/>
                </a:lnTo>
                <a:cubicBezTo>
                  <a:pt x="126176" y="139303"/>
                  <a:pt x="128588" y="136892"/>
                  <a:pt x="128588" y="133945"/>
                </a:cubicBezTo>
                <a:lnTo>
                  <a:pt x="128588" y="123230"/>
                </a:lnTo>
                <a:cubicBezTo>
                  <a:pt x="128588" y="120283"/>
                  <a:pt x="126176" y="117872"/>
                  <a:pt x="123230" y="117872"/>
                </a:cubicBezTo>
                <a:lnTo>
                  <a:pt x="112514" y="117872"/>
                </a:lnTo>
                <a:cubicBezTo>
                  <a:pt x="109567" y="117872"/>
                  <a:pt x="107156" y="120283"/>
                  <a:pt x="107156" y="12323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1" name="Text 18"/>
          <p:cNvSpPr/>
          <p:nvPr/>
        </p:nvSpPr>
        <p:spPr>
          <a:xfrm>
            <a:off x="7545201" y="5786718"/>
            <a:ext cx="13119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ECF0F1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Year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693889" y="5977218"/>
            <a:ext cx="1858775" cy="27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ECF0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2026–2025</a:t>
            </a:r>
            <a:endParaRPr lang="en-US" sz="20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1BBC3C40-8F73-9667-804B-D8318D5172B0}"/>
              </a:ext>
            </a:extLst>
          </p:cNvPr>
          <p:cNvSpPr/>
          <p:nvPr/>
        </p:nvSpPr>
        <p:spPr>
          <a:xfrm>
            <a:off x="1130568" y="6136864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ECF0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Ahmed Mohammed Abdo Othman</a:t>
            </a:r>
            <a:endParaRPr lang="en-US" sz="20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A55E2301-548A-EE3F-B0B2-14BA1528E6FC}"/>
              </a:ext>
            </a:extLst>
          </p:cNvPr>
          <p:cNvSpPr/>
          <p:nvPr/>
        </p:nvSpPr>
        <p:spPr>
          <a:xfrm>
            <a:off x="1130568" y="5803490"/>
            <a:ext cx="3925702" cy="257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ECF0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Anwar Ibrahim Rajeh Saleh Al-Montaser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55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0"/>
                </a:moveTo>
                <a:cubicBezTo>
                  <a:pt x="66749" y="0"/>
                  <a:pt x="57150" y="9599"/>
                  <a:pt x="57150" y="21431"/>
                </a:cubicBezTo>
                <a:lnTo>
                  <a:pt x="57150" y="114300"/>
                </a:lnTo>
                <a:cubicBezTo>
                  <a:pt x="57150" y="126132"/>
                  <a:pt x="66749" y="135731"/>
                  <a:pt x="78581" y="135731"/>
                </a:cubicBezTo>
                <a:lnTo>
                  <a:pt x="107156" y="135731"/>
                </a:lnTo>
                <a:cubicBezTo>
                  <a:pt x="118988" y="135731"/>
                  <a:pt x="128588" y="126132"/>
                  <a:pt x="128588" y="114300"/>
                </a:cubicBezTo>
                <a:lnTo>
                  <a:pt x="128588" y="85725"/>
                </a:lnTo>
                <a:lnTo>
                  <a:pt x="142875" y="85725"/>
                </a:lnTo>
                <a:cubicBezTo>
                  <a:pt x="174441" y="85725"/>
                  <a:pt x="200025" y="111309"/>
                  <a:pt x="200025" y="142875"/>
                </a:cubicBezTo>
                <a:cubicBezTo>
                  <a:pt x="200025" y="174441"/>
                  <a:pt x="174441" y="200025"/>
                  <a:pt x="142875" y="200025"/>
                </a:cubicBezTo>
                <a:lnTo>
                  <a:pt x="14288" y="200025"/>
                </a:lnTo>
                <a:cubicBezTo>
                  <a:pt x="6385" y="200025"/>
                  <a:pt x="0" y="206410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214313" y="228600"/>
                </a:lnTo>
                <a:cubicBezTo>
                  <a:pt x="222215" y="228600"/>
                  <a:pt x="228600" y="222215"/>
                  <a:pt x="228600" y="214313"/>
                </a:cubicBezTo>
                <a:cubicBezTo>
                  <a:pt x="228600" y="206410"/>
                  <a:pt x="222215" y="200025"/>
                  <a:pt x="214313" y="200025"/>
                </a:cubicBezTo>
                <a:lnTo>
                  <a:pt x="206767" y="200025"/>
                </a:lnTo>
                <a:cubicBezTo>
                  <a:pt x="220340" y="184845"/>
                  <a:pt x="228600" y="164842"/>
                  <a:pt x="228600" y="142875"/>
                </a:cubicBezTo>
                <a:cubicBezTo>
                  <a:pt x="228600" y="95548"/>
                  <a:pt x="190202" y="57150"/>
                  <a:pt x="142875" y="57150"/>
                </a:cubicBezTo>
                <a:lnTo>
                  <a:pt x="128588" y="57150"/>
                </a:lnTo>
                <a:lnTo>
                  <a:pt x="128588" y="21431"/>
                </a:lnTo>
                <a:cubicBezTo>
                  <a:pt x="128588" y="9599"/>
                  <a:pt x="118988" y="0"/>
                  <a:pt x="107156" y="0"/>
                </a:cubicBezTo>
                <a:lnTo>
                  <a:pt x="78581" y="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32159" y="178594"/>
                </a:lnTo>
                <a:cubicBezTo>
                  <a:pt x="138098" y="178594"/>
                  <a:pt x="142875" y="173816"/>
                  <a:pt x="142875" y="167878"/>
                </a:cubicBezTo>
                <a:cubicBezTo>
                  <a:pt x="142875" y="161940"/>
                  <a:pt x="138098" y="157163"/>
                  <a:pt x="132159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kern="0" spc="53" dirty="0">
                <a:solidFill>
                  <a:srgbClr val="1ABC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52499" y="571500"/>
            <a:ext cx="1934135" cy="540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90000"/>
              </a:lnSpc>
            </a:pPr>
            <a:r>
              <a:rPr lang="en-US" sz="32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00050" y="2174081"/>
            <a:ext cx="7181850" cy="1019175"/>
          </a:xfrm>
          <a:custGeom>
            <a:avLst/>
            <a:gdLst/>
            <a:ahLst/>
            <a:cxnLst/>
            <a:rect l="l" t="t" r="r" b="b"/>
            <a:pathLst>
              <a:path w="7181850" h="1019175">
                <a:moveTo>
                  <a:pt x="38100" y="0"/>
                </a:moveTo>
                <a:lnTo>
                  <a:pt x="7067550" y="0"/>
                </a:lnTo>
                <a:cubicBezTo>
                  <a:pt x="7130676" y="0"/>
                  <a:pt x="7181850" y="51174"/>
                  <a:pt x="7181850" y="114300"/>
                </a:cubicBezTo>
                <a:lnTo>
                  <a:pt x="7181850" y="904875"/>
                </a:lnTo>
                <a:cubicBezTo>
                  <a:pt x="7181850" y="968001"/>
                  <a:pt x="7130676" y="1019175"/>
                  <a:pt x="7067550" y="1019175"/>
                </a:cubicBezTo>
                <a:lnTo>
                  <a:pt x="38100" y="1019175"/>
                </a:lnTo>
                <a:cubicBezTo>
                  <a:pt x="17058" y="1019175"/>
                  <a:pt x="0" y="1002117"/>
                  <a:pt x="0" y="981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0050" y="2174081"/>
            <a:ext cx="38100" cy="1019175"/>
          </a:xfrm>
          <a:custGeom>
            <a:avLst/>
            <a:gdLst/>
            <a:ahLst/>
            <a:cxnLst/>
            <a:rect l="l" t="t" r="r" b="b"/>
            <a:pathLst>
              <a:path w="38100" h="1019175">
                <a:moveTo>
                  <a:pt x="38100" y="0"/>
                </a:moveTo>
                <a:lnTo>
                  <a:pt x="38100" y="0"/>
                </a:lnTo>
                <a:lnTo>
                  <a:pt x="38100" y="1019175"/>
                </a:lnTo>
                <a:lnTo>
                  <a:pt x="38100" y="1019175"/>
                </a:lnTo>
                <a:cubicBezTo>
                  <a:pt x="17072" y="1019175"/>
                  <a:pt x="0" y="1002103"/>
                  <a:pt x="0" y="981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8" name="Text 6"/>
          <p:cNvSpPr/>
          <p:nvPr/>
        </p:nvSpPr>
        <p:spPr>
          <a:xfrm>
            <a:off x="647700" y="2402681"/>
            <a:ext cx="67913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r>
              <a:rPr lang="en-US" sz="16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Digital Microscopic System</a:t>
            </a:r>
            <a:r>
              <a:rPr lang="en-US" sz="16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designed to integrate traditional optical microscopy with modern digital imaging and artificial intelligence technologies.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00050" y="3378994"/>
            <a:ext cx="7181850" cy="1019175"/>
          </a:xfrm>
          <a:custGeom>
            <a:avLst/>
            <a:gdLst/>
            <a:ahLst/>
            <a:cxnLst/>
            <a:rect l="l" t="t" r="r" b="b"/>
            <a:pathLst>
              <a:path w="7181850" h="1019175">
                <a:moveTo>
                  <a:pt x="38100" y="0"/>
                </a:moveTo>
                <a:lnTo>
                  <a:pt x="7067550" y="0"/>
                </a:lnTo>
                <a:cubicBezTo>
                  <a:pt x="7130676" y="0"/>
                  <a:pt x="7181850" y="51174"/>
                  <a:pt x="7181850" y="114300"/>
                </a:cubicBezTo>
                <a:lnTo>
                  <a:pt x="7181850" y="904875"/>
                </a:lnTo>
                <a:cubicBezTo>
                  <a:pt x="7181850" y="968001"/>
                  <a:pt x="7130676" y="1019175"/>
                  <a:pt x="7067550" y="1019175"/>
                </a:cubicBezTo>
                <a:lnTo>
                  <a:pt x="38100" y="1019175"/>
                </a:lnTo>
                <a:cubicBezTo>
                  <a:pt x="17058" y="1019175"/>
                  <a:pt x="0" y="1002117"/>
                  <a:pt x="0" y="981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0050" y="3378994"/>
            <a:ext cx="38100" cy="1019175"/>
          </a:xfrm>
          <a:custGeom>
            <a:avLst/>
            <a:gdLst/>
            <a:ahLst/>
            <a:cxnLst/>
            <a:rect l="l" t="t" r="r" b="b"/>
            <a:pathLst>
              <a:path w="38100" h="1019175">
                <a:moveTo>
                  <a:pt x="38100" y="0"/>
                </a:moveTo>
                <a:lnTo>
                  <a:pt x="38100" y="0"/>
                </a:lnTo>
                <a:lnTo>
                  <a:pt x="38100" y="1019175"/>
                </a:lnTo>
                <a:lnTo>
                  <a:pt x="38100" y="1019175"/>
                </a:lnTo>
                <a:cubicBezTo>
                  <a:pt x="17072" y="1019175"/>
                  <a:pt x="0" y="1002103"/>
                  <a:pt x="0" y="981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1" name="Text 9"/>
          <p:cNvSpPr/>
          <p:nvPr/>
        </p:nvSpPr>
        <p:spPr>
          <a:xfrm>
            <a:off x="647700" y="3607594"/>
            <a:ext cx="67913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system enables </a:t>
            </a:r>
            <a:r>
              <a:rPr lang="en-US" sz="1600" dirty="0">
                <a:solidFill>
                  <a:srgbClr val="2C3E50"/>
                </a:solidFill>
                <a:highlight>
                  <a:srgbClr val="1ABC9C">
                    <a:alpha val="1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image acquisition </a:t>
            </a:r>
            <a:r>
              <a:rPr lang="en-US" sz="16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600" dirty="0">
                <a:solidFill>
                  <a:srgbClr val="2C3E50"/>
                </a:solidFill>
                <a:highlight>
                  <a:srgbClr val="1ABC9C">
                    <a:alpha val="1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enhancement </a:t>
            </a:r>
            <a:r>
              <a:rPr lang="en-US" sz="16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600" dirty="0">
                <a:solidFill>
                  <a:srgbClr val="2C3E50"/>
                </a:solidFill>
                <a:highlight>
                  <a:srgbClr val="1ABC9C">
                    <a:alpha val="1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measurement </a:t>
            </a:r>
            <a:r>
              <a:rPr lang="en-US" sz="16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r>
              <a:rPr lang="en-US" sz="1600" dirty="0">
                <a:solidFill>
                  <a:srgbClr val="2C3E50"/>
                </a:solidFill>
                <a:highlight>
                  <a:srgbClr val="1ABC9C">
                    <a:alpha val="1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analysis </a:t>
            </a:r>
            <a:r>
              <a:rPr lang="en-US" sz="16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microscopic samples.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81000" y="4583906"/>
            <a:ext cx="7200900" cy="1019175"/>
          </a:xfrm>
          <a:custGeom>
            <a:avLst/>
            <a:gdLst/>
            <a:ahLst/>
            <a:cxnLst/>
            <a:rect l="l" t="t" r="r" b="b"/>
            <a:pathLst>
              <a:path w="7200900" h="1019175">
                <a:moveTo>
                  <a:pt x="114300" y="0"/>
                </a:moveTo>
                <a:lnTo>
                  <a:pt x="7086600" y="0"/>
                </a:lnTo>
                <a:cubicBezTo>
                  <a:pt x="7149726" y="0"/>
                  <a:pt x="7200900" y="51174"/>
                  <a:pt x="7200900" y="114300"/>
                </a:cubicBezTo>
                <a:lnTo>
                  <a:pt x="7200900" y="904875"/>
                </a:lnTo>
                <a:cubicBezTo>
                  <a:pt x="7200900" y="968001"/>
                  <a:pt x="7149726" y="1019175"/>
                  <a:pt x="7086600" y="1019175"/>
                </a:cubicBezTo>
                <a:lnTo>
                  <a:pt x="114300" y="1019175"/>
                </a:lnTo>
                <a:cubicBezTo>
                  <a:pt x="51174" y="1019175"/>
                  <a:pt x="0" y="968001"/>
                  <a:pt x="0" y="9048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3" name="Text 11"/>
          <p:cNvSpPr/>
          <p:nvPr/>
        </p:nvSpPr>
        <p:spPr>
          <a:xfrm>
            <a:off x="609600" y="4812506"/>
            <a:ext cx="68294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aims to improve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efficiency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reliability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laboratory and medical environments.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810500" y="1295400"/>
            <a:ext cx="4000500" cy="3924300"/>
          </a:xfrm>
          <a:custGeom>
            <a:avLst/>
            <a:gdLst/>
            <a:ahLst/>
            <a:cxnLst/>
            <a:rect l="l" t="t" r="r" b="b"/>
            <a:pathLst>
              <a:path w="4000500" h="3924300">
                <a:moveTo>
                  <a:pt x="114315" y="0"/>
                </a:moveTo>
                <a:lnTo>
                  <a:pt x="3886185" y="0"/>
                </a:lnTo>
                <a:cubicBezTo>
                  <a:pt x="3949319" y="0"/>
                  <a:pt x="4000500" y="51181"/>
                  <a:pt x="4000500" y="114315"/>
                </a:cubicBezTo>
                <a:lnTo>
                  <a:pt x="4000500" y="3809985"/>
                </a:lnTo>
                <a:cubicBezTo>
                  <a:pt x="4000500" y="3873119"/>
                  <a:pt x="3949319" y="3924300"/>
                  <a:pt x="3886185" y="3924300"/>
                </a:cubicBezTo>
                <a:lnTo>
                  <a:pt x="114315" y="3924300"/>
                </a:lnTo>
                <a:cubicBezTo>
                  <a:pt x="51181" y="3924300"/>
                  <a:pt x="0" y="3873119"/>
                  <a:pt x="0" y="3809985"/>
                </a:cubicBezTo>
                <a:lnTo>
                  <a:pt x="0" y="114315"/>
                </a:lnTo>
                <a:cubicBezTo>
                  <a:pt x="0" y="51223"/>
                  <a:pt x="51223" y="0"/>
                  <a:pt x="11431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15" name="Image 0" descr="https://kimi-web-img.moonshot.cn/img/www.mrclab.com/5857f55c926aa8852b5f5d04ebd9f9d5e5913ed9.jpg"/>
          <p:cNvPicPr>
            <a:picLocks noChangeAspect="1"/>
          </p:cNvPicPr>
          <p:nvPr/>
        </p:nvPicPr>
        <p:blipFill>
          <a:blip r:embed="rId3"/>
          <a:srcRect l="11930" r="11930"/>
          <a:stretch/>
        </p:blipFill>
        <p:spPr>
          <a:xfrm>
            <a:off x="7810500" y="1295400"/>
            <a:ext cx="4000500" cy="3924300"/>
          </a:xfrm>
          <a:prstGeom prst="roundRect">
            <a:avLst>
              <a:gd name="adj" fmla="val 2913"/>
            </a:avLst>
          </a:prstGeom>
        </p:spPr>
      </p:pic>
      <p:sp>
        <p:nvSpPr>
          <p:cNvPr id="16" name="Shape 13"/>
          <p:cNvSpPr/>
          <p:nvPr/>
        </p:nvSpPr>
        <p:spPr>
          <a:xfrm>
            <a:off x="7810500" y="5372100"/>
            <a:ext cx="4000500" cy="1104900"/>
          </a:xfrm>
          <a:custGeom>
            <a:avLst/>
            <a:gdLst/>
            <a:ahLst/>
            <a:cxnLst/>
            <a:rect l="l" t="t" r="r" b="b"/>
            <a:pathLst>
              <a:path w="4000500" h="1104900">
                <a:moveTo>
                  <a:pt x="114302" y="0"/>
                </a:moveTo>
                <a:lnTo>
                  <a:pt x="3886198" y="0"/>
                </a:lnTo>
                <a:cubicBezTo>
                  <a:pt x="3949325" y="0"/>
                  <a:pt x="4000500" y="51175"/>
                  <a:pt x="4000500" y="114302"/>
                </a:cubicBezTo>
                <a:lnTo>
                  <a:pt x="4000500" y="990598"/>
                </a:lnTo>
                <a:cubicBezTo>
                  <a:pt x="4000500" y="1053725"/>
                  <a:pt x="3949325" y="1104900"/>
                  <a:pt x="388619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8010525" y="55626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8" name="Text 15"/>
          <p:cNvSpPr/>
          <p:nvPr/>
        </p:nvSpPr>
        <p:spPr>
          <a:xfrm>
            <a:off x="8315325" y="5524500"/>
            <a:ext cx="17251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Innovation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962900" y="586740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Bridging the gap between traditional microscopy and AI-driven automation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55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2990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kern="0" spc="53" dirty="0">
                <a:solidFill>
                  <a:srgbClr val="1ABC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3905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90000"/>
              </a:lnSpc>
            </a:pPr>
            <a:r>
              <a:rPr lang="en-US" sz="28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10668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microscopes rely heavily on manual observation, which leads to: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1000" y="1543050"/>
            <a:ext cx="3714750" cy="2381250"/>
          </a:xfrm>
          <a:custGeom>
            <a:avLst/>
            <a:gdLst/>
            <a:ahLst/>
            <a:cxnLst/>
            <a:rect l="l" t="t" r="r" b="b"/>
            <a:pathLst>
              <a:path w="3714750" h="2381250">
                <a:moveTo>
                  <a:pt x="38100" y="0"/>
                </a:moveTo>
                <a:lnTo>
                  <a:pt x="3676650" y="0"/>
                </a:lnTo>
                <a:cubicBezTo>
                  <a:pt x="3697678" y="0"/>
                  <a:pt x="3714750" y="17072"/>
                  <a:pt x="3714750" y="38100"/>
                </a:cubicBezTo>
                <a:lnTo>
                  <a:pt x="3714750" y="2266950"/>
                </a:lnTo>
                <a:cubicBezTo>
                  <a:pt x="3714750" y="2330034"/>
                  <a:pt x="3663534" y="2381250"/>
                  <a:pt x="3600450" y="2381250"/>
                </a:cubicBezTo>
                <a:lnTo>
                  <a:pt x="114300" y="2381250"/>
                </a:lnTo>
                <a:cubicBezTo>
                  <a:pt x="51216" y="2381250"/>
                  <a:pt x="0" y="2330034"/>
                  <a:pt x="0" y="2266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1000" y="1543050"/>
            <a:ext cx="3714750" cy="38100"/>
          </a:xfrm>
          <a:custGeom>
            <a:avLst/>
            <a:gdLst/>
            <a:ahLst/>
            <a:cxnLst/>
            <a:rect l="l" t="t" r="r" b="b"/>
            <a:pathLst>
              <a:path w="3714750" h="38100">
                <a:moveTo>
                  <a:pt x="38100" y="0"/>
                </a:moveTo>
                <a:lnTo>
                  <a:pt x="3676650" y="0"/>
                </a:lnTo>
                <a:cubicBezTo>
                  <a:pt x="3697678" y="0"/>
                  <a:pt x="3714750" y="17072"/>
                  <a:pt x="3714750" y="38100"/>
                </a:cubicBezTo>
                <a:lnTo>
                  <a:pt x="3714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3" name="Shape 11"/>
          <p:cNvSpPr/>
          <p:nvPr/>
        </p:nvSpPr>
        <p:spPr>
          <a:xfrm>
            <a:off x="4248150" y="1543050"/>
            <a:ext cx="3714750" cy="2381250"/>
          </a:xfrm>
          <a:custGeom>
            <a:avLst/>
            <a:gdLst/>
            <a:ahLst/>
            <a:cxnLst/>
            <a:rect l="l" t="t" r="r" b="b"/>
            <a:pathLst>
              <a:path w="3714750" h="2381250">
                <a:moveTo>
                  <a:pt x="38100" y="0"/>
                </a:moveTo>
                <a:lnTo>
                  <a:pt x="3676650" y="0"/>
                </a:lnTo>
                <a:cubicBezTo>
                  <a:pt x="3697678" y="0"/>
                  <a:pt x="3714750" y="17072"/>
                  <a:pt x="3714750" y="38100"/>
                </a:cubicBezTo>
                <a:lnTo>
                  <a:pt x="3714750" y="2266950"/>
                </a:lnTo>
                <a:cubicBezTo>
                  <a:pt x="3714750" y="2330034"/>
                  <a:pt x="3663534" y="2381250"/>
                  <a:pt x="3600450" y="2381250"/>
                </a:cubicBezTo>
                <a:lnTo>
                  <a:pt x="114300" y="2381250"/>
                </a:lnTo>
                <a:cubicBezTo>
                  <a:pt x="51216" y="2381250"/>
                  <a:pt x="0" y="2330034"/>
                  <a:pt x="0" y="2266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48150" y="1543050"/>
            <a:ext cx="3714750" cy="38100"/>
          </a:xfrm>
          <a:custGeom>
            <a:avLst/>
            <a:gdLst/>
            <a:ahLst/>
            <a:cxnLst/>
            <a:rect l="l" t="t" r="r" b="b"/>
            <a:pathLst>
              <a:path w="3714750" h="38100">
                <a:moveTo>
                  <a:pt x="38100" y="0"/>
                </a:moveTo>
                <a:lnTo>
                  <a:pt x="3676650" y="0"/>
                </a:lnTo>
                <a:cubicBezTo>
                  <a:pt x="3697678" y="0"/>
                  <a:pt x="3714750" y="17072"/>
                  <a:pt x="3714750" y="38100"/>
                </a:cubicBezTo>
                <a:lnTo>
                  <a:pt x="3714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19" name="Shape 17"/>
          <p:cNvSpPr/>
          <p:nvPr/>
        </p:nvSpPr>
        <p:spPr>
          <a:xfrm>
            <a:off x="381000" y="4095750"/>
            <a:ext cx="3714750" cy="2381250"/>
          </a:xfrm>
          <a:custGeom>
            <a:avLst/>
            <a:gdLst/>
            <a:ahLst/>
            <a:cxnLst/>
            <a:rect l="l" t="t" r="r" b="b"/>
            <a:pathLst>
              <a:path w="3714750" h="2381250">
                <a:moveTo>
                  <a:pt x="38100" y="0"/>
                </a:moveTo>
                <a:lnTo>
                  <a:pt x="3676650" y="0"/>
                </a:lnTo>
                <a:cubicBezTo>
                  <a:pt x="3697678" y="0"/>
                  <a:pt x="3714750" y="17072"/>
                  <a:pt x="3714750" y="38100"/>
                </a:cubicBezTo>
                <a:lnTo>
                  <a:pt x="3714750" y="2266950"/>
                </a:lnTo>
                <a:cubicBezTo>
                  <a:pt x="3714750" y="2330034"/>
                  <a:pt x="3663534" y="2381250"/>
                  <a:pt x="3600450" y="2381250"/>
                </a:cubicBezTo>
                <a:lnTo>
                  <a:pt x="114300" y="2381250"/>
                </a:lnTo>
                <a:cubicBezTo>
                  <a:pt x="51216" y="2381250"/>
                  <a:pt x="0" y="2330034"/>
                  <a:pt x="0" y="2266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1000" y="4095750"/>
            <a:ext cx="3714750" cy="38100"/>
          </a:xfrm>
          <a:custGeom>
            <a:avLst/>
            <a:gdLst/>
            <a:ahLst/>
            <a:cxnLst/>
            <a:rect l="l" t="t" r="r" b="b"/>
            <a:pathLst>
              <a:path w="3714750" h="38100">
                <a:moveTo>
                  <a:pt x="38100" y="0"/>
                </a:moveTo>
                <a:lnTo>
                  <a:pt x="3676650" y="0"/>
                </a:lnTo>
                <a:cubicBezTo>
                  <a:pt x="3697678" y="0"/>
                  <a:pt x="3714750" y="17072"/>
                  <a:pt x="3714750" y="38100"/>
                </a:cubicBezTo>
                <a:lnTo>
                  <a:pt x="3714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5" name="Shape 23"/>
          <p:cNvSpPr/>
          <p:nvPr/>
        </p:nvSpPr>
        <p:spPr>
          <a:xfrm>
            <a:off x="4248150" y="4095750"/>
            <a:ext cx="3714750" cy="2381250"/>
          </a:xfrm>
          <a:custGeom>
            <a:avLst/>
            <a:gdLst/>
            <a:ahLst/>
            <a:cxnLst/>
            <a:rect l="l" t="t" r="r" b="b"/>
            <a:pathLst>
              <a:path w="3714750" h="2381250">
                <a:moveTo>
                  <a:pt x="38100" y="0"/>
                </a:moveTo>
                <a:lnTo>
                  <a:pt x="3676650" y="0"/>
                </a:lnTo>
                <a:cubicBezTo>
                  <a:pt x="3697678" y="0"/>
                  <a:pt x="3714750" y="17072"/>
                  <a:pt x="3714750" y="38100"/>
                </a:cubicBezTo>
                <a:lnTo>
                  <a:pt x="3714750" y="2266950"/>
                </a:lnTo>
                <a:cubicBezTo>
                  <a:pt x="3714750" y="2330034"/>
                  <a:pt x="3663534" y="2381250"/>
                  <a:pt x="3600450" y="2381250"/>
                </a:cubicBezTo>
                <a:lnTo>
                  <a:pt x="114300" y="2381250"/>
                </a:lnTo>
                <a:cubicBezTo>
                  <a:pt x="51216" y="2381250"/>
                  <a:pt x="0" y="2330034"/>
                  <a:pt x="0" y="2266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48150" y="4095750"/>
            <a:ext cx="3714750" cy="38100"/>
          </a:xfrm>
          <a:custGeom>
            <a:avLst/>
            <a:gdLst/>
            <a:ahLst/>
            <a:cxnLst/>
            <a:rect l="l" t="t" r="r" b="b"/>
            <a:pathLst>
              <a:path w="3714750" h="38100">
                <a:moveTo>
                  <a:pt x="38100" y="0"/>
                </a:moveTo>
                <a:lnTo>
                  <a:pt x="3676650" y="0"/>
                </a:lnTo>
                <a:cubicBezTo>
                  <a:pt x="3697678" y="0"/>
                  <a:pt x="3714750" y="17072"/>
                  <a:pt x="3714750" y="38100"/>
                </a:cubicBezTo>
                <a:lnTo>
                  <a:pt x="3714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1" name="Shape 29"/>
          <p:cNvSpPr/>
          <p:nvPr/>
        </p:nvSpPr>
        <p:spPr>
          <a:xfrm>
            <a:off x="8191500" y="1524000"/>
            <a:ext cx="3619500" cy="3086100"/>
          </a:xfrm>
          <a:custGeom>
            <a:avLst/>
            <a:gdLst/>
            <a:ahLst/>
            <a:cxnLst/>
            <a:rect l="l" t="t" r="r" b="b"/>
            <a:pathLst>
              <a:path w="3619500" h="3086100">
                <a:moveTo>
                  <a:pt x="114309" y="0"/>
                </a:moveTo>
                <a:lnTo>
                  <a:pt x="3505191" y="0"/>
                </a:lnTo>
                <a:cubicBezTo>
                  <a:pt x="3568322" y="0"/>
                  <a:pt x="3619500" y="51178"/>
                  <a:pt x="3619500" y="114309"/>
                </a:cubicBezTo>
                <a:lnTo>
                  <a:pt x="3619500" y="2971791"/>
                </a:lnTo>
                <a:cubicBezTo>
                  <a:pt x="3619500" y="3034922"/>
                  <a:pt x="3568322" y="3086100"/>
                  <a:pt x="3505191" y="3086100"/>
                </a:cubicBezTo>
                <a:lnTo>
                  <a:pt x="114309" y="3086100"/>
                </a:lnTo>
                <a:cubicBezTo>
                  <a:pt x="51178" y="3086100"/>
                  <a:pt x="0" y="3034922"/>
                  <a:pt x="0" y="297179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32" name="Image 0" descr="https://kimi-web-img.moonshot.cn/img/hemcmedical.com/f0fba56b60a7569ffe732087677f97c6a5c3045f.jpeg"/>
          <p:cNvPicPr>
            <a:picLocks noChangeAspect="1"/>
          </p:cNvPicPr>
          <p:nvPr/>
        </p:nvPicPr>
        <p:blipFill>
          <a:blip r:embed="rId3"/>
          <a:srcRect l="21538" r="21538"/>
          <a:stretch/>
        </p:blipFill>
        <p:spPr>
          <a:xfrm>
            <a:off x="8191500" y="1524000"/>
            <a:ext cx="3619500" cy="3086100"/>
          </a:xfrm>
          <a:prstGeom prst="roundRect">
            <a:avLst>
              <a:gd name="adj" fmla="val 3704"/>
            </a:avLst>
          </a:prstGeom>
        </p:spPr>
      </p:pic>
      <p:sp>
        <p:nvSpPr>
          <p:cNvPr id="33" name="Shape 30"/>
          <p:cNvSpPr/>
          <p:nvPr/>
        </p:nvSpPr>
        <p:spPr>
          <a:xfrm>
            <a:off x="8191500" y="4762500"/>
            <a:ext cx="3619500" cy="1714500"/>
          </a:xfrm>
          <a:custGeom>
            <a:avLst/>
            <a:gdLst/>
            <a:ahLst/>
            <a:cxnLst/>
            <a:rect l="l" t="t" r="r" b="b"/>
            <a:pathLst>
              <a:path w="3619500" h="1714500">
                <a:moveTo>
                  <a:pt x="114306" y="0"/>
                </a:moveTo>
                <a:lnTo>
                  <a:pt x="3505194" y="0"/>
                </a:lnTo>
                <a:cubicBezTo>
                  <a:pt x="3568324" y="0"/>
                  <a:pt x="3619500" y="51176"/>
                  <a:pt x="3619500" y="114306"/>
                </a:cubicBezTo>
                <a:lnTo>
                  <a:pt x="3619500" y="1600194"/>
                </a:lnTo>
                <a:cubicBezTo>
                  <a:pt x="3619500" y="1663324"/>
                  <a:pt x="3568324" y="1714500"/>
                  <a:pt x="3505194" y="1714500"/>
                </a:cubicBezTo>
                <a:lnTo>
                  <a:pt x="114306" y="1714500"/>
                </a:lnTo>
                <a:cubicBezTo>
                  <a:pt x="51176" y="1714500"/>
                  <a:pt x="0" y="1663324"/>
                  <a:pt x="0" y="1600194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4" name="Shape 31"/>
          <p:cNvSpPr/>
          <p:nvPr/>
        </p:nvSpPr>
        <p:spPr>
          <a:xfrm>
            <a:off x="8329612" y="4895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35" name="Text 32"/>
          <p:cNvSpPr/>
          <p:nvPr/>
        </p:nvSpPr>
        <p:spPr>
          <a:xfrm>
            <a:off x="8653462" y="4857750"/>
            <a:ext cx="3057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Need</a:t>
            </a: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8553450" y="5103159"/>
            <a:ext cx="3057525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Therefore, there is a need for a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automated system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capable of improving precision and reducing dependency on manual examination.</a:t>
            </a:r>
            <a:endParaRPr lang="en-US" sz="1600" dirty="0"/>
          </a:p>
        </p:txBody>
      </p:sp>
      <p:sp>
        <p:nvSpPr>
          <p:cNvPr id="37" name="Shape 7"/>
          <p:cNvSpPr/>
          <p:nvPr/>
        </p:nvSpPr>
        <p:spPr>
          <a:xfrm>
            <a:off x="609600" y="1790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8" name="Shape 8"/>
          <p:cNvSpPr/>
          <p:nvPr/>
        </p:nvSpPr>
        <p:spPr>
          <a:xfrm>
            <a:off x="695325" y="18954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5675" y="42863"/>
                </a:moveTo>
                <a:cubicBezTo>
                  <a:pt x="45675" y="28506"/>
                  <a:pt x="53334" y="15241"/>
                  <a:pt x="65767" y="8062"/>
                </a:cubicBezTo>
                <a:cubicBezTo>
                  <a:pt x="78200" y="884"/>
                  <a:pt x="93518" y="884"/>
                  <a:pt x="105951" y="8062"/>
                </a:cubicBezTo>
                <a:cubicBezTo>
                  <a:pt x="118384" y="15241"/>
                  <a:pt x="126043" y="28506"/>
                  <a:pt x="126043" y="42863"/>
                </a:cubicBezTo>
                <a:cubicBezTo>
                  <a:pt x="126043" y="65040"/>
                  <a:pt x="108037" y="83046"/>
                  <a:pt x="85859" y="83046"/>
                </a:cubicBezTo>
                <a:cubicBezTo>
                  <a:pt x="63681" y="83046"/>
                  <a:pt x="45675" y="65040"/>
                  <a:pt x="45675" y="42863"/>
                </a:cubicBezTo>
                <a:close/>
                <a:moveTo>
                  <a:pt x="16207" y="161505"/>
                </a:moveTo>
                <a:cubicBezTo>
                  <a:pt x="16207" y="128521"/>
                  <a:pt x="42929" y="101798"/>
                  <a:pt x="75914" y="101798"/>
                </a:cubicBezTo>
                <a:lnTo>
                  <a:pt x="95804" y="101798"/>
                </a:lnTo>
                <a:cubicBezTo>
                  <a:pt x="128788" y="101798"/>
                  <a:pt x="155511" y="128521"/>
                  <a:pt x="155511" y="161505"/>
                </a:cubicBezTo>
                <a:cubicBezTo>
                  <a:pt x="155511" y="166996"/>
                  <a:pt x="151057" y="171450"/>
                  <a:pt x="145565" y="171450"/>
                </a:cubicBezTo>
                <a:lnTo>
                  <a:pt x="26153" y="171450"/>
                </a:lnTo>
                <a:cubicBezTo>
                  <a:pt x="20661" y="171450"/>
                  <a:pt x="16207" y="166996"/>
                  <a:pt x="16207" y="161505"/>
                </a:cubicBezTo>
                <a:close/>
                <a:moveTo>
                  <a:pt x="205037" y="41557"/>
                </a:moveTo>
                <a:cubicBezTo>
                  <a:pt x="208185" y="44704"/>
                  <a:pt x="208185" y="49794"/>
                  <a:pt x="205037" y="52908"/>
                </a:cubicBezTo>
                <a:lnTo>
                  <a:pt x="193685" y="64260"/>
                </a:lnTo>
                <a:lnTo>
                  <a:pt x="205037" y="75612"/>
                </a:lnTo>
                <a:cubicBezTo>
                  <a:pt x="208185" y="78760"/>
                  <a:pt x="208185" y="83850"/>
                  <a:pt x="205037" y="86964"/>
                </a:cubicBezTo>
                <a:cubicBezTo>
                  <a:pt x="201889" y="90078"/>
                  <a:pt x="196799" y="90112"/>
                  <a:pt x="193685" y="86964"/>
                </a:cubicBezTo>
                <a:lnTo>
                  <a:pt x="182333" y="75612"/>
                </a:lnTo>
                <a:lnTo>
                  <a:pt x="170981" y="86964"/>
                </a:lnTo>
                <a:cubicBezTo>
                  <a:pt x="167833" y="90112"/>
                  <a:pt x="162744" y="90112"/>
                  <a:pt x="159629" y="86964"/>
                </a:cubicBezTo>
                <a:cubicBezTo>
                  <a:pt x="156515" y="83816"/>
                  <a:pt x="156482" y="78726"/>
                  <a:pt x="159629" y="75612"/>
                </a:cubicBezTo>
                <a:lnTo>
                  <a:pt x="170981" y="64260"/>
                </a:lnTo>
                <a:lnTo>
                  <a:pt x="159629" y="52908"/>
                </a:lnTo>
                <a:cubicBezTo>
                  <a:pt x="156482" y="49761"/>
                  <a:pt x="156482" y="44671"/>
                  <a:pt x="159629" y="41557"/>
                </a:cubicBezTo>
                <a:cubicBezTo>
                  <a:pt x="162777" y="38442"/>
                  <a:pt x="167867" y="38409"/>
                  <a:pt x="170981" y="41557"/>
                </a:cubicBezTo>
                <a:lnTo>
                  <a:pt x="182333" y="52908"/>
                </a:lnTo>
                <a:lnTo>
                  <a:pt x="193685" y="41557"/>
                </a:lnTo>
                <a:cubicBezTo>
                  <a:pt x="196833" y="38409"/>
                  <a:pt x="201923" y="38409"/>
                  <a:pt x="205037" y="41557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9" name="Text 9"/>
          <p:cNvSpPr/>
          <p:nvPr/>
        </p:nvSpPr>
        <p:spPr>
          <a:xfrm>
            <a:off x="1104900" y="1847850"/>
            <a:ext cx="15217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 Error</a:t>
            </a:r>
            <a:endParaRPr lang="en-US" dirty="0"/>
          </a:p>
        </p:txBody>
      </p:sp>
      <p:sp>
        <p:nvSpPr>
          <p:cNvPr id="40" name="Text 10"/>
          <p:cNvSpPr/>
          <p:nvPr/>
        </p:nvSpPr>
        <p:spPr>
          <a:xfrm>
            <a:off x="609600" y="2286000"/>
            <a:ext cx="333375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Subjective interpretation varies between observers, leading to inconsistent diagnostic outcomes and potential misclassification of critical samples.</a:t>
            </a:r>
            <a:endParaRPr lang="en-US" dirty="0"/>
          </a:p>
        </p:txBody>
      </p:sp>
      <p:sp>
        <p:nvSpPr>
          <p:cNvPr id="41" name="Shape 13"/>
          <p:cNvSpPr/>
          <p:nvPr/>
        </p:nvSpPr>
        <p:spPr>
          <a:xfrm>
            <a:off x="4476750" y="1790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D6D7E">
              <a:alpha val="10196"/>
            </a:srgbClr>
          </a:solidFill>
          <a:ln/>
        </p:spPr>
      </p:sp>
      <p:sp>
        <p:nvSpPr>
          <p:cNvPr id="42" name="Shape 14"/>
          <p:cNvSpPr/>
          <p:nvPr/>
        </p:nvSpPr>
        <p:spPr>
          <a:xfrm>
            <a:off x="4573191" y="18954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70020" y="172856"/>
                </a:moveTo>
                <a:cubicBezTo>
                  <a:pt x="63758" y="179118"/>
                  <a:pt x="53578" y="179118"/>
                  <a:pt x="47283" y="172856"/>
                </a:cubicBezTo>
                <a:lnTo>
                  <a:pt x="9410" y="134983"/>
                </a:lnTo>
                <a:cubicBezTo>
                  <a:pt x="3148" y="128721"/>
                  <a:pt x="3148" y="118542"/>
                  <a:pt x="9410" y="112246"/>
                </a:cubicBezTo>
                <a:lnTo>
                  <a:pt x="15102" y="106553"/>
                </a:lnTo>
                <a:lnTo>
                  <a:pt x="39715" y="131166"/>
                </a:lnTo>
                <a:cubicBezTo>
                  <a:pt x="42863" y="134314"/>
                  <a:pt x="47952" y="134314"/>
                  <a:pt x="51067" y="131166"/>
                </a:cubicBezTo>
                <a:cubicBezTo>
                  <a:pt x="54181" y="128018"/>
                  <a:pt x="54214" y="122928"/>
                  <a:pt x="51067" y="119814"/>
                </a:cubicBezTo>
                <a:lnTo>
                  <a:pt x="26454" y="95202"/>
                </a:lnTo>
                <a:lnTo>
                  <a:pt x="37806" y="83850"/>
                </a:lnTo>
                <a:lnTo>
                  <a:pt x="54851" y="100894"/>
                </a:lnTo>
                <a:cubicBezTo>
                  <a:pt x="57998" y="104042"/>
                  <a:pt x="63088" y="104042"/>
                  <a:pt x="66202" y="100894"/>
                </a:cubicBezTo>
                <a:cubicBezTo>
                  <a:pt x="69317" y="97747"/>
                  <a:pt x="69350" y="92657"/>
                  <a:pt x="66202" y="89542"/>
                </a:cubicBezTo>
                <a:lnTo>
                  <a:pt x="49158" y="72498"/>
                </a:lnTo>
                <a:lnTo>
                  <a:pt x="60510" y="61146"/>
                </a:lnTo>
                <a:lnTo>
                  <a:pt x="85122" y="85758"/>
                </a:lnTo>
                <a:cubicBezTo>
                  <a:pt x="88270" y="88906"/>
                  <a:pt x="93360" y="88906"/>
                  <a:pt x="96474" y="85758"/>
                </a:cubicBezTo>
                <a:cubicBezTo>
                  <a:pt x="99588" y="82611"/>
                  <a:pt x="99622" y="77521"/>
                  <a:pt x="96474" y="74407"/>
                </a:cubicBezTo>
                <a:lnTo>
                  <a:pt x="71862" y="49794"/>
                </a:lnTo>
                <a:lnTo>
                  <a:pt x="83214" y="38442"/>
                </a:lnTo>
                <a:lnTo>
                  <a:pt x="100258" y="55487"/>
                </a:lnTo>
                <a:cubicBezTo>
                  <a:pt x="103406" y="58635"/>
                  <a:pt x="108496" y="58635"/>
                  <a:pt x="111610" y="55487"/>
                </a:cubicBezTo>
                <a:cubicBezTo>
                  <a:pt x="114724" y="52339"/>
                  <a:pt x="114758" y="47249"/>
                  <a:pt x="111610" y="44135"/>
                </a:cubicBezTo>
                <a:lnTo>
                  <a:pt x="94565" y="27090"/>
                </a:lnTo>
                <a:lnTo>
                  <a:pt x="105917" y="15739"/>
                </a:lnTo>
                <a:lnTo>
                  <a:pt x="130530" y="40351"/>
                </a:lnTo>
                <a:cubicBezTo>
                  <a:pt x="133677" y="43499"/>
                  <a:pt x="138767" y="43499"/>
                  <a:pt x="141882" y="40351"/>
                </a:cubicBezTo>
                <a:cubicBezTo>
                  <a:pt x="144996" y="37203"/>
                  <a:pt x="145029" y="32113"/>
                  <a:pt x="141882" y="28999"/>
                </a:cubicBezTo>
                <a:lnTo>
                  <a:pt x="117269" y="4387"/>
                </a:lnTo>
                <a:lnTo>
                  <a:pt x="122962" y="-1306"/>
                </a:lnTo>
                <a:cubicBezTo>
                  <a:pt x="129224" y="-7568"/>
                  <a:pt x="139404" y="-7568"/>
                  <a:pt x="145699" y="-1306"/>
                </a:cubicBezTo>
                <a:lnTo>
                  <a:pt x="183673" y="36467"/>
                </a:lnTo>
                <a:cubicBezTo>
                  <a:pt x="189934" y="42729"/>
                  <a:pt x="189934" y="52908"/>
                  <a:pt x="183673" y="59204"/>
                </a:cubicBezTo>
                <a:lnTo>
                  <a:pt x="70020" y="172856"/>
                </a:ln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43" name="Text 15"/>
          <p:cNvSpPr/>
          <p:nvPr/>
        </p:nvSpPr>
        <p:spPr>
          <a:xfrm>
            <a:off x="4972050" y="1847850"/>
            <a:ext cx="22893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Inconsistent Results</a:t>
            </a:r>
            <a:endParaRPr lang="en-US" dirty="0"/>
          </a:p>
        </p:txBody>
      </p:sp>
      <p:sp>
        <p:nvSpPr>
          <p:cNvPr id="44" name="Text 16"/>
          <p:cNvSpPr/>
          <p:nvPr/>
        </p:nvSpPr>
        <p:spPr>
          <a:xfrm>
            <a:off x="4476750" y="2286000"/>
            <a:ext cx="333375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Measurement accuracy depends on operator skill and experience, resulting in variable precision across different users and sessions.</a:t>
            </a:r>
            <a:endParaRPr lang="en-US" dirty="0"/>
          </a:p>
        </p:txBody>
      </p:sp>
      <p:sp>
        <p:nvSpPr>
          <p:cNvPr id="45" name="Shape 25"/>
          <p:cNvSpPr/>
          <p:nvPr/>
        </p:nvSpPr>
        <p:spPr>
          <a:xfrm>
            <a:off x="4476750" y="4343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46" name="Shape 26"/>
          <p:cNvSpPr/>
          <p:nvPr/>
        </p:nvSpPr>
        <p:spPr>
          <a:xfrm>
            <a:off x="4594622" y="44481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7" name="Text 27"/>
          <p:cNvSpPr/>
          <p:nvPr/>
        </p:nvSpPr>
        <p:spPr>
          <a:xfrm>
            <a:off x="4972049" y="4400550"/>
            <a:ext cx="21728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Management</a:t>
            </a:r>
            <a:endParaRPr lang="en-US" dirty="0"/>
          </a:p>
        </p:txBody>
      </p:sp>
      <p:sp>
        <p:nvSpPr>
          <p:cNvPr id="48" name="Text 28"/>
          <p:cNvSpPr/>
          <p:nvPr/>
        </p:nvSpPr>
        <p:spPr>
          <a:xfrm>
            <a:off x="4476750" y="4838700"/>
            <a:ext cx="333375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Difficulty in storing, retrieving, and comparing historical data hinders longitudinal studies and quality control processes.</a:t>
            </a:r>
            <a:endParaRPr lang="en-US" dirty="0"/>
          </a:p>
        </p:txBody>
      </p:sp>
      <p:sp>
        <p:nvSpPr>
          <p:cNvPr id="49" name="Shape 19"/>
          <p:cNvSpPr/>
          <p:nvPr/>
        </p:nvSpPr>
        <p:spPr>
          <a:xfrm>
            <a:off x="609600" y="4343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50" name="Shape 20"/>
          <p:cNvSpPr/>
          <p:nvPr/>
        </p:nvSpPr>
        <p:spPr>
          <a:xfrm>
            <a:off x="716756" y="44481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51" name="Text 21"/>
          <p:cNvSpPr/>
          <p:nvPr/>
        </p:nvSpPr>
        <p:spPr>
          <a:xfrm>
            <a:off x="1104900" y="4400550"/>
            <a:ext cx="192517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Time-Consuming</a:t>
            </a:r>
            <a:endParaRPr lang="en-US" dirty="0"/>
          </a:p>
        </p:txBody>
      </p:sp>
      <p:sp>
        <p:nvSpPr>
          <p:cNvPr id="52" name="Text 22"/>
          <p:cNvSpPr/>
          <p:nvPr/>
        </p:nvSpPr>
        <p:spPr>
          <a:xfrm>
            <a:off x="609600" y="4838700"/>
            <a:ext cx="333375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analysis requires significant time investment, limiting throughput and creating bottlenecks in high-demand laboratory environments.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55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kern="0" spc="53" dirty="0">
                <a:solidFill>
                  <a:srgbClr val="1ABC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2914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57300"/>
            <a:ext cx="11430000" cy="1409700"/>
          </a:xfrm>
          <a:custGeom>
            <a:avLst/>
            <a:gdLst/>
            <a:ahLst/>
            <a:cxnLst/>
            <a:rect l="l" t="t" r="r" b="b"/>
            <a:pathLst>
              <a:path w="11430000" h="1409700">
                <a:moveTo>
                  <a:pt x="114298" y="0"/>
                </a:moveTo>
                <a:lnTo>
                  <a:pt x="11315702" y="0"/>
                </a:lnTo>
                <a:cubicBezTo>
                  <a:pt x="11378827" y="0"/>
                  <a:pt x="11430000" y="51173"/>
                  <a:pt x="11430000" y="114298"/>
                </a:cubicBezTo>
                <a:lnTo>
                  <a:pt x="11430000" y="1295402"/>
                </a:lnTo>
                <a:cubicBezTo>
                  <a:pt x="11430000" y="1358527"/>
                  <a:pt x="11378827" y="1409700"/>
                  <a:pt x="11315702" y="1409700"/>
                </a:cubicBezTo>
                <a:lnTo>
                  <a:pt x="114298" y="1409700"/>
                </a:lnTo>
                <a:cubicBezTo>
                  <a:pt x="51173" y="1409700"/>
                  <a:pt x="0" y="1358527"/>
                  <a:pt x="0" y="129540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638181"/>
            <a:ext cx="523875" cy="533400"/>
          </a:xfrm>
          <a:custGeom>
            <a:avLst/>
            <a:gdLst/>
            <a:ahLst/>
            <a:cxnLst/>
            <a:rect l="l" t="t" r="r" b="b"/>
            <a:pathLst>
              <a:path w="523875" h="533400">
                <a:moveTo>
                  <a:pt x="114299" y="0"/>
                </a:moveTo>
                <a:lnTo>
                  <a:pt x="409576" y="0"/>
                </a:lnTo>
                <a:cubicBezTo>
                  <a:pt x="472659" y="0"/>
                  <a:pt x="523875" y="51216"/>
                  <a:pt x="523875" y="114299"/>
                </a:cubicBezTo>
                <a:lnTo>
                  <a:pt x="523875" y="419101"/>
                </a:lnTo>
                <a:cubicBezTo>
                  <a:pt x="523875" y="482227"/>
                  <a:pt x="472702" y="533400"/>
                  <a:pt x="409576" y="533400"/>
                </a:cubicBezTo>
                <a:lnTo>
                  <a:pt x="114299" y="533400"/>
                </a:lnTo>
                <a:cubicBezTo>
                  <a:pt x="51216" y="533400"/>
                  <a:pt x="0" y="482184"/>
                  <a:pt x="0" y="4191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8" name="Shape 6"/>
          <p:cNvSpPr/>
          <p:nvPr/>
        </p:nvSpPr>
        <p:spPr>
          <a:xfrm>
            <a:off x="744260" y="179058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88494" y="1485900"/>
            <a:ext cx="1036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kern="0" spc="53" dirty="0">
                <a:solidFill>
                  <a:srgbClr val="1ABC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 Objective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8494" y="1714500"/>
            <a:ext cx="104108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design and implement a smart digital microscope system capable of automated microscopic analysis.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1000" y="2857263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kern="0" spc="53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Sub-Objectives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162063"/>
            <a:ext cx="3686175" cy="1581150"/>
          </a:xfrm>
          <a:custGeom>
            <a:avLst/>
            <a:gdLst/>
            <a:ahLst/>
            <a:cxnLst/>
            <a:rect l="l" t="t" r="r" b="b"/>
            <a:pathLst>
              <a:path w="3686175" h="1581150">
                <a:moveTo>
                  <a:pt x="38100" y="0"/>
                </a:moveTo>
                <a:lnTo>
                  <a:pt x="3571874" y="0"/>
                </a:lnTo>
                <a:cubicBezTo>
                  <a:pt x="3635001" y="0"/>
                  <a:pt x="3686175" y="51174"/>
                  <a:pt x="3686175" y="114301"/>
                </a:cubicBezTo>
                <a:lnTo>
                  <a:pt x="3686175" y="1466849"/>
                </a:lnTo>
                <a:cubicBezTo>
                  <a:pt x="3686175" y="1529976"/>
                  <a:pt x="3635001" y="1581150"/>
                  <a:pt x="357187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0050" y="3162063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600" y="33525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6756" y="345733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9928" y="21699"/>
                </a:moveTo>
                <a:lnTo>
                  <a:pt x="46446" y="32147"/>
                </a:lnTo>
                <a:lnTo>
                  <a:pt x="21431" y="32147"/>
                </a:lnTo>
                <a:cubicBezTo>
                  <a:pt x="9611" y="32147"/>
                  <a:pt x="0" y="41757"/>
                  <a:pt x="0" y="53578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50019" y="160734"/>
                </a:lnTo>
                <a:cubicBezTo>
                  <a:pt x="161839" y="160734"/>
                  <a:pt x="171450" y="151124"/>
                  <a:pt x="171450" y="139303"/>
                </a:cubicBezTo>
                <a:lnTo>
                  <a:pt x="171450" y="53578"/>
                </a:lnTo>
                <a:cubicBezTo>
                  <a:pt x="171450" y="41757"/>
                  <a:pt x="161839" y="32147"/>
                  <a:pt x="150019" y="32147"/>
                </a:cubicBezTo>
                <a:lnTo>
                  <a:pt x="125004" y="32147"/>
                </a:lnTo>
                <a:lnTo>
                  <a:pt x="121522" y="21699"/>
                </a:lnTo>
                <a:cubicBezTo>
                  <a:pt x="119345" y="15136"/>
                  <a:pt x="113217" y="10716"/>
                  <a:pt x="106286" y="10716"/>
                </a:cubicBezTo>
                <a:lnTo>
                  <a:pt x="65164" y="10716"/>
                </a:lnTo>
                <a:cubicBezTo>
                  <a:pt x="58233" y="10716"/>
                  <a:pt x="52105" y="15136"/>
                  <a:pt x="49928" y="21699"/>
                </a:cubicBezTo>
                <a:close/>
                <a:moveTo>
                  <a:pt x="85725" y="64294"/>
                </a:moveTo>
                <a:cubicBezTo>
                  <a:pt x="103467" y="64294"/>
                  <a:pt x="117872" y="78698"/>
                  <a:pt x="117872" y="96441"/>
                </a:cubicBezTo>
                <a:cubicBezTo>
                  <a:pt x="117872" y="114183"/>
                  <a:pt x="103467" y="128588"/>
                  <a:pt x="85725" y="128588"/>
                </a:cubicBezTo>
                <a:cubicBezTo>
                  <a:pt x="67983" y="128588"/>
                  <a:pt x="53578" y="114183"/>
                  <a:pt x="53578" y="96441"/>
                </a:cubicBezTo>
                <a:cubicBezTo>
                  <a:pt x="53578" y="78698"/>
                  <a:pt x="67983" y="64294"/>
                  <a:pt x="85725" y="64294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" y="3409713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Capture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600" y="3847863"/>
            <a:ext cx="336232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 high-resolution microscopic images with optimal clarity and detail preservation.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60771" y="3162063"/>
            <a:ext cx="3686175" cy="1581150"/>
          </a:xfrm>
          <a:custGeom>
            <a:avLst/>
            <a:gdLst/>
            <a:ahLst/>
            <a:cxnLst/>
            <a:rect l="l" t="t" r="r" b="b"/>
            <a:pathLst>
              <a:path w="3686175" h="1581150">
                <a:moveTo>
                  <a:pt x="38100" y="0"/>
                </a:moveTo>
                <a:lnTo>
                  <a:pt x="3571874" y="0"/>
                </a:lnTo>
                <a:cubicBezTo>
                  <a:pt x="3635001" y="0"/>
                  <a:pt x="3686175" y="51174"/>
                  <a:pt x="3686175" y="114301"/>
                </a:cubicBezTo>
                <a:lnTo>
                  <a:pt x="3686175" y="1466849"/>
                </a:lnTo>
                <a:cubicBezTo>
                  <a:pt x="3686175" y="1529976"/>
                  <a:pt x="3635001" y="1581150"/>
                  <a:pt x="357187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60771" y="3162063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0" name="Shape 18"/>
          <p:cNvSpPr/>
          <p:nvPr/>
        </p:nvSpPr>
        <p:spPr>
          <a:xfrm>
            <a:off x="4470321" y="33525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88193" y="3457338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42863" y="37505"/>
                </a:moveTo>
                <a:cubicBezTo>
                  <a:pt x="51734" y="37505"/>
                  <a:pt x="58936" y="44707"/>
                  <a:pt x="58936" y="53578"/>
                </a:cubicBezTo>
                <a:cubicBezTo>
                  <a:pt x="58936" y="62449"/>
                  <a:pt x="51734" y="69652"/>
                  <a:pt x="42863" y="69652"/>
                </a:cubicBezTo>
                <a:cubicBezTo>
                  <a:pt x="33991" y="69652"/>
                  <a:pt x="26789" y="62449"/>
                  <a:pt x="26789" y="53578"/>
                </a:cubicBezTo>
                <a:cubicBezTo>
                  <a:pt x="26789" y="44707"/>
                  <a:pt x="33991" y="37505"/>
                  <a:pt x="42863" y="37505"/>
                </a:cubicBezTo>
                <a:close/>
                <a:moveTo>
                  <a:pt x="91083" y="75009"/>
                </a:moveTo>
                <a:cubicBezTo>
                  <a:pt x="93896" y="75009"/>
                  <a:pt x="96474" y="76483"/>
                  <a:pt x="97948" y="78860"/>
                </a:cubicBezTo>
                <a:lnTo>
                  <a:pt x="127415" y="127081"/>
                </a:lnTo>
                <a:cubicBezTo>
                  <a:pt x="128922" y="129559"/>
                  <a:pt x="128989" y="132673"/>
                  <a:pt x="127583" y="135218"/>
                </a:cubicBezTo>
                <a:cubicBezTo>
                  <a:pt x="126176" y="137763"/>
                  <a:pt x="123464" y="139303"/>
                  <a:pt x="120551" y="139303"/>
                </a:cubicBezTo>
                <a:lnTo>
                  <a:pt x="29468" y="139303"/>
                </a:lnTo>
                <a:cubicBezTo>
                  <a:pt x="26488" y="139303"/>
                  <a:pt x="23708" y="137629"/>
                  <a:pt x="22335" y="134983"/>
                </a:cubicBezTo>
                <a:cubicBezTo>
                  <a:pt x="20962" y="132338"/>
                  <a:pt x="21163" y="129123"/>
                  <a:pt x="22871" y="126679"/>
                </a:cubicBezTo>
                <a:lnTo>
                  <a:pt x="41624" y="99890"/>
                </a:lnTo>
                <a:cubicBezTo>
                  <a:pt x="43130" y="97747"/>
                  <a:pt x="45575" y="96474"/>
                  <a:pt x="48220" y="96474"/>
                </a:cubicBezTo>
                <a:cubicBezTo>
                  <a:pt x="50866" y="96474"/>
                  <a:pt x="53310" y="97747"/>
                  <a:pt x="54817" y="99890"/>
                </a:cubicBezTo>
                <a:lnTo>
                  <a:pt x="63658" y="112548"/>
                </a:lnTo>
                <a:lnTo>
                  <a:pt x="84218" y="78894"/>
                </a:lnTo>
                <a:cubicBezTo>
                  <a:pt x="85692" y="76516"/>
                  <a:pt x="88270" y="75043"/>
                  <a:pt x="91083" y="75043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2" name="Text 20"/>
          <p:cNvSpPr/>
          <p:nvPr/>
        </p:nvSpPr>
        <p:spPr>
          <a:xfrm>
            <a:off x="4965621" y="3409713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Processing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70321" y="3847863"/>
            <a:ext cx="336232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digital image processing techniques for enhancement and noise reduction.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1611" y="3162063"/>
            <a:ext cx="3686175" cy="1581150"/>
          </a:xfrm>
          <a:custGeom>
            <a:avLst/>
            <a:gdLst/>
            <a:ahLst/>
            <a:cxnLst/>
            <a:rect l="l" t="t" r="r" b="b"/>
            <a:pathLst>
              <a:path w="3686175" h="1581150">
                <a:moveTo>
                  <a:pt x="38100" y="0"/>
                </a:moveTo>
                <a:lnTo>
                  <a:pt x="3571874" y="0"/>
                </a:lnTo>
                <a:cubicBezTo>
                  <a:pt x="3635001" y="0"/>
                  <a:pt x="3686175" y="51174"/>
                  <a:pt x="3686175" y="114301"/>
                </a:cubicBezTo>
                <a:lnTo>
                  <a:pt x="3686175" y="1466849"/>
                </a:lnTo>
                <a:cubicBezTo>
                  <a:pt x="3686175" y="1529976"/>
                  <a:pt x="3635001" y="1581150"/>
                  <a:pt x="357187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21611" y="3162063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6" name="Shape 24"/>
          <p:cNvSpPr/>
          <p:nvPr/>
        </p:nvSpPr>
        <p:spPr>
          <a:xfrm>
            <a:off x="8331161" y="33525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D6D7E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449033" y="3457338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335" y="147909"/>
                </a:moveTo>
                <a:cubicBezTo>
                  <a:pt x="1842" y="155209"/>
                  <a:pt x="8305" y="160734"/>
                  <a:pt x="16073" y="160734"/>
                </a:cubicBezTo>
                <a:lnTo>
                  <a:pt x="133945" y="160734"/>
                </a:lnTo>
                <a:cubicBezTo>
                  <a:pt x="142819" y="160734"/>
                  <a:pt x="150019" y="153535"/>
                  <a:pt x="150019" y="144661"/>
                </a:cubicBezTo>
                <a:lnTo>
                  <a:pt x="150019" y="112514"/>
                </a:lnTo>
                <a:cubicBezTo>
                  <a:pt x="150019" y="103640"/>
                  <a:pt x="142819" y="96441"/>
                  <a:pt x="133945" y="96441"/>
                </a:cubicBezTo>
                <a:lnTo>
                  <a:pt x="117872" y="96441"/>
                </a:lnTo>
                <a:lnTo>
                  <a:pt x="117872" y="120551"/>
                </a:lnTo>
                <a:cubicBezTo>
                  <a:pt x="117872" y="125004"/>
                  <a:pt x="114289" y="128588"/>
                  <a:pt x="109835" y="128588"/>
                </a:cubicBezTo>
                <a:cubicBezTo>
                  <a:pt x="105381" y="128588"/>
                  <a:pt x="101798" y="125004"/>
                  <a:pt x="101798" y="120551"/>
                </a:cubicBezTo>
                <a:lnTo>
                  <a:pt x="101798" y="96441"/>
                </a:lnTo>
                <a:lnTo>
                  <a:pt x="80367" y="96441"/>
                </a:lnTo>
                <a:lnTo>
                  <a:pt x="80367" y="120551"/>
                </a:lnTo>
                <a:cubicBezTo>
                  <a:pt x="80367" y="125004"/>
                  <a:pt x="76784" y="128588"/>
                  <a:pt x="72330" y="128588"/>
                </a:cubicBezTo>
                <a:cubicBezTo>
                  <a:pt x="67877" y="128588"/>
                  <a:pt x="64294" y="125004"/>
                  <a:pt x="64294" y="120551"/>
                </a:cubicBezTo>
                <a:lnTo>
                  <a:pt x="64294" y="96441"/>
                </a:lnTo>
                <a:lnTo>
                  <a:pt x="40184" y="96441"/>
                </a:lnTo>
                <a:cubicBezTo>
                  <a:pt x="35730" y="96441"/>
                  <a:pt x="32147" y="92858"/>
                  <a:pt x="32147" y="88404"/>
                </a:cubicBezTo>
                <a:cubicBezTo>
                  <a:pt x="32147" y="83950"/>
                  <a:pt x="35730" y="80367"/>
                  <a:pt x="40184" y="80367"/>
                </a:cubicBezTo>
                <a:lnTo>
                  <a:pt x="64294" y="80367"/>
                </a:lnTo>
                <a:lnTo>
                  <a:pt x="64294" y="58936"/>
                </a:lnTo>
                <a:lnTo>
                  <a:pt x="40184" y="58936"/>
                </a:lnTo>
                <a:cubicBezTo>
                  <a:pt x="35730" y="58936"/>
                  <a:pt x="32147" y="55353"/>
                  <a:pt x="32147" y="50899"/>
                </a:cubicBezTo>
                <a:cubicBezTo>
                  <a:pt x="32147" y="46446"/>
                  <a:pt x="35730" y="42863"/>
                  <a:pt x="40184" y="42863"/>
                </a:cubicBezTo>
                <a:lnTo>
                  <a:pt x="64294" y="42863"/>
                </a:lnTo>
                <a:lnTo>
                  <a:pt x="64294" y="26789"/>
                </a:lnTo>
                <a:cubicBezTo>
                  <a:pt x="64294" y="17915"/>
                  <a:pt x="57094" y="10716"/>
                  <a:pt x="48220" y="10716"/>
                </a:cubicBezTo>
                <a:lnTo>
                  <a:pt x="16073" y="10716"/>
                </a:lnTo>
                <a:cubicBezTo>
                  <a:pt x="7200" y="10716"/>
                  <a:pt x="0" y="17915"/>
                  <a:pt x="0" y="26789"/>
                </a:cubicBezTo>
                <a:lnTo>
                  <a:pt x="0" y="144661"/>
                </a:lnTo>
                <a:cubicBezTo>
                  <a:pt x="0" y="145766"/>
                  <a:pt x="100" y="146871"/>
                  <a:pt x="335" y="147909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8" name="Text 26"/>
          <p:cNvSpPr/>
          <p:nvPr/>
        </p:nvSpPr>
        <p:spPr>
          <a:xfrm>
            <a:off x="8826461" y="3409713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Measurement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31161" y="3847863"/>
            <a:ext cx="336232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accurate measurement algorithms for quantitative analysis.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00050" y="4895731"/>
            <a:ext cx="3686175" cy="1581150"/>
          </a:xfrm>
          <a:custGeom>
            <a:avLst/>
            <a:gdLst/>
            <a:ahLst/>
            <a:cxnLst/>
            <a:rect l="l" t="t" r="r" b="b"/>
            <a:pathLst>
              <a:path w="3686175" h="1581150">
                <a:moveTo>
                  <a:pt x="38100" y="0"/>
                </a:moveTo>
                <a:lnTo>
                  <a:pt x="3571874" y="0"/>
                </a:lnTo>
                <a:cubicBezTo>
                  <a:pt x="3635001" y="0"/>
                  <a:pt x="3686175" y="51174"/>
                  <a:pt x="3686175" y="114301"/>
                </a:cubicBezTo>
                <a:lnTo>
                  <a:pt x="3686175" y="1466849"/>
                </a:lnTo>
                <a:cubicBezTo>
                  <a:pt x="3686175" y="1529976"/>
                  <a:pt x="3635001" y="1581150"/>
                  <a:pt x="357187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00050" y="4895731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600" y="508623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16756" y="519100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34" name="Text 32"/>
          <p:cNvSpPr/>
          <p:nvPr/>
        </p:nvSpPr>
        <p:spPr>
          <a:xfrm>
            <a:off x="1104900" y="5143381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09600" y="5581531"/>
            <a:ext cx="336232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an AI-based analysis module for intelligent sample classification.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60771" y="4895731"/>
            <a:ext cx="7553325" cy="1581150"/>
          </a:xfrm>
          <a:custGeom>
            <a:avLst/>
            <a:gdLst/>
            <a:ahLst/>
            <a:cxnLst/>
            <a:rect l="l" t="t" r="r" b="b"/>
            <a:pathLst>
              <a:path w="7553325" h="1581150">
                <a:moveTo>
                  <a:pt x="38100" y="0"/>
                </a:moveTo>
                <a:lnTo>
                  <a:pt x="7439024" y="0"/>
                </a:lnTo>
                <a:cubicBezTo>
                  <a:pt x="7502151" y="0"/>
                  <a:pt x="7553325" y="51174"/>
                  <a:pt x="7553325" y="114301"/>
                </a:cubicBezTo>
                <a:lnTo>
                  <a:pt x="7553325" y="1466849"/>
                </a:lnTo>
                <a:cubicBezTo>
                  <a:pt x="7553325" y="1529976"/>
                  <a:pt x="7502151" y="1581150"/>
                  <a:pt x="743902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260771" y="4895731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8" name="Shape 36"/>
          <p:cNvSpPr/>
          <p:nvPr/>
        </p:nvSpPr>
        <p:spPr>
          <a:xfrm>
            <a:off x="4470321" y="508623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77477" y="519100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17872"/>
                </a:lnTo>
                <a:cubicBezTo>
                  <a:pt x="0" y="129693"/>
                  <a:pt x="9611" y="139303"/>
                  <a:pt x="21431" y="139303"/>
                </a:cubicBezTo>
                <a:lnTo>
                  <a:pt x="69652" y="139303"/>
                </a:lnTo>
                <a:lnTo>
                  <a:pt x="64294" y="155377"/>
                </a:lnTo>
                <a:lnTo>
                  <a:pt x="40184" y="155377"/>
                </a:lnTo>
                <a:cubicBezTo>
                  <a:pt x="35730" y="155377"/>
                  <a:pt x="32147" y="158960"/>
                  <a:pt x="32147" y="163413"/>
                </a:cubicBezTo>
                <a:cubicBezTo>
                  <a:pt x="32147" y="167867"/>
                  <a:pt x="35730" y="171450"/>
                  <a:pt x="40184" y="171450"/>
                </a:cubicBezTo>
                <a:lnTo>
                  <a:pt x="131266" y="171450"/>
                </a:lnTo>
                <a:cubicBezTo>
                  <a:pt x="135720" y="171450"/>
                  <a:pt x="139303" y="167867"/>
                  <a:pt x="139303" y="163413"/>
                </a:cubicBezTo>
                <a:cubicBezTo>
                  <a:pt x="139303" y="158960"/>
                  <a:pt x="135720" y="155377"/>
                  <a:pt x="131266" y="155377"/>
                </a:cubicBezTo>
                <a:lnTo>
                  <a:pt x="107156" y="155377"/>
                </a:lnTo>
                <a:lnTo>
                  <a:pt x="101798" y="139303"/>
                </a:lnTo>
                <a:lnTo>
                  <a:pt x="150019" y="139303"/>
                </a:lnTo>
                <a:cubicBezTo>
                  <a:pt x="161839" y="139303"/>
                  <a:pt x="171450" y="129693"/>
                  <a:pt x="171450" y="117872"/>
                </a:cubicBezTo>
                <a:lnTo>
                  <a:pt x="171450" y="32147"/>
                </a:lnTo>
                <a:cubicBezTo>
                  <a:pt x="171450" y="20326"/>
                  <a:pt x="161839" y="10716"/>
                  <a:pt x="150019" y="10716"/>
                </a:cubicBezTo>
                <a:lnTo>
                  <a:pt x="21431" y="10716"/>
                </a:lnTo>
                <a:close/>
                <a:moveTo>
                  <a:pt x="32147" y="32147"/>
                </a:move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lnTo>
                  <a:pt x="150019" y="96441"/>
                </a:lnTo>
                <a:cubicBezTo>
                  <a:pt x="150019" y="102368"/>
                  <a:pt x="145230" y="107156"/>
                  <a:pt x="139303" y="107156"/>
                </a:cubicBezTo>
                <a:lnTo>
                  <a:pt x="32147" y="107156"/>
                </a:lnTo>
                <a:cubicBezTo>
                  <a:pt x="26220" y="107156"/>
                  <a:pt x="21431" y="102368"/>
                  <a:pt x="21431" y="96441"/>
                </a:cubicBezTo>
                <a:lnTo>
                  <a:pt x="21431" y="42863"/>
                </a:lnTo>
                <a:cubicBezTo>
                  <a:pt x="21431" y="36935"/>
                  <a:pt x="26220" y="32147"/>
                  <a:pt x="32147" y="32147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0" name="Text 38"/>
          <p:cNvSpPr/>
          <p:nvPr/>
        </p:nvSpPr>
        <p:spPr>
          <a:xfrm>
            <a:off x="4965621" y="5143381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70321" y="5581531"/>
            <a:ext cx="722947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a user-friendly graphical interface for seamless interaction and result visualization.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1012" y="5524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-7144"/>
                </a:moveTo>
                <a:cubicBezTo>
                  <a:pt x="136490" y="-7144"/>
                  <a:pt x="142875" y="-759"/>
                  <a:pt x="142875" y="7144"/>
                </a:cubicBezTo>
                <a:lnTo>
                  <a:pt x="142875" y="15314"/>
                </a:lnTo>
                <a:cubicBezTo>
                  <a:pt x="186675" y="21565"/>
                  <a:pt x="221322" y="56212"/>
                  <a:pt x="227573" y="100013"/>
                </a:cubicBezTo>
                <a:lnTo>
                  <a:pt x="235744" y="100013"/>
                </a:lnTo>
                <a:cubicBezTo>
                  <a:pt x="243647" y="100013"/>
                  <a:pt x="250031" y="106397"/>
                  <a:pt x="250031" y="114300"/>
                </a:cubicBezTo>
                <a:cubicBezTo>
                  <a:pt x="250031" y="122203"/>
                  <a:pt x="243647" y="128588"/>
                  <a:pt x="235744" y="128588"/>
                </a:cubicBezTo>
                <a:lnTo>
                  <a:pt x="227573" y="128588"/>
                </a:lnTo>
                <a:cubicBezTo>
                  <a:pt x="221322" y="172388"/>
                  <a:pt x="186675" y="207035"/>
                  <a:pt x="142875" y="213286"/>
                </a:cubicBezTo>
                <a:lnTo>
                  <a:pt x="142875" y="221456"/>
                </a:lnTo>
                <a:cubicBezTo>
                  <a:pt x="142875" y="229359"/>
                  <a:pt x="136490" y="235744"/>
                  <a:pt x="128588" y="235744"/>
                </a:cubicBezTo>
                <a:cubicBezTo>
                  <a:pt x="120685" y="235744"/>
                  <a:pt x="114300" y="229359"/>
                  <a:pt x="114300" y="221456"/>
                </a:cubicBezTo>
                <a:lnTo>
                  <a:pt x="114300" y="213286"/>
                </a:lnTo>
                <a:cubicBezTo>
                  <a:pt x="70500" y="207035"/>
                  <a:pt x="35853" y="172388"/>
                  <a:pt x="29602" y="128588"/>
                </a:cubicBezTo>
                <a:lnTo>
                  <a:pt x="21431" y="128588"/>
                </a:lnTo>
                <a:cubicBezTo>
                  <a:pt x="13528" y="128588"/>
                  <a:pt x="7144" y="122203"/>
                  <a:pt x="7144" y="114300"/>
                </a:cubicBezTo>
                <a:cubicBezTo>
                  <a:pt x="7144" y="106397"/>
                  <a:pt x="13528" y="100013"/>
                  <a:pt x="21431" y="100013"/>
                </a:cubicBezTo>
                <a:lnTo>
                  <a:pt x="29602" y="100013"/>
                </a:lnTo>
                <a:cubicBezTo>
                  <a:pt x="35853" y="56212"/>
                  <a:pt x="70500" y="21565"/>
                  <a:pt x="114300" y="15314"/>
                </a:cubicBezTo>
                <a:lnTo>
                  <a:pt x="114300" y="7144"/>
                </a:lnTo>
                <a:cubicBezTo>
                  <a:pt x="114300" y="-759"/>
                  <a:pt x="120685" y="-7144"/>
                  <a:pt x="128588" y="-7144"/>
                </a:cubicBezTo>
                <a:close/>
                <a:moveTo>
                  <a:pt x="58579" y="128588"/>
                </a:moveTo>
                <a:cubicBezTo>
                  <a:pt x="64249" y="156582"/>
                  <a:pt x="86305" y="178638"/>
                  <a:pt x="114300" y="184309"/>
                </a:cubicBezTo>
                <a:lnTo>
                  <a:pt x="114300" y="178594"/>
                </a:lnTo>
                <a:cubicBezTo>
                  <a:pt x="114300" y="170691"/>
                  <a:pt x="120685" y="164306"/>
                  <a:pt x="128588" y="164306"/>
                </a:cubicBezTo>
                <a:cubicBezTo>
                  <a:pt x="136490" y="164306"/>
                  <a:pt x="142875" y="170691"/>
                  <a:pt x="142875" y="178594"/>
                </a:cubicBezTo>
                <a:lnTo>
                  <a:pt x="142875" y="184309"/>
                </a:lnTo>
                <a:cubicBezTo>
                  <a:pt x="170870" y="178638"/>
                  <a:pt x="192926" y="156582"/>
                  <a:pt x="198596" y="128588"/>
                </a:cubicBezTo>
                <a:lnTo>
                  <a:pt x="192881" y="128588"/>
                </a:lnTo>
                <a:cubicBezTo>
                  <a:pt x="184978" y="128588"/>
                  <a:pt x="178594" y="122203"/>
                  <a:pt x="178594" y="114300"/>
                </a:cubicBezTo>
                <a:cubicBezTo>
                  <a:pt x="178594" y="106397"/>
                  <a:pt x="184978" y="100013"/>
                  <a:pt x="192881" y="100013"/>
                </a:cubicBezTo>
                <a:lnTo>
                  <a:pt x="198596" y="100013"/>
                </a:lnTo>
                <a:cubicBezTo>
                  <a:pt x="192926" y="72018"/>
                  <a:pt x="170870" y="49962"/>
                  <a:pt x="142875" y="44291"/>
                </a:cubicBezTo>
                <a:lnTo>
                  <a:pt x="142875" y="50006"/>
                </a:lnTo>
                <a:cubicBezTo>
                  <a:pt x="142875" y="57909"/>
                  <a:pt x="136490" y="64294"/>
                  <a:pt x="128588" y="64294"/>
                </a:cubicBezTo>
                <a:cubicBezTo>
                  <a:pt x="120685" y="64294"/>
                  <a:pt x="114300" y="57909"/>
                  <a:pt x="114300" y="50006"/>
                </a:cubicBezTo>
                <a:lnTo>
                  <a:pt x="114300" y="44291"/>
                </a:lnTo>
                <a:cubicBezTo>
                  <a:pt x="86305" y="49962"/>
                  <a:pt x="64249" y="72018"/>
                  <a:pt x="58579" y="100013"/>
                </a:cubicBezTo>
                <a:lnTo>
                  <a:pt x="64294" y="100013"/>
                </a:lnTo>
                <a:cubicBezTo>
                  <a:pt x="72197" y="100013"/>
                  <a:pt x="78581" y="106397"/>
                  <a:pt x="78581" y="114300"/>
                </a:cubicBezTo>
                <a:cubicBezTo>
                  <a:pt x="78581" y="122203"/>
                  <a:pt x="72197" y="128588"/>
                  <a:pt x="64294" y="128588"/>
                </a:cubicBezTo>
                <a:lnTo>
                  <a:pt x="58579" y="128588"/>
                </a:lnTo>
                <a:close/>
                <a:moveTo>
                  <a:pt x="128588" y="92869"/>
                </a:moveTo>
                <a:cubicBezTo>
                  <a:pt x="140416" y="92869"/>
                  <a:pt x="150019" y="102472"/>
                  <a:pt x="150019" y="114300"/>
                </a:cubicBezTo>
                <a:cubicBezTo>
                  <a:pt x="150019" y="126128"/>
                  <a:pt x="140416" y="135731"/>
                  <a:pt x="128588" y="135731"/>
                </a:cubicBezTo>
                <a:cubicBezTo>
                  <a:pt x="116759" y="135731"/>
                  <a:pt x="107156" y="126128"/>
                  <a:pt x="107156" y="114300"/>
                </a:cubicBezTo>
                <a:cubicBezTo>
                  <a:pt x="107156" y="102472"/>
                  <a:pt x="116759" y="92869"/>
                  <a:pt x="128588" y="92869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2171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kern="0" spc="53" dirty="0">
                <a:solidFill>
                  <a:srgbClr val="1ABC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2276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Scope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57300"/>
            <a:ext cx="5600700" cy="5219700"/>
          </a:xfrm>
          <a:custGeom>
            <a:avLst/>
            <a:gdLst/>
            <a:ahLst/>
            <a:cxnLst/>
            <a:rect l="l" t="t" r="r" b="b"/>
            <a:pathLst>
              <a:path w="5600700" h="5219700">
                <a:moveTo>
                  <a:pt x="114311" y="0"/>
                </a:moveTo>
                <a:lnTo>
                  <a:pt x="5486389" y="0"/>
                </a:lnTo>
                <a:cubicBezTo>
                  <a:pt x="5549521" y="0"/>
                  <a:pt x="5600700" y="51179"/>
                  <a:pt x="5600700" y="114311"/>
                </a:cubicBezTo>
                <a:lnTo>
                  <a:pt x="5600700" y="5105389"/>
                </a:lnTo>
                <a:cubicBezTo>
                  <a:pt x="5600700" y="5168521"/>
                  <a:pt x="5549521" y="5219700"/>
                  <a:pt x="5486389" y="5219700"/>
                </a:cubicBezTo>
                <a:lnTo>
                  <a:pt x="114311" y="5219700"/>
                </a:lnTo>
                <a:cubicBezTo>
                  <a:pt x="51179" y="5219700"/>
                  <a:pt x="0" y="5168521"/>
                  <a:pt x="0" y="5105389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23900" y="1600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1562100"/>
            <a:ext cx="2152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Project Includes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095500"/>
            <a:ext cx="5143500" cy="723900"/>
          </a:xfrm>
          <a:custGeom>
            <a:avLst/>
            <a:gdLst/>
            <a:ahLst/>
            <a:cxnLst/>
            <a:rect l="l" t="t" r="r" b="b"/>
            <a:pathLst>
              <a:path w="5143500" h="723900">
                <a:moveTo>
                  <a:pt x="76198" y="0"/>
                </a:moveTo>
                <a:lnTo>
                  <a:pt x="5067302" y="0"/>
                </a:lnTo>
                <a:cubicBezTo>
                  <a:pt x="5109357" y="0"/>
                  <a:pt x="5143500" y="34143"/>
                  <a:pt x="5143500" y="76198"/>
                </a:cubicBezTo>
                <a:lnTo>
                  <a:pt x="5143500" y="647702"/>
                </a:lnTo>
                <a:cubicBezTo>
                  <a:pt x="5143500" y="689757"/>
                  <a:pt x="5109357" y="723900"/>
                  <a:pt x="50673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16756" y="224790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41440" y="2209800"/>
            <a:ext cx="46767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of hardware and software components for seamless operation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600" y="2933700"/>
            <a:ext cx="5143500" cy="723900"/>
          </a:xfrm>
          <a:custGeom>
            <a:avLst/>
            <a:gdLst/>
            <a:ahLst/>
            <a:cxnLst/>
            <a:rect l="l" t="t" r="r" b="b"/>
            <a:pathLst>
              <a:path w="5143500" h="723900">
                <a:moveTo>
                  <a:pt x="76198" y="0"/>
                </a:moveTo>
                <a:lnTo>
                  <a:pt x="5067302" y="0"/>
                </a:lnTo>
                <a:cubicBezTo>
                  <a:pt x="5109357" y="0"/>
                  <a:pt x="5143500" y="34143"/>
                  <a:pt x="5143500" y="76198"/>
                </a:cubicBezTo>
                <a:lnTo>
                  <a:pt x="5143500" y="647702"/>
                </a:lnTo>
                <a:cubicBezTo>
                  <a:pt x="5143500" y="689757"/>
                  <a:pt x="5109357" y="723900"/>
                  <a:pt x="50673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53666" y="30861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42863" y="37505"/>
                </a:moveTo>
                <a:cubicBezTo>
                  <a:pt x="51734" y="37505"/>
                  <a:pt x="58936" y="44707"/>
                  <a:pt x="58936" y="53578"/>
                </a:cubicBezTo>
                <a:cubicBezTo>
                  <a:pt x="58936" y="62449"/>
                  <a:pt x="51734" y="69652"/>
                  <a:pt x="42863" y="69652"/>
                </a:cubicBezTo>
                <a:cubicBezTo>
                  <a:pt x="33991" y="69652"/>
                  <a:pt x="26789" y="62449"/>
                  <a:pt x="26789" y="53578"/>
                </a:cubicBezTo>
                <a:cubicBezTo>
                  <a:pt x="26789" y="44707"/>
                  <a:pt x="33991" y="37505"/>
                  <a:pt x="42863" y="37505"/>
                </a:cubicBezTo>
                <a:close/>
                <a:moveTo>
                  <a:pt x="91083" y="75009"/>
                </a:moveTo>
                <a:cubicBezTo>
                  <a:pt x="93896" y="75009"/>
                  <a:pt x="96474" y="76483"/>
                  <a:pt x="97948" y="78860"/>
                </a:cubicBezTo>
                <a:lnTo>
                  <a:pt x="127415" y="127081"/>
                </a:lnTo>
                <a:cubicBezTo>
                  <a:pt x="128922" y="129559"/>
                  <a:pt x="128989" y="132673"/>
                  <a:pt x="127583" y="135218"/>
                </a:cubicBezTo>
                <a:cubicBezTo>
                  <a:pt x="126176" y="137763"/>
                  <a:pt x="123464" y="139303"/>
                  <a:pt x="120551" y="139303"/>
                </a:cubicBezTo>
                <a:lnTo>
                  <a:pt x="29468" y="139303"/>
                </a:lnTo>
                <a:cubicBezTo>
                  <a:pt x="26488" y="139303"/>
                  <a:pt x="23708" y="137629"/>
                  <a:pt x="22335" y="134983"/>
                </a:cubicBezTo>
                <a:cubicBezTo>
                  <a:pt x="20962" y="132338"/>
                  <a:pt x="21163" y="129123"/>
                  <a:pt x="22871" y="126679"/>
                </a:cubicBezTo>
                <a:lnTo>
                  <a:pt x="41624" y="99890"/>
                </a:lnTo>
                <a:cubicBezTo>
                  <a:pt x="43130" y="97747"/>
                  <a:pt x="45575" y="96474"/>
                  <a:pt x="48220" y="96474"/>
                </a:cubicBezTo>
                <a:cubicBezTo>
                  <a:pt x="50866" y="96474"/>
                  <a:pt x="53310" y="97747"/>
                  <a:pt x="54817" y="99890"/>
                </a:cubicBezTo>
                <a:lnTo>
                  <a:pt x="63658" y="112548"/>
                </a:lnTo>
                <a:lnTo>
                  <a:pt x="84218" y="78894"/>
                </a:lnTo>
                <a:cubicBezTo>
                  <a:pt x="85692" y="76516"/>
                  <a:pt x="88270" y="75043"/>
                  <a:pt x="91083" y="7504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631" y="3048000"/>
            <a:ext cx="4667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acquisition and processing capabilities with advanced algorithms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3771900"/>
            <a:ext cx="5143500" cy="476250"/>
          </a:xfrm>
          <a:custGeom>
            <a:avLst/>
            <a:gdLst/>
            <a:ahLst/>
            <a:cxnLst/>
            <a:rect l="l" t="t" r="r" b="b"/>
            <a:pathLst>
              <a:path w="5143500" h="476250">
                <a:moveTo>
                  <a:pt x="76200" y="0"/>
                </a:moveTo>
                <a:lnTo>
                  <a:pt x="5067300" y="0"/>
                </a:lnTo>
                <a:cubicBezTo>
                  <a:pt x="5109356" y="0"/>
                  <a:pt x="5143500" y="34144"/>
                  <a:pt x="5143500" y="76200"/>
                </a:cubicBezTo>
                <a:lnTo>
                  <a:pt x="5143500" y="400050"/>
                </a:lnTo>
                <a:cubicBezTo>
                  <a:pt x="5143500" y="442106"/>
                  <a:pt x="5109356" y="476250"/>
                  <a:pt x="5067300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47713" y="39243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52513" y="3886200"/>
            <a:ext cx="44672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AI-based analysis of microscopic samples for automated detection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600" y="4362450"/>
            <a:ext cx="5143500" cy="476250"/>
          </a:xfrm>
          <a:custGeom>
            <a:avLst/>
            <a:gdLst/>
            <a:ahLst/>
            <a:cxnLst/>
            <a:rect l="l" t="t" r="r" b="b"/>
            <a:pathLst>
              <a:path w="5143500" h="476250">
                <a:moveTo>
                  <a:pt x="76200" y="0"/>
                </a:moveTo>
                <a:lnTo>
                  <a:pt x="5067300" y="0"/>
                </a:lnTo>
                <a:cubicBezTo>
                  <a:pt x="5109356" y="0"/>
                  <a:pt x="5143500" y="34144"/>
                  <a:pt x="5143500" y="76200"/>
                </a:cubicBezTo>
                <a:lnTo>
                  <a:pt x="5143500" y="400050"/>
                </a:lnTo>
                <a:cubicBezTo>
                  <a:pt x="5143500" y="442106"/>
                  <a:pt x="5109356" y="476250"/>
                  <a:pt x="5067300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58428" y="45148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96441" y="0"/>
                </a:moveTo>
                <a:lnTo>
                  <a:pt x="42863" y="0"/>
                </a:lnTo>
                <a:cubicBezTo>
                  <a:pt x="36935" y="0"/>
                  <a:pt x="32147" y="4789"/>
                  <a:pt x="32147" y="10716"/>
                </a:cubicBezTo>
                <a:cubicBezTo>
                  <a:pt x="32147" y="16643"/>
                  <a:pt x="36935" y="21431"/>
                  <a:pt x="42863" y="21431"/>
                </a:cubicBezTo>
                <a:lnTo>
                  <a:pt x="42863" y="72163"/>
                </a:lnTo>
                <a:lnTo>
                  <a:pt x="2511" y="142752"/>
                </a:lnTo>
                <a:cubicBezTo>
                  <a:pt x="871" y="145666"/>
                  <a:pt x="0" y="148914"/>
                  <a:pt x="0" y="152262"/>
                </a:cubicBezTo>
                <a:cubicBezTo>
                  <a:pt x="0" y="162878"/>
                  <a:pt x="8573" y="171450"/>
                  <a:pt x="19188" y="171450"/>
                </a:cubicBezTo>
                <a:lnTo>
                  <a:pt x="130831" y="171450"/>
                </a:lnTo>
                <a:cubicBezTo>
                  <a:pt x="141413" y="171450"/>
                  <a:pt x="150019" y="162878"/>
                  <a:pt x="150019" y="152262"/>
                </a:cubicBezTo>
                <a:cubicBezTo>
                  <a:pt x="150019" y="148914"/>
                  <a:pt x="149148" y="145632"/>
                  <a:pt x="147507" y="142752"/>
                </a:cubicBezTo>
                <a:lnTo>
                  <a:pt x="107156" y="72163"/>
                </a:lnTo>
                <a:lnTo>
                  <a:pt x="107156" y="21431"/>
                </a:lnTo>
                <a:cubicBezTo>
                  <a:pt x="113083" y="21431"/>
                  <a:pt x="117872" y="16643"/>
                  <a:pt x="117872" y="10716"/>
                </a:cubicBezTo>
                <a:cubicBezTo>
                  <a:pt x="117872" y="4789"/>
                  <a:pt x="113083" y="0"/>
                  <a:pt x="107156" y="0"/>
                </a:cubicBezTo>
                <a:lnTo>
                  <a:pt x="96441" y="0"/>
                </a:lnTo>
                <a:close/>
                <a:moveTo>
                  <a:pt x="64294" y="72163"/>
                </a:moveTo>
                <a:lnTo>
                  <a:pt x="64294" y="21431"/>
                </a:lnTo>
                <a:lnTo>
                  <a:pt x="85725" y="21431"/>
                </a:lnTo>
                <a:lnTo>
                  <a:pt x="85725" y="72163"/>
                </a:lnTo>
                <a:cubicBezTo>
                  <a:pt x="85725" y="75880"/>
                  <a:pt x="86696" y="79564"/>
                  <a:pt x="88538" y="82812"/>
                </a:cubicBezTo>
                <a:lnTo>
                  <a:pt x="102468" y="107156"/>
                </a:lnTo>
                <a:lnTo>
                  <a:pt x="47551" y="107156"/>
                </a:lnTo>
                <a:lnTo>
                  <a:pt x="61481" y="82812"/>
                </a:lnTo>
                <a:cubicBezTo>
                  <a:pt x="63323" y="79564"/>
                  <a:pt x="64294" y="75914"/>
                  <a:pt x="64294" y="721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52513" y="4476750"/>
            <a:ext cx="3590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Laboratory-based performance testing and validation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1257300"/>
            <a:ext cx="5600700" cy="3771900"/>
          </a:xfrm>
          <a:custGeom>
            <a:avLst/>
            <a:gdLst/>
            <a:ahLst/>
            <a:cxnLst/>
            <a:rect l="l" t="t" r="r" b="b"/>
            <a:pathLst>
              <a:path w="5600700" h="3771900">
                <a:moveTo>
                  <a:pt x="114289" y="0"/>
                </a:moveTo>
                <a:lnTo>
                  <a:pt x="5486411" y="0"/>
                </a:lnTo>
                <a:cubicBezTo>
                  <a:pt x="5549489" y="0"/>
                  <a:pt x="5600700" y="51211"/>
                  <a:pt x="5600700" y="114289"/>
                </a:cubicBezTo>
                <a:lnTo>
                  <a:pt x="5600700" y="3657611"/>
                </a:lnTo>
                <a:cubicBezTo>
                  <a:pt x="5600700" y="3720731"/>
                  <a:pt x="5549531" y="3771900"/>
                  <a:pt x="5486411" y="3771900"/>
                </a:cubicBezTo>
                <a:lnTo>
                  <a:pt x="114289" y="3771900"/>
                </a:lnTo>
                <a:cubicBezTo>
                  <a:pt x="51211" y="3771900"/>
                  <a:pt x="0" y="3720689"/>
                  <a:pt x="0" y="36576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3" name="Shape 21"/>
          <p:cNvSpPr/>
          <p:nvPr/>
        </p:nvSpPr>
        <p:spPr>
          <a:xfrm>
            <a:off x="6438900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553200" y="1600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010400" y="1562100"/>
            <a:ext cx="3028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Project Does Not Include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38900" y="2095500"/>
            <a:ext cx="5143500" cy="476250"/>
          </a:xfrm>
          <a:custGeom>
            <a:avLst/>
            <a:gdLst/>
            <a:ahLst/>
            <a:cxnLst/>
            <a:rect l="l" t="t" r="r" b="b"/>
            <a:pathLst>
              <a:path w="5143500" h="476250">
                <a:moveTo>
                  <a:pt x="76200" y="0"/>
                </a:moveTo>
                <a:lnTo>
                  <a:pt x="5067300" y="0"/>
                </a:lnTo>
                <a:cubicBezTo>
                  <a:pt x="5109356" y="0"/>
                  <a:pt x="5143500" y="34144"/>
                  <a:pt x="5143500" y="76200"/>
                </a:cubicBezTo>
                <a:lnTo>
                  <a:pt x="5143500" y="400050"/>
                </a:lnTo>
                <a:cubicBezTo>
                  <a:pt x="5143500" y="442106"/>
                  <a:pt x="5109356" y="476250"/>
                  <a:pt x="5067300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77013" y="22479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4789" y="10716"/>
                  <a:pt x="0" y="15504"/>
                  <a:pt x="0" y="21431"/>
                </a:cubicBezTo>
                <a:lnTo>
                  <a:pt x="0" y="144661"/>
                </a:lnTo>
                <a:cubicBezTo>
                  <a:pt x="0" y="153535"/>
                  <a:pt x="7200" y="160734"/>
                  <a:pt x="16073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50966"/>
                </a:lnTo>
                <a:cubicBezTo>
                  <a:pt x="171450" y="44872"/>
                  <a:pt x="164954" y="41021"/>
                  <a:pt x="159596" y="43901"/>
                </a:cubicBezTo>
                <a:lnTo>
                  <a:pt x="107156" y="72130"/>
                </a:lnTo>
                <a:lnTo>
                  <a:pt x="107156" y="50966"/>
                </a:lnTo>
                <a:cubicBezTo>
                  <a:pt x="107156" y="44872"/>
                  <a:pt x="100660" y="41021"/>
                  <a:pt x="95302" y="43901"/>
                </a:cubicBezTo>
                <a:lnTo>
                  <a:pt x="42863" y="72130"/>
                </a:lnTo>
                <a:lnTo>
                  <a:pt x="42863" y="21431"/>
                </a:lnTo>
                <a:cubicBezTo>
                  <a:pt x="42863" y="15504"/>
                  <a:pt x="38074" y="10716"/>
                  <a:pt x="32147" y="10716"/>
                </a:cubicBezTo>
                <a:lnTo>
                  <a:pt x="10716" y="1071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881813" y="2209800"/>
            <a:ext cx="41624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Industrial-scale medical device production and manufacturing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38900" y="2686050"/>
            <a:ext cx="5143500" cy="476250"/>
          </a:xfrm>
          <a:custGeom>
            <a:avLst/>
            <a:gdLst/>
            <a:ahLst/>
            <a:cxnLst/>
            <a:rect l="l" t="t" r="r" b="b"/>
            <a:pathLst>
              <a:path w="5143500" h="476250">
                <a:moveTo>
                  <a:pt x="76200" y="0"/>
                </a:moveTo>
                <a:lnTo>
                  <a:pt x="5067300" y="0"/>
                </a:lnTo>
                <a:cubicBezTo>
                  <a:pt x="5109356" y="0"/>
                  <a:pt x="5143500" y="34144"/>
                  <a:pt x="5143500" y="76200"/>
                </a:cubicBezTo>
                <a:lnTo>
                  <a:pt x="5143500" y="400050"/>
                </a:lnTo>
                <a:cubicBezTo>
                  <a:pt x="5143500" y="442106"/>
                  <a:pt x="5109356" y="476250"/>
                  <a:pt x="5067300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66297" y="28384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80099" y="-2679"/>
                </a:moveTo>
                <a:cubicBezTo>
                  <a:pt x="78057" y="-4755"/>
                  <a:pt x="75076" y="-5592"/>
                  <a:pt x="72263" y="-4822"/>
                </a:cubicBezTo>
                <a:cubicBezTo>
                  <a:pt x="69451" y="-4052"/>
                  <a:pt x="67274" y="-1875"/>
                  <a:pt x="66571" y="938"/>
                </a:cubicBezTo>
                <a:lnTo>
                  <a:pt x="61447" y="21096"/>
                </a:lnTo>
                <a:cubicBezTo>
                  <a:pt x="61079" y="22570"/>
                  <a:pt x="59572" y="23440"/>
                  <a:pt x="58132" y="23005"/>
                </a:cubicBezTo>
                <a:lnTo>
                  <a:pt x="38107" y="17379"/>
                </a:lnTo>
                <a:cubicBezTo>
                  <a:pt x="35295" y="16576"/>
                  <a:pt x="32281" y="17379"/>
                  <a:pt x="30238" y="19422"/>
                </a:cubicBezTo>
                <a:cubicBezTo>
                  <a:pt x="28195" y="21465"/>
                  <a:pt x="27392" y="24479"/>
                  <a:pt x="28195" y="27291"/>
                </a:cubicBezTo>
                <a:lnTo>
                  <a:pt x="33855" y="47316"/>
                </a:lnTo>
                <a:cubicBezTo>
                  <a:pt x="34257" y="48756"/>
                  <a:pt x="33386" y="50263"/>
                  <a:pt x="31946" y="50631"/>
                </a:cubicBezTo>
                <a:lnTo>
                  <a:pt x="11754" y="55755"/>
                </a:lnTo>
                <a:cubicBezTo>
                  <a:pt x="8941" y="56458"/>
                  <a:pt x="6731" y="58668"/>
                  <a:pt x="5961" y="61481"/>
                </a:cubicBezTo>
                <a:cubicBezTo>
                  <a:pt x="5190" y="64294"/>
                  <a:pt x="6028" y="67274"/>
                  <a:pt x="8104" y="69317"/>
                </a:cubicBezTo>
                <a:lnTo>
                  <a:pt x="23005" y="83816"/>
                </a:lnTo>
                <a:cubicBezTo>
                  <a:pt x="24077" y="84854"/>
                  <a:pt x="24077" y="86596"/>
                  <a:pt x="23005" y="87667"/>
                </a:cubicBezTo>
                <a:lnTo>
                  <a:pt x="8137" y="102167"/>
                </a:lnTo>
                <a:cubicBezTo>
                  <a:pt x="6061" y="104209"/>
                  <a:pt x="5224" y="107190"/>
                  <a:pt x="5994" y="110003"/>
                </a:cubicBezTo>
                <a:cubicBezTo>
                  <a:pt x="6764" y="112815"/>
                  <a:pt x="8974" y="114992"/>
                  <a:pt x="11787" y="115729"/>
                </a:cubicBezTo>
                <a:lnTo>
                  <a:pt x="31946" y="120852"/>
                </a:lnTo>
                <a:cubicBezTo>
                  <a:pt x="33419" y="121221"/>
                  <a:pt x="34290" y="122727"/>
                  <a:pt x="33855" y="124167"/>
                </a:cubicBezTo>
                <a:lnTo>
                  <a:pt x="28195" y="144159"/>
                </a:lnTo>
                <a:cubicBezTo>
                  <a:pt x="27392" y="146971"/>
                  <a:pt x="28195" y="149985"/>
                  <a:pt x="30238" y="152028"/>
                </a:cubicBezTo>
                <a:cubicBezTo>
                  <a:pt x="32281" y="154071"/>
                  <a:pt x="35295" y="154874"/>
                  <a:pt x="38107" y="154071"/>
                </a:cubicBezTo>
                <a:lnTo>
                  <a:pt x="58132" y="148411"/>
                </a:lnTo>
                <a:cubicBezTo>
                  <a:pt x="59572" y="148010"/>
                  <a:pt x="61079" y="148880"/>
                  <a:pt x="61447" y="150320"/>
                </a:cubicBezTo>
                <a:lnTo>
                  <a:pt x="66571" y="170479"/>
                </a:lnTo>
                <a:cubicBezTo>
                  <a:pt x="67274" y="173292"/>
                  <a:pt x="69484" y="175502"/>
                  <a:pt x="72297" y="176272"/>
                </a:cubicBezTo>
                <a:cubicBezTo>
                  <a:pt x="75110" y="177042"/>
                  <a:pt x="78090" y="176205"/>
                  <a:pt x="80133" y="174129"/>
                </a:cubicBezTo>
                <a:lnTo>
                  <a:pt x="94632" y="159227"/>
                </a:lnTo>
                <a:cubicBezTo>
                  <a:pt x="95670" y="158156"/>
                  <a:pt x="97412" y="158156"/>
                  <a:pt x="98483" y="159227"/>
                </a:cubicBezTo>
                <a:lnTo>
                  <a:pt x="112949" y="174129"/>
                </a:lnTo>
                <a:cubicBezTo>
                  <a:pt x="114992" y="176205"/>
                  <a:pt x="117972" y="177042"/>
                  <a:pt x="120785" y="176272"/>
                </a:cubicBezTo>
                <a:cubicBezTo>
                  <a:pt x="123598" y="175502"/>
                  <a:pt x="125775" y="173292"/>
                  <a:pt x="126511" y="170479"/>
                </a:cubicBezTo>
                <a:lnTo>
                  <a:pt x="131635" y="150354"/>
                </a:lnTo>
                <a:cubicBezTo>
                  <a:pt x="132003" y="148880"/>
                  <a:pt x="133510" y="148010"/>
                  <a:pt x="134950" y="148445"/>
                </a:cubicBezTo>
                <a:lnTo>
                  <a:pt x="154975" y="154104"/>
                </a:lnTo>
                <a:cubicBezTo>
                  <a:pt x="157788" y="154908"/>
                  <a:pt x="160801" y="154104"/>
                  <a:pt x="162844" y="152061"/>
                </a:cubicBezTo>
                <a:cubicBezTo>
                  <a:pt x="164887" y="150019"/>
                  <a:pt x="165690" y="147005"/>
                  <a:pt x="164887" y="144192"/>
                </a:cubicBezTo>
                <a:lnTo>
                  <a:pt x="159227" y="124167"/>
                </a:lnTo>
                <a:cubicBezTo>
                  <a:pt x="158826" y="122727"/>
                  <a:pt x="159696" y="121221"/>
                  <a:pt x="161136" y="120852"/>
                </a:cubicBezTo>
                <a:lnTo>
                  <a:pt x="181295" y="115729"/>
                </a:lnTo>
                <a:cubicBezTo>
                  <a:pt x="184108" y="115026"/>
                  <a:pt x="186318" y="112815"/>
                  <a:pt x="187088" y="110003"/>
                </a:cubicBezTo>
                <a:cubicBezTo>
                  <a:pt x="187858" y="107190"/>
                  <a:pt x="187021" y="104176"/>
                  <a:pt x="184945" y="102167"/>
                </a:cubicBezTo>
                <a:lnTo>
                  <a:pt x="170044" y="87667"/>
                </a:lnTo>
                <a:cubicBezTo>
                  <a:pt x="168972" y="86629"/>
                  <a:pt x="168972" y="84888"/>
                  <a:pt x="170044" y="83816"/>
                </a:cubicBezTo>
                <a:lnTo>
                  <a:pt x="184945" y="69317"/>
                </a:lnTo>
                <a:cubicBezTo>
                  <a:pt x="187021" y="67274"/>
                  <a:pt x="187858" y="64294"/>
                  <a:pt x="187088" y="61481"/>
                </a:cubicBezTo>
                <a:cubicBezTo>
                  <a:pt x="186318" y="58668"/>
                  <a:pt x="184108" y="56491"/>
                  <a:pt x="181295" y="55755"/>
                </a:cubicBezTo>
                <a:lnTo>
                  <a:pt x="161136" y="50631"/>
                </a:lnTo>
                <a:cubicBezTo>
                  <a:pt x="159663" y="50263"/>
                  <a:pt x="158792" y="48756"/>
                  <a:pt x="159227" y="47316"/>
                </a:cubicBezTo>
                <a:lnTo>
                  <a:pt x="164887" y="27291"/>
                </a:lnTo>
                <a:cubicBezTo>
                  <a:pt x="165690" y="24479"/>
                  <a:pt x="164887" y="21465"/>
                  <a:pt x="162844" y="19422"/>
                </a:cubicBezTo>
                <a:cubicBezTo>
                  <a:pt x="160801" y="17379"/>
                  <a:pt x="157788" y="16576"/>
                  <a:pt x="154975" y="17379"/>
                </a:cubicBezTo>
                <a:lnTo>
                  <a:pt x="134950" y="23039"/>
                </a:lnTo>
                <a:cubicBezTo>
                  <a:pt x="133510" y="23440"/>
                  <a:pt x="132003" y="22570"/>
                  <a:pt x="131635" y="21130"/>
                </a:cubicBezTo>
                <a:lnTo>
                  <a:pt x="126511" y="938"/>
                </a:lnTo>
                <a:cubicBezTo>
                  <a:pt x="125808" y="-1875"/>
                  <a:pt x="123598" y="-4085"/>
                  <a:pt x="120785" y="-4856"/>
                </a:cubicBezTo>
                <a:cubicBezTo>
                  <a:pt x="117972" y="-5626"/>
                  <a:pt x="114992" y="-4789"/>
                  <a:pt x="112949" y="-2712"/>
                </a:cubicBezTo>
                <a:lnTo>
                  <a:pt x="98450" y="12223"/>
                </a:lnTo>
                <a:cubicBezTo>
                  <a:pt x="97412" y="13294"/>
                  <a:pt x="95670" y="13294"/>
                  <a:pt x="94599" y="12223"/>
                </a:cubicBezTo>
                <a:lnTo>
                  <a:pt x="80099" y="-267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881813" y="2800350"/>
            <a:ext cx="4124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Certified clinical diagnosis and medical certification processes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0300" y="5219700"/>
            <a:ext cx="5600700" cy="1257300"/>
          </a:xfrm>
          <a:custGeom>
            <a:avLst/>
            <a:gdLst/>
            <a:ahLst/>
            <a:cxnLst/>
            <a:rect l="l" t="t" r="r" b="b"/>
            <a:pathLst>
              <a:path w="5600700" h="1257300">
                <a:moveTo>
                  <a:pt x="114301" y="0"/>
                </a:moveTo>
                <a:lnTo>
                  <a:pt x="5486399" y="0"/>
                </a:lnTo>
                <a:cubicBezTo>
                  <a:pt x="5549483" y="0"/>
                  <a:pt x="5600700" y="51217"/>
                  <a:pt x="5600700" y="114301"/>
                </a:cubicBezTo>
                <a:lnTo>
                  <a:pt x="5600700" y="1142999"/>
                </a:lnTo>
                <a:cubicBezTo>
                  <a:pt x="5600700" y="1206083"/>
                  <a:pt x="5549483" y="1257300"/>
                  <a:pt x="5486399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24613" y="5448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34" name="Text 32"/>
          <p:cNvSpPr/>
          <p:nvPr/>
        </p:nvSpPr>
        <p:spPr>
          <a:xfrm>
            <a:off x="6753225" y="5410200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Scope Definition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00800" y="5791200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focuses on developing a functional prototype and proof-of-concept system for academic research purposes.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D6D7E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55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60722"/>
                </a:moveTo>
                <a:cubicBezTo>
                  <a:pt x="120238" y="60722"/>
                  <a:pt x="125016" y="65499"/>
                  <a:pt x="125016" y="71438"/>
                </a:cubicBezTo>
                <a:lnTo>
                  <a:pt x="125016" y="121444"/>
                </a:lnTo>
                <a:cubicBezTo>
                  <a:pt x="125016" y="127382"/>
                  <a:pt x="120238" y="132159"/>
                  <a:pt x="114300" y="132159"/>
                </a:cubicBezTo>
                <a:cubicBezTo>
                  <a:pt x="108362" y="132159"/>
                  <a:pt x="103584" y="127382"/>
                  <a:pt x="103584" y="121444"/>
                </a:cubicBezTo>
                <a:lnTo>
                  <a:pt x="103584" y="71438"/>
                </a:lnTo>
                <a:cubicBezTo>
                  <a:pt x="103584" y="65499"/>
                  <a:pt x="108362" y="60722"/>
                  <a:pt x="114300" y="60722"/>
                </a:cubicBezTo>
                <a:close/>
                <a:moveTo>
                  <a:pt x="102379" y="157163"/>
                </a:moveTo>
                <a:cubicBezTo>
                  <a:pt x="102108" y="152738"/>
                  <a:pt x="104314" y="148528"/>
                  <a:pt x="108108" y="146233"/>
                </a:cubicBezTo>
                <a:cubicBezTo>
                  <a:pt x="111901" y="143939"/>
                  <a:pt x="116654" y="143939"/>
                  <a:pt x="120448" y="146233"/>
                </a:cubicBezTo>
                <a:cubicBezTo>
                  <a:pt x="124241" y="148528"/>
                  <a:pt x="126448" y="152738"/>
                  <a:pt x="126176" y="157162"/>
                </a:cubicBezTo>
                <a:cubicBezTo>
                  <a:pt x="126448" y="161587"/>
                  <a:pt x="124241" y="165797"/>
                  <a:pt x="120448" y="168092"/>
                </a:cubicBezTo>
                <a:cubicBezTo>
                  <a:pt x="116654" y="170386"/>
                  <a:pt x="111901" y="170386"/>
                  <a:pt x="108108" y="168092"/>
                </a:cubicBezTo>
                <a:cubicBezTo>
                  <a:pt x="104314" y="165797"/>
                  <a:pt x="102108" y="161587"/>
                  <a:pt x="102379" y="157163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2886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kern="0" spc="53" dirty="0">
                <a:solidFill>
                  <a:srgbClr val="1ABC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2990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Limitations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257300"/>
            <a:ext cx="3695700" cy="2533650"/>
          </a:xfrm>
          <a:custGeom>
            <a:avLst/>
            <a:gdLst/>
            <a:ahLst/>
            <a:cxnLst/>
            <a:rect l="l" t="t" r="r" b="b"/>
            <a:pathLst>
              <a:path w="3695700" h="2533650">
                <a:moveTo>
                  <a:pt x="38100" y="0"/>
                </a:moveTo>
                <a:lnTo>
                  <a:pt x="3581407" y="0"/>
                </a:lnTo>
                <a:cubicBezTo>
                  <a:pt x="3644529" y="0"/>
                  <a:pt x="3695700" y="51171"/>
                  <a:pt x="3695700" y="114293"/>
                </a:cubicBezTo>
                <a:lnTo>
                  <a:pt x="3695700" y="2419357"/>
                </a:lnTo>
                <a:cubicBezTo>
                  <a:pt x="3695700" y="2482479"/>
                  <a:pt x="3644529" y="2533650"/>
                  <a:pt x="3581407" y="2533650"/>
                </a:cubicBezTo>
                <a:lnTo>
                  <a:pt x="38100" y="2533650"/>
                </a:lnTo>
                <a:cubicBezTo>
                  <a:pt x="17072" y="2533650"/>
                  <a:pt x="0" y="2516578"/>
                  <a:pt x="0" y="2495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0050" y="1257300"/>
            <a:ext cx="38100" cy="2533650"/>
          </a:xfrm>
          <a:custGeom>
            <a:avLst/>
            <a:gdLst/>
            <a:ahLst/>
            <a:cxnLst/>
            <a:rect l="l" t="t" r="r" b="b"/>
            <a:pathLst>
              <a:path w="38100" h="2533650">
                <a:moveTo>
                  <a:pt x="38100" y="0"/>
                </a:moveTo>
                <a:lnTo>
                  <a:pt x="38100" y="0"/>
                </a:lnTo>
                <a:lnTo>
                  <a:pt x="38100" y="2533650"/>
                </a:lnTo>
                <a:lnTo>
                  <a:pt x="38100" y="2533650"/>
                </a:lnTo>
                <a:cubicBezTo>
                  <a:pt x="17072" y="2533650"/>
                  <a:pt x="0" y="2516578"/>
                  <a:pt x="0" y="2495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8" name="Shape 6"/>
          <p:cNvSpPr/>
          <p:nvPr/>
        </p:nvSpPr>
        <p:spPr>
          <a:xfrm>
            <a:off x="647700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81050" y="1619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5476" y="24110"/>
                </a:moveTo>
                <a:lnTo>
                  <a:pt x="51606" y="35719"/>
                </a:lnTo>
                <a:lnTo>
                  <a:pt x="23812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66688" y="178594"/>
                </a:lnTo>
                <a:cubicBezTo>
                  <a:pt x="179822" y="178594"/>
                  <a:pt x="190500" y="167915"/>
                  <a:pt x="190500" y="154781"/>
                </a:cubicBezTo>
                <a:lnTo>
                  <a:pt x="190500" y="59531"/>
                </a:lnTo>
                <a:cubicBezTo>
                  <a:pt x="190500" y="46397"/>
                  <a:pt x="179822" y="35719"/>
                  <a:pt x="166688" y="35719"/>
                </a:cubicBezTo>
                <a:lnTo>
                  <a:pt x="138894" y="35719"/>
                </a:lnTo>
                <a:lnTo>
                  <a:pt x="135024" y="24110"/>
                </a:lnTo>
                <a:cubicBezTo>
                  <a:pt x="132606" y="16818"/>
                  <a:pt x="125797" y="11906"/>
                  <a:pt x="118095" y="11906"/>
                </a:cubicBezTo>
                <a:lnTo>
                  <a:pt x="72405" y="11906"/>
                </a:lnTo>
                <a:cubicBezTo>
                  <a:pt x="64703" y="11906"/>
                  <a:pt x="57894" y="16818"/>
                  <a:pt x="55476" y="24110"/>
                </a:cubicBezTo>
                <a:close/>
                <a:moveTo>
                  <a:pt x="95250" y="71438"/>
                </a:moveTo>
                <a:cubicBezTo>
                  <a:pt x="114964" y="71438"/>
                  <a:pt x="130969" y="87443"/>
                  <a:pt x="130969" y="107156"/>
                </a:cubicBezTo>
                <a:cubicBezTo>
                  <a:pt x="130969" y="126870"/>
                  <a:pt x="114964" y="142875"/>
                  <a:pt x="95250" y="142875"/>
                </a:cubicBezTo>
                <a:cubicBezTo>
                  <a:pt x="75536" y="142875"/>
                  <a:pt x="59531" y="126870"/>
                  <a:pt x="59531" y="107156"/>
                </a:cubicBezTo>
                <a:cubicBezTo>
                  <a:pt x="59531" y="87443"/>
                  <a:pt x="75536" y="71438"/>
                  <a:pt x="95250" y="71438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1581150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Dependency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700" y="2057400"/>
            <a:ext cx="329565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depends on camera resolution and lighting quality, which may affect image clarity and analysis accuracy.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67200" y="1257300"/>
            <a:ext cx="3695700" cy="2533650"/>
          </a:xfrm>
          <a:custGeom>
            <a:avLst/>
            <a:gdLst/>
            <a:ahLst/>
            <a:cxnLst/>
            <a:rect l="l" t="t" r="r" b="b"/>
            <a:pathLst>
              <a:path w="3695700" h="2533650">
                <a:moveTo>
                  <a:pt x="38100" y="0"/>
                </a:moveTo>
                <a:lnTo>
                  <a:pt x="3581407" y="0"/>
                </a:lnTo>
                <a:cubicBezTo>
                  <a:pt x="3644529" y="0"/>
                  <a:pt x="3695700" y="51171"/>
                  <a:pt x="3695700" y="114293"/>
                </a:cubicBezTo>
                <a:lnTo>
                  <a:pt x="3695700" y="2419357"/>
                </a:lnTo>
                <a:cubicBezTo>
                  <a:pt x="3695700" y="2482479"/>
                  <a:pt x="3644529" y="2533650"/>
                  <a:pt x="3581407" y="2533650"/>
                </a:cubicBezTo>
                <a:lnTo>
                  <a:pt x="38100" y="2533650"/>
                </a:lnTo>
                <a:cubicBezTo>
                  <a:pt x="17072" y="2533650"/>
                  <a:pt x="0" y="2516578"/>
                  <a:pt x="0" y="2495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67200" y="1257300"/>
            <a:ext cx="38100" cy="2533650"/>
          </a:xfrm>
          <a:custGeom>
            <a:avLst/>
            <a:gdLst/>
            <a:ahLst/>
            <a:cxnLst/>
            <a:rect l="l" t="t" r="r" b="b"/>
            <a:pathLst>
              <a:path w="38100" h="2533650">
                <a:moveTo>
                  <a:pt x="38100" y="0"/>
                </a:moveTo>
                <a:lnTo>
                  <a:pt x="38100" y="0"/>
                </a:lnTo>
                <a:lnTo>
                  <a:pt x="38100" y="2533650"/>
                </a:lnTo>
                <a:lnTo>
                  <a:pt x="38100" y="2533650"/>
                </a:lnTo>
                <a:cubicBezTo>
                  <a:pt x="17072" y="2533650"/>
                  <a:pt x="0" y="2516578"/>
                  <a:pt x="0" y="2495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14850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D6D7E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648200" y="1619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16" name="Text 14"/>
          <p:cNvSpPr/>
          <p:nvPr/>
        </p:nvSpPr>
        <p:spPr>
          <a:xfrm>
            <a:off x="5086350" y="1581150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Speed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14850" y="2057400"/>
            <a:ext cx="329565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 speed depends on hardware capability, with complex AI algorithms requiring significant computational resources.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943350"/>
            <a:ext cx="3695700" cy="2533650"/>
          </a:xfrm>
          <a:custGeom>
            <a:avLst/>
            <a:gdLst/>
            <a:ahLst/>
            <a:cxnLst/>
            <a:rect l="l" t="t" r="r" b="b"/>
            <a:pathLst>
              <a:path w="3695700" h="2533650">
                <a:moveTo>
                  <a:pt x="38100" y="0"/>
                </a:moveTo>
                <a:lnTo>
                  <a:pt x="3581407" y="0"/>
                </a:lnTo>
                <a:cubicBezTo>
                  <a:pt x="3644529" y="0"/>
                  <a:pt x="3695700" y="51171"/>
                  <a:pt x="3695700" y="114293"/>
                </a:cubicBezTo>
                <a:lnTo>
                  <a:pt x="3695700" y="2419357"/>
                </a:lnTo>
                <a:cubicBezTo>
                  <a:pt x="3695700" y="2482479"/>
                  <a:pt x="3644529" y="2533650"/>
                  <a:pt x="3581407" y="2533650"/>
                </a:cubicBezTo>
                <a:lnTo>
                  <a:pt x="38100" y="2533650"/>
                </a:lnTo>
                <a:cubicBezTo>
                  <a:pt x="17072" y="2533650"/>
                  <a:pt x="0" y="2516578"/>
                  <a:pt x="0" y="2495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0050" y="3943350"/>
            <a:ext cx="38100" cy="2533650"/>
          </a:xfrm>
          <a:custGeom>
            <a:avLst/>
            <a:gdLst/>
            <a:ahLst/>
            <a:cxnLst/>
            <a:rect l="l" t="t" r="r" b="b"/>
            <a:pathLst>
              <a:path w="38100" h="2533650">
                <a:moveTo>
                  <a:pt x="38100" y="0"/>
                </a:moveTo>
                <a:lnTo>
                  <a:pt x="38100" y="0"/>
                </a:lnTo>
                <a:lnTo>
                  <a:pt x="38100" y="2533650"/>
                </a:lnTo>
                <a:lnTo>
                  <a:pt x="38100" y="2533650"/>
                </a:lnTo>
                <a:cubicBezTo>
                  <a:pt x="17072" y="2533650"/>
                  <a:pt x="0" y="2516578"/>
                  <a:pt x="0" y="2495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7700" y="4171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92956" y="43053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2" name="Text 20"/>
          <p:cNvSpPr/>
          <p:nvPr/>
        </p:nvSpPr>
        <p:spPr>
          <a:xfrm>
            <a:off x="1219200" y="426720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Limitations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7700" y="4743450"/>
            <a:ext cx="329565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dataset used for AI training may affect model generalization and performance on diverse sample types.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67200" y="3943350"/>
            <a:ext cx="3695700" cy="2533650"/>
          </a:xfrm>
          <a:custGeom>
            <a:avLst/>
            <a:gdLst/>
            <a:ahLst/>
            <a:cxnLst/>
            <a:rect l="l" t="t" r="r" b="b"/>
            <a:pathLst>
              <a:path w="3695700" h="2533650">
                <a:moveTo>
                  <a:pt x="38100" y="0"/>
                </a:moveTo>
                <a:lnTo>
                  <a:pt x="3581407" y="0"/>
                </a:lnTo>
                <a:cubicBezTo>
                  <a:pt x="3644529" y="0"/>
                  <a:pt x="3695700" y="51171"/>
                  <a:pt x="3695700" y="114293"/>
                </a:cubicBezTo>
                <a:lnTo>
                  <a:pt x="3695700" y="2419357"/>
                </a:lnTo>
                <a:cubicBezTo>
                  <a:pt x="3695700" y="2482479"/>
                  <a:pt x="3644529" y="2533650"/>
                  <a:pt x="3581407" y="2533650"/>
                </a:cubicBezTo>
                <a:lnTo>
                  <a:pt x="38100" y="2533650"/>
                </a:lnTo>
                <a:cubicBezTo>
                  <a:pt x="17072" y="2533650"/>
                  <a:pt x="0" y="2516578"/>
                  <a:pt x="0" y="2495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67200" y="3943350"/>
            <a:ext cx="38100" cy="2533650"/>
          </a:xfrm>
          <a:custGeom>
            <a:avLst/>
            <a:gdLst/>
            <a:ahLst/>
            <a:cxnLst/>
            <a:rect l="l" t="t" r="r" b="b"/>
            <a:pathLst>
              <a:path w="38100" h="2533650">
                <a:moveTo>
                  <a:pt x="38100" y="0"/>
                </a:moveTo>
                <a:lnTo>
                  <a:pt x="38100" y="0"/>
                </a:lnTo>
                <a:lnTo>
                  <a:pt x="38100" y="2533650"/>
                </a:lnTo>
                <a:lnTo>
                  <a:pt x="38100" y="2533650"/>
                </a:lnTo>
                <a:cubicBezTo>
                  <a:pt x="17072" y="2533650"/>
                  <a:pt x="0" y="2516578"/>
                  <a:pt x="0" y="2495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6" name="Shape 24"/>
          <p:cNvSpPr/>
          <p:nvPr/>
        </p:nvSpPr>
        <p:spPr>
          <a:xfrm>
            <a:off x="4514850" y="4171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660106" y="43053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8" name="Text 26"/>
          <p:cNvSpPr/>
          <p:nvPr/>
        </p:nvSpPr>
        <p:spPr>
          <a:xfrm>
            <a:off x="5086350" y="4267200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Environment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14850" y="4743450"/>
            <a:ext cx="329565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 conducted in controlled laboratory conditions may not fully represent real-world clinical scenarios.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91500" y="1257300"/>
            <a:ext cx="3619500" cy="3600450"/>
          </a:xfrm>
          <a:custGeom>
            <a:avLst/>
            <a:gdLst/>
            <a:ahLst/>
            <a:cxnLst/>
            <a:rect l="l" t="t" r="r" b="b"/>
            <a:pathLst>
              <a:path w="3619500" h="3600450">
                <a:moveTo>
                  <a:pt x="114314" y="0"/>
                </a:moveTo>
                <a:lnTo>
                  <a:pt x="3505186" y="0"/>
                </a:lnTo>
                <a:cubicBezTo>
                  <a:pt x="3568320" y="0"/>
                  <a:pt x="3619500" y="51180"/>
                  <a:pt x="3619500" y="114314"/>
                </a:cubicBezTo>
                <a:lnTo>
                  <a:pt x="3619500" y="3486136"/>
                </a:lnTo>
                <a:cubicBezTo>
                  <a:pt x="3619500" y="3549270"/>
                  <a:pt x="3568320" y="3600450"/>
                  <a:pt x="3505186" y="3600450"/>
                </a:cubicBezTo>
                <a:lnTo>
                  <a:pt x="114314" y="3600450"/>
                </a:lnTo>
                <a:cubicBezTo>
                  <a:pt x="51180" y="3600450"/>
                  <a:pt x="0" y="3549270"/>
                  <a:pt x="0" y="3486136"/>
                </a:cubicBezTo>
                <a:lnTo>
                  <a:pt x="0" y="114314"/>
                </a:lnTo>
                <a:cubicBezTo>
                  <a:pt x="0" y="51180"/>
                  <a:pt x="51180" y="0"/>
                  <a:pt x="11431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31" name="Image 0" descr="https://kimi-web-img.moonshot.cn/img/images.squarespace-cdn.com/eb2e719e08addc4a2a95e5a8da1ed899de5b5c38.jpg"/>
          <p:cNvPicPr>
            <a:picLocks noChangeAspect="1"/>
          </p:cNvPicPr>
          <p:nvPr/>
        </p:nvPicPr>
        <p:blipFill>
          <a:blip r:embed="rId3"/>
          <a:srcRect l="16417" r="16417"/>
          <a:stretch/>
        </p:blipFill>
        <p:spPr>
          <a:xfrm>
            <a:off x="8191500" y="1257300"/>
            <a:ext cx="3619500" cy="3600450"/>
          </a:xfrm>
          <a:prstGeom prst="roundRect">
            <a:avLst>
              <a:gd name="adj" fmla="val 3175"/>
            </a:avLst>
          </a:prstGeom>
        </p:spPr>
      </p:pic>
      <p:sp>
        <p:nvSpPr>
          <p:cNvPr id="32" name="Shape 29"/>
          <p:cNvSpPr/>
          <p:nvPr/>
        </p:nvSpPr>
        <p:spPr>
          <a:xfrm>
            <a:off x="8191500" y="5010150"/>
            <a:ext cx="3619500" cy="1466850"/>
          </a:xfrm>
          <a:custGeom>
            <a:avLst/>
            <a:gdLst/>
            <a:ahLst/>
            <a:cxnLst/>
            <a:rect l="l" t="t" r="r" b="b"/>
            <a:pathLst>
              <a:path w="3619500" h="1466850">
                <a:moveTo>
                  <a:pt x="114297" y="0"/>
                </a:moveTo>
                <a:lnTo>
                  <a:pt x="3505203" y="0"/>
                </a:lnTo>
                <a:cubicBezTo>
                  <a:pt x="3568328" y="0"/>
                  <a:pt x="3619500" y="51172"/>
                  <a:pt x="3619500" y="114297"/>
                </a:cubicBezTo>
                <a:lnTo>
                  <a:pt x="3619500" y="1352553"/>
                </a:lnTo>
                <a:cubicBezTo>
                  <a:pt x="3619500" y="1415678"/>
                  <a:pt x="3568328" y="1466850"/>
                  <a:pt x="3505203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8386763" y="52387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34" name="Text 31"/>
          <p:cNvSpPr/>
          <p:nvPr/>
        </p:nvSpPr>
        <p:spPr>
          <a:xfrm>
            <a:off x="8644533" y="5200650"/>
            <a:ext cx="3057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Acknowledgment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644533" y="5543550"/>
            <a:ext cx="3048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limitations are recognized and documented for future improvements and research directions.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6677" y="421678"/>
            <a:ext cx="440012" cy="440012"/>
          </a:xfrm>
          <a:custGeom>
            <a:avLst/>
            <a:gdLst/>
            <a:ahLst/>
            <a:cxnLst/>
            <a:rect l="l" t="t" r="r" b="b"/>
            <a:pathLst>
              <a:path w="440012" h="440012">
                <a:moveTo>
                  <a:pt x="110003" y="0"/>
                </a:moveTo>
                <a:lnTo>
                  <a:pt x="330009" y="0"/>
                </a:lnTo>
                <a:cubicBezTo>
                  <a:pt x="390721" y="0"/>
                  <a:pt x="440012" y="49291"/>
                  <a:pt x="440012" y="110003"/>
                </a:cubicBezTo>
                <a:lnTo>
                  <a:pt x="440012" y="330009"/>
                </a:lnTo>
                <a:cubicBezTo>
                  <a:pt x="440012" y="390721"/>
                  <a:pt x="390721" y="440012"/>
                  <a:pt x="330009" y="440012"/>
                </a:cubicBezTo>
                <a:lnTo>
                  <a:pt x="110003" y="440012"/>
                </a:lnTo>
                <a:cubicBezTo>
                  <a:pt x="49291" y="440012"/>
                  <a:pt x="0" y="390721"/>
                  <a:pt x="0" y="330009"/>
                </a:cubicBezTo>
                <a:lnTo>
                  <a:pt x="0" y="110003"/>
                </a:lnTo>
                <a:cubicBezTo>
                  <a:pt x="0" y="49291"/>
                  <a:pt x="49291" y="0"/>
                  <a:pt x="110003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76680" y="531681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57494" y="15598"/>
                </a:moveTo>
                <a:cubicBezTo>
                  <a:pt x="62177" y="18864"/>
                  <a:pt x="63295" y="25309"/>
                  <a:pt x="60029" y="29950"/>
                </a:cubicBezTo>
                <a:lnTo>
                  <a:pt x="35966" y="64326"/>
                </a:lnTo>
                <a:cubicBezTo>
                  <a:pt x="34204" y="66818"/>
                  <a:pt x="31454" y="68408"/>
                  <a:pt x="28403" y="68666"/>
                </a:cubicBezTo>
                <a:cubicBezTo>
                  <a:pt x="25352" y="68924"/>
                  <a:pt x="22344" y="67892"/>
                  <a:pt x="20196" y="65744"/>
                </a:cubicBezTo>
                <a:lnTo>
                  <a:pt x="3008" y="48556"/>
                </a:lnTo>
                <a:cubicBezTo>
                  <a:pt x="-988" y="44517"/>
                  <a:pt x="-988" y="37985"/>
                  <a:pt x="3008" y="33946"/>
                </a:cubicBezTo>
                <a:cubicBezTo>
                  <a:pt x="7004" y="29907"/>
                  <a:pt x="13578" y="29950"/>
                  <a:pt x="17618" y="33946"/>
                </a:cubicBezTo>
                <a:lnTo>
                  <a:pt x="26126" y="42454"/>
                </a:lnTo>
                <a:lnTo>
                  <a:pt x="43142" y="18133"/>
                </a:lnTo>
                <a:cubicBezTo>
                  <a:pt x="46408" y="13450"/>
                  <a:pt x="52853" y="12332"/>
                  <a:pt x="57494" y="15598"/>
                </a:cubicBezTo>
                <a:close/>
                <a:moveTo>
                  <a:pt x="57494" y="84350"/>
                </a:moveTo>
                <a:cubicBezTo>
                  <a:pt x="62177" y="87616"/>
                  <a:pt x="63295" y="94061"/>
                  <a:pt x="60029" y="98702"/>
                </a:cubicBezTo>
                <a:lnTo>
                  <a:pt x="35966" y="133078"/>
                </a:lnTo>
                <a:cubicBezTo>
                  <a:pt x="34204" y="135570"/>
                  <a:pt x="31454" y="137160"/>
                  <a:pt x="28403" y="137418"/>
                </a:cubicBezTo>
                <a:cubicBezTo>
                  <a:pt x="25352" y="137676"/>
                  <a:pt x="22344" y="136644"/>
                  <a:pt x="20196" y="134496"/>
                </a:cubicBezTo>
                <a:lnTo>
                  <a:pt x="3008" y="117308"/>
                </a:lnTo>
                <a:cubicBezTo>
                  <a:pt x="-1031" y="113269"/>
                  <a:pt x="-1031" y="106737"/>
                  <a:pt x="3008" y="102741"/>
                </a:cubicBezTo>
                <a:cubicBezTo>
                  <a:pt x="7047" y="98745"/>
                  <a:pt x="13578" y="98702"/>
                  <a:pt x="17575" y="102741"/>
                </a:cubicBezTo>
                <a:lnTo>
                  <a:pt x="26083" y="111249"/>
                </a:lnTo>
                <a:lnTo>
                  <a:pt x="43099" y="86928"/>
                </a:lnTo>
                <a:cubicBezTo>
                  <a:pt x="46365" y="82244"/>
                  <a:pt x="52810" y="81127"/>
                  <a:pt x="57451" y="84393"/>
                </a:cubicBezTo>
                <a:close/>
                <a:moveTo>
                  <a:pt x="96253" y="41251"/>
                </a:moveTo>
                <a:cubicBezTo>
                  <a:pt x="96253" y="33645"/>
                  <a:pt x="102397" y="27501"/>
                  <a:pt x="110003" y="27501"/>
                </a:cubicBezTo>
                <a:lnTo>
                  <a:pt x="206256" y="27501"/>
                </a:lnTo>
                <a:cubicBezTo>
                  <a:pt x="213861" y="27501"/>
                  <a:pt x="220006" y="33645"/>
                  <a:pt x="220006" y="41251"/>
                </a:cubicBezTo>
                <a:cubicBezTo>
                  <a:pt x="220006" y="48857"/>
                  <a:pt x="213861" y="55002"/>
                  <a:pt x="206256" y="55002"/>
                </a:cubicBezTo>
                <a:lnTo>
                  <a:pt x="110003" y="55002"/>
                </a:lnTo>
                <a:cubicBezTo>
                  <a:pt x="102397" y="55002"/>
                  <a:pt x="96253" y="48857"/>
                  <a:pt x="96253" y="41251"/>
                </a:cubicBezTo>
                <a:close/>
                <a:moveTo>
                  <a:pt x="96253" y="110003"/>
                </a:moveTo>
                <a:cubicBezTo>
                  <a:pt x="96253" y="102397"/>
                  <a:pt x="102397" y="96253"/>
                  <a:pt x="110003" y="96253"/>
                </a:cubicBezTo>
                <a:lnTo>
                  <a:pt x="206256" y="96253"/>
                </a:lnTo>
                <a:cubicBezTo>
                  <a:pt x="213861" y="96253"/>
                  <a:pt x="220006" y="102397"/>
                  <a:pt x="220006" y="110003"/>
                </a:cubicBezTo>
                <a:cubicBezTo>
                  <a:pt x="220006" y="117609"/>
                  <a:pt x="213861" y="123753"/>
                  <a:pt x="206256" y="123753"/>
                </a:cubicBezTo>
                <a:lnTo>
                  <a:pt x="110003" y="123753"/>
                </a:lnTo>
                <a:cubicBezTo>
                  <a:pt x="102397" y="123753"/>
                  <a:pt x="96253" y="117609"/>
                  <a:pt x="96253" y="110003"/>
                </a:cubicBezTo>
                <a:close/>
                <a:moveTo>
                  <a:pt x="68752" y="178755"/>
                </a:moveTo>
                <a:cubicBezTo>
                  <a:pt x="68752" y="171149"/>
                  <a:pt x="74897" y="165005"/>
                  <a:pt x="82502" y="165005"/>
                </a:cubicBezTo>
                <a:lnTo>
                  <a:pt x="206256" y="165005"/>
                </a:lnTo>
                <a:cubicBezTo>
                  <a:pt x="213861" y="165005"/>
                  <a:pt x="220006" y="171149"/>
                  <a:pt x="220006" y="178755"/>
                </a:cubicBezTo>
                <a:cubicBezTo>
                  <a:pt x="220006" y="186361"/>
                  <a:pt x="213861" y="192505"/>
                  <a:pt x="206256" y="192505"/>
                </a:cubicBezTo>
                <a:lnTo>
                  <a:pt x="82502" y="192505"/>
                </a:lnTo>
                <a:cubicBezTo>
                  <a:pt x="74897" y="192505"/>
                  <a:pt x="68752" y="186361"/>
                  <a:pt x="68752" y="178755"/>
                </a:cubicBezTo>
                <a:close/>
                <a:moveTo>
                  <a:pt x="27501" y="161567"/>
                </a:moveTo>
                <a:cubicBezTo>
                  <a:pt x="36987" y="161567"/>
                  <a:pt x="44689" y="169269"/>
                  <a:pt x="44689" y="178755"/>
                </a:cubicBezTo>
                <a:cubicBezTo>
                  <a:pt x="44689" y="188241"/>
                  <a:pt x="36987" y="195943"/>
                  <a:pt x="27501" y="195943"/>
                </a:cubicBezTo>
                <a:cubicBezTo>
                  <a:pt x="18014" y="195943"/>
                  <a:pt x="10313" y="188241"/>
                  <a:pt x="10313" y="178755"/>
                </a:cubicBezTo>
                <a:cubicBezTo>
                  <a:pt x="10313" y="169269"/>
                  <a:pt x="18014" y="161567"/>
                  <a:pt x="27501" y="161567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4" name="Text 2"/>
          <p:cNvSpPr/>
          <p:nvPr/>
        </p:nvSpPr>
        <p:spPr>
          <a:xfrm>
            <a:off x="916692" y="366677"/>
            <a:ext cx="310758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1" b="1" kern="0" spc="51" dirty="0">
                <a:solidFill>
                  <a:srgbClr val="1ABC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6692" y="550015"/>
            <a:ext cx="3208421" cy="36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9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Methodology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6677" y="1026695"/>
            <a:ext cx="11541149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99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project was developed following these stages: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6683" y="1466707"/>
            <a:ext cx="18334" cy="5390147"/>
          </a:xfrm>
          <a:custGeom>
            <a:avLst/>
            <a:gdLst/>
            <a:ahLst/>
            <a:cxnLst/>
            <a:rect l="l" t="t" r="r" b="b"/>
            <a:pathLst>
              <a:path w="18334" h="5390147">
                <a:moveTo>
                  <a:pt x="0" y="0"/>
                </a:moveTo>
                <a:lnTo>
                  <a:pt x="18334" y="0"/>
                </a:lnTo>
                <a:lnTo>
                  <a:pt x="18334" y="5390147"/>
                </a:lnTo>
                <a:lnTo>
                  <a:pt x="0" y="5390147"/>
                </a:lnTo>
                <a:lnTo>
                  <a:pt x="0" y="0"/>
                </a:lnTo>
                <a:close/>
              </a:path>
            </a:pathLst>
          </a:custGeom>
          <a:solidFill>
            <a:srgbClr val="1ABC9C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66677" y="1466707"/>
            <a:ext cx="440012" cy="440012"/>
          </a:xfrm>
          <a:custGeom>
            <a:avLst/>
            <a:gdLst/>
            <a:ahLst/>
            <a:cxnLst/>
            <a:rect l="l" t="t" r="r" b="b"/>
            <a:pathLst>
              <a:path w="440012" h="440012">
                <a:moveTo>
                  <a:pt x="220006" y="0"/>
                </a:moveTo>
                <a:lnTo>
                  <a:pt x="220006" y="0"/>
                </a:lnTo>
                <a:cubicBezTo>
                  <a:pt x="341431" y="0"/>
                  <a:pt x="440012" y="98581"/>
                  <a:pt x="440012" y="220006"/>
                </a:cubicBezTo>
                <a:lnTo>
                  <a:pt x="440012" y="220006"/>
                </a:lnTo>
                <a:cubicBezTo>
                  <a:pt x="440012" y="341431"/>
                  <a:pt x="341431" y="440012"/>
                  <a:pt x="220006" y="440012"/>
                </a:cubicBezTo>
                <a:lnTo>
                  <a:pt x="220006" y="440012"/>
                </a:lnTo>
                <a:cubicBezTo>
                  <a:pt x="98581" y="440012"/>
                  <a:pt x="0" y="341431"/>
                  <a:pt x="0" y="220006"/>
                </a:cubicBezTo>
                <a:lnTo>
                  <a:pt x="0" y="220006"/>
                </a:lnTo>
                <a:cubicBezTo>
                  <a:pt x="0" y="98581"/>
                  <a:pt x="98581" y="0"/>
                  <a:pt x="220006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9" name="Text 7"/>
          <p:cNvSpPr/>
          <p:nvPr/>
        </p:nvSpPr>
        <p:spPr>
          <a:xfrm>
            <a:off x="325426" y="1466707"/>
            <a:ext cx="522514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53359" y="1466707"/>
            <a:ext cx="6985191" cy="806689"/>
          </a:xfrm>
          <a:custGeom>
            <a:avLst/>
            <a:gdLst/>
            <a:ahLst/>
            <a:cxnLst/>
            <a:rect l="l" t="t" r="r" b="b"/>
            <a:pathLst>
              <a:path w="6985191" h="806689">
                <a:moveTo>
                  <a:pt x="110000" y="0"/>
                </a:moveTo>
                <a:lnTo>
                  <a:pt x="6875191" y="0"/>
                </a:lnTo>
                <a:cubicBezTo>
                  <a:pt x="6935942" y="0"/>
                  <a:pt x="6985191" y="49249"/>
                  <a:pt x="6985191" y="110000"/>
                </a:cubicBezTo>
                <a:lnTo>
                  <a:pt x="6985191" y="696689"/>
                </a:lnTo>
                <a:cubicBezTo>
                  <a:pt x="6985191" y="757440"/>
                  <a:pt x="6935942" y="806689"/>
                  <a:pt x="6875191" y="806689"/>
                </a:cubicBezTo>
                <a:lnTo>
                  <a:pt x="110000" y="806689"/>
                </a:lnTo>
                <a:cubicBezTo>
                  <a:pt x="49249" y="806689"/>
                  <a:pt x="0" y="757440"/>
                  <a:pt x="0" y="696689"/>
                </a:cubicBezTo>
                <a:lnTo>
                  <a:pt x="0" y="110000"/>
                </a:lnTo>
                <a:cubicBezTo>
                  <a:pt x="0" y="49249"/>
                  <a:pt x="49249" y="0"/>
                  <a:pt x="1100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501" dist="916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00030" y="1613377"/>
            <a:ext cx="6774352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Analysis &amp; Theoretical Study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00030" y="1906719"/>
            <a:ext cx="6765185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review and requirements gathering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6677" y="2383398"/>
            <a:ext cx="440012" cy="440012"/>
          </a:xfrm>
          <a:custGeom>
            <a:avLst/>
            <a:gdLst/>
            <a:ahLst/>
            <a:cxnLst/>
            <a:rect l="l" t="t" r="r" b="b"/>
            <a:pathLst>
              <a:path w="440012" h="440012">
                <a:moveTo>
                  <a:pt x="220006" y="0"/>
                </a:moveTo>
                <a:lnTo>
                  <a:pt x="220006" y="0"/>
                </a:lnTo>
                <a:cubicBezTo>
                  <a:pt x="341431" y="0"/>
                  <a:pt x="440012" y="98581"/>
                  <a:pt x="440012" y="220006"/>
                </a:cubicBezTo>
                <a:lnTo>
                  <a:pt x="440012" y="220006"/>
                </a:lnTo>
                <a:cubicBezTo>
                  <a:pt x="440012" y="341431"/>
                  <a:pt x="341431" y="440012"/>
                  <a:pt x="220006" y="440012"/>
                </a:cubicBezTo>
                <a:lnTo>
                  <a:pt x="220006" y="440012"/>
                </a:lnTo>
                <a:cubicBezTo>
                  <a:pt x="98581" y="440012"/>
                  <a:pt x="0" y="341431"/>
                  <a:pt x="0" y="220006"/>
                </a:cubicBezTo>
                <a:lnTo>
                  <a:pt x="0" y="220006"/>
                </a:lnTo>
                <a:cubicBezTo>
                  <a:pt x="0" y="98581"/>
                  <a:pt x="98581" y="0"/>
                  <a:pt x="220006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4" name="Text 12"/>
          <p:cNvSpPr/>
          <p:nvPr/>
        </p:nvSpPr>
        <p:spPr>
          <a:xfrm>
            <a:off x="325426" y="2383398"/>
            <a:ext cx="522514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53359" y="2383398"/>
            <a:ext cx="6985191" cy="806689"/>
          </a:xfrm>
          <a:custGeom>
            <a:avLst/>
            <a:gdLst/>
            <a:ahLst/>
            <a:cxnLst/>
            <a:rect l="l" t="t" r="r" b="b"/>
            <a:pathLst>
              <a:path w="6985191" h="806689">
                <a:moveTo>
                  <a:pt x="110000" y="0"/>
                </a:moveTo>
                <a:lnTo>
                  <a:pt x="6875191" y="0"/>
                </a:lnTo>
                <a:cubicBezTo>
                  <a:pt x="6935942" y="0"/>
                  <a:pt x="6985191" y="49249"/>
                  <a:pt x="6985191" y="110000"/>
                </a:cubicBezTo>
                <a:lnTo>
                  <a:pt x="6985191" y="696689"/>
                </a:lnTo>
                <a:cubicBezTo>
                  <a:pt x="6985191" y="757440"/>
                  <a:pt x="6935942" y="806689"/>
                  <a:pt x="6875191" y="806689"/>
                </a:cubicBezTo>
                <a:lnTo>
                  <a:pt x="110000" y="806689"/>
                </a:lnTo>
                <a:cubicBezTo>
                  <a:pt x="49249" y="806689"/>
                  <a:pt x="0" y="757440"/>
                  <a:pt x="0" y="696689"/>
                </a:cubicBezTo>
                <a:lnTo>
                  <a:pt x="0" y="110000"/>
                </a:lnTo>
                <a:cubicBezTo>
                  <a:pt x="0" y="49249"/>
                  <a:pt x="49249" y="0"/>
                  <a:pt x="1100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501" dist="916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00030" y="2530069"/>
            <a:ext cx="6774352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Design &amp; Component Selection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0030" y="2823411"/>
            <a:ext cx="6765185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planning and hardware selection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6677" y="3300090"/>
            <a:ext cx="440012" cy="440012"/>
          </a:xfrm>
          <a:custGeom>
            <a:avLst/>
            <a:gdLst/>
            <a:ahLst/>
            <a:cxnLst/>
            <a:rect l="l" t="t" r="r" b="b"/>
            <a:pathLst>
              <a:path w="440012" h="440012">
                <a:moveTo>
                  <a:pt x="220006" y="0"/>
                </a:moveTo>
                <a:lnTo>
                  <a:pt x="220006" y="0"/>
                </a:lnTo>
                <a:cubicBezTo>
                  <a:pt x="341431" y="0"/>
                  <a:pt x="440012" y="98581"/>
                  <a:pt x="440012" y="220006"/>
                </a:cubicBezTo>
                <a:lnTo>
                  <a:pt x="440012" y="220006"/>
                </a:lnTo>
                <a:cubicBezTo>
                  <a:pt x="440012" y="341431"/>
                  <a:pt x="341431" y="440012"/>
                  <a:pt x="220006" y="440012"/>
                </a:cubicBezTo>
                <a:lnTo>
                  <a:pt x="220006" y="440012"/>
                </a:lnTo>
                <a:cubicBezTo>
                  <a:pt x="98581" y="440012"/>
                  <a:pt x="0" y="341431"/>
                  <a:pt x="0" y="220006"/>
                </a:cubicBezTo>
                <a:lnTo>
                  <a:pt x="0" y="220006"/>
                </a:lnTo>
                <a:cubicBezTo>
                  <a:pt x="0" y="98581"/>
                  <a:pt x="98581" y="0"/>
                  <a:pt x="220006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19" name="Text 17"/>
          <p:cNvSpPr/>
          <p:nvPr/>
        </p:nvSpPr>
        <p:spPr>
          <a:xfrm>
            <a:off x="325426" y="3300090"/>
            <a:ext cx="522514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3359" y="3300090"/>
            <a:ext cx="6985191" cy="806689"/>
          </a:xfrm>
          <a:custGeom>
            <a:avLst/>
            <a:gdLst/>
            <a:ahLst/>
            <a:cxnLst/>
            <a:rect l="l" t="t" r="r" b="b"/>
            <a:pathLst>
              <a:path w="6985191" h="806689">
                <a:moveTo>
                  <a:pt x="110000" y="0"/>
                </a:moveTo>
                <a:lnTo>
                  <a:pt x="6875191" y="0"/>
                </a:lnTo>
                <a:cubicBezTo>
                  <a:pt x="6935942" y="0"/>
                  <a:pt x="6985191" y="49249"/>
                  <a:pt x="6985191" y="110000"/>
                </a:cubicBezTo>
                <a:lnTo>
                  <a:pt x="6985191" y="696689"/>
                </a:lnTo>
                <a:cubicBezTo>
                  <a:pt x="6985191" y="757440"/>
                  <a:pt x="6935942" y="806689"/>
                  <a:pt x="6875191" y="806689"/>
                </a:cubicBezTo>
                <a:lnTo>
                  <a:pt x="110000" y="806689"/>
                </a:lnTo>
                <a:cubicBezTo>
                  <a:pt x="49249" y="806689"/>
                  <a:pt x="0" y="757440"/>
                  <a:pt x="0" y="696689"/>
                </a:cubicBezTo>
                <a:lnTo>
                  <a:pt x="0" y="110000"/>
                </a:lnTo>
                <a:cubicBezTo>
                  <a:pt x="0" y="49249"/>
                  <a:pt x="49249" y="0"/>
                  <a:pt x="1100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501" dist="916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00030" y="3446761"/>
            <a:ext cx="6774352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Assembly &amp; Calibration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0030" y="3740102"/>
            <a:ext cx="6765185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setup and initial testing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6677" y="4216782"/>
            <a:ext cx="440012" cy="440012"/>
          </a:xfrm>
          <a:custGeom>
            <a:avLst/>
            <a:gdLst/>
            <a:ahLst/>
            <a:cxnLst/>
            <a:rect l="l" t="t" r="r" b="b"/>
            <a:pathLst>
              <a:path w="440012" h="440012">
                <a:moveTo>
                  <a:pt x="220006" y="0"/>
                </a:moveTo>
                <a:lnTo>
                  <a:pt x="220006" y="0"/>
                </a:lnTo>
                <a:cubicBezTo>
                  <a:pt x="341431" y="0"/>
                  <a:pt x="440012" y="98581"/>
                  <a:pt x="440012" y="220006"/>
                </a:cubicBezTo>
                <a:lnTo>
                  <a:pt x="440012" y="220006"/>
                </a:lnTo>
                <a:cubicBezTo>
                  <a:pt x="440012" y="341431"/>
                  <a:pt x="341431" y="440012"/>
                  <a:pt x="220006" y="440012"/>
                </a:cubicBezTo>
                <a:lnTo>
                  <a:pt x="220006" y="440012"/>
                </a:lnTo>
                <a:cubicBezTo>
                  <a:pt x="98581" y="440012"/>
                  <a:pt x="0" y="341431"/>
                  <a:pt x="0" y="220006"/>
                </a:cubicBezTo>
                <a:lnTo>
                  <a:pt x="0" y="220006"/>
                </a:lnTo>
                <a:cubicBezTo>
                  <a:pt x="0" y="98581"/>
                  <a:pt x="98581" y="0"/>
                  <a:pt x="220006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4" name="Text 22"/>
          <p:cNvSpPr/>
          <p:nvPr/>
        </p:nvSpPr>
        <p:spPr>
          <a:xfrm>
            <a:off x="325426" y="4216782"/>
            <a:ext cx="522514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53359" y="4216782"/>
            <a:ext cx="6985191" cy="806689"/>
          </a:xfrm>
          <a:custGeom>
            <a:avLst/>
            <a:gdLst/>
            <a:ahLst/>
            <a:cxnLst/>
            <a:rect l="l" t="t" r="r" b="b"/>
            <a:pathLst>
              <a:path w="6985191" h="806689">
                <a:moveTo>
                  <a:pt x="110000" y="0"/>
                </a:moveTo>
                <a:lnTo>
                  <a:pt x="6875191" y="0"/>
                </a:lnTo>
                <a:cubicBezTo>
                  <a:pt x="6935942" y="0"/>
                  <a:pt x="6985191" y="49249"/>
                  <a:pt x="6985191" y="110000"/>
                </a:cubicBezTo>
                <a:lnTo>
                  <a:pt x="6985191" y="696689"/>
                </a:lnTo>
                <a:cubicBezTo>
                  <a:pt x="6985191" y="757440"/>
                  <a:pt x="6935942" y="806689"/>
                  <a:pt x="6875191" y="806689"/>
                </a:cubicBezTo>
                <a:lnTo>
                  <a:pt x="110000" y="806689"/>
                </a:lnTo>
                <a:cubicBezTo>
                  <a:pt x="49249" y="806689"/>
                  <a:pt x="0" y="757440"/>
                  <a:pt x="0" y="696689"/>
                </a:cubicBezTo>
                <a:lnTo>
                  <a:pt x="0" y="110000"/>
                </a:lnTo>
                <a:cubicBezTo>
                  <a:pt x="0" y="49249"/>
                  <a:pt x="49249" y="0"/>
                  <a:pt x="1100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501" dist="916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00030" y="4363453"/>
            <a:ext cx="6774352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Software Development &amp; Algorithm Implementation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0030" y="4656794"/>
            <a:ext cx="6765185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Coding and module development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6677" y="5133474"/>
            <a:ext cx="440012" cy="440012"/>
          </a:xfrm>
          <a:custGeom>
            <a:avLst/>
            <a:gdLst/>
            <a:ahLst/>
            <a:cxnLst/>
            <a:rect l="l" t="t" r="r" b="b"/>
            <a:pathLst>
              <a:path w="440012" h="440012">
                <a:moveTo>
                  <a:pt x="220006" y="0"/>
                </a:moveTo>
                <a:lnTo>
                  <a:pt x="220006" y="0"/>
                </a:lnTo>
                <a:cubicBezTo>
                  <a:pt x="341431" y="0"/>
                  <a:pt x="440012" y="98581"/>
                  <a:pt x="440012" y="220006"/>
                </a:cubicBezTo>
                <a:lnTo>
                  <a:pt x="440012" y="220006"/>
                </a:lnTo>
                <a:cubicBezTo>
                  <a:pt x="440012" y="341431"/>
                  <a:pt x="341431" y="440012"/>
                  <a:pt x="220006" y="440012"/>
                </a:cubicBezTo>
                <a:lnTo>
                  <a:pt x="220006" y="440012"/>
                </a:lnTo>
                <a:cubicBezTo>
                  <a:pt x="98581" y="440012"/>
                  <a:pt x="0" y="341431"/>
                  <a:pt x="0" y="220006"/>
                </a:cubicBezTo>
                <a:lnTo>
                  <a:pt x="0" y="220006"/>
                </a:lnTo>
                <a:cubicBezTo>
                  <a:pt x="0" y="98581"/>
                  <a:pt x="98581" y="0"/>
                  <a:pt x="220006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9" name="Text 27"/>
          <p:cNvSpPr/>
          <p:nvPr/>
        </p:nvSpPr>
        <p:spPr>
          <a:xfrm>
            <a:off x="325426" y="5133474"/>
            <a:ext cx="522514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3359" y="5133474"/>
            <a:ext cx="6985191" cy="806689"/>
          </a:xfrm>
          <a:custGeom>
            <a:avLst/>
            <a:gdLst/>
            <a:ahLst/>
            <a:cxnLst/>
            <a:rect l="l" t="t" r="r" b="b"/>
            <a:pathLst>
              <a:path w="6985191" h="806689">
                <a:moveTo>
                  <a:pt x="110000" y="0"/>
                </a:moveTo>
                <a:lnTo>
                  <a:pt x="6875191" y="0"/>
                </a:lnTo>
                <a:cubicBezTo>
                  <a:pt x="6935942" y="0"/>
                  <a:pt x="6985191" y="49249"/>
                  <a:pt x="6985191" y="110000"/>
                </a:cubicBezTo>
                <a:lnTo>
                  <a:pt x="6985191" y="696689"/>
                </a:lnTo>
                <a:cubicBezTo>
                  <a:pt x="6985191" y="757440"/>
                  <a:pt x="6935942" y="806689"/>
                  <a:pt x="6875191" y="806689"/>
                </a:cubicBezTo>
                <a:lnTo>
                  <a:pt x="110000" y="806689"/>
                </a:lnTo>
                <a:cubicBezTo>
                  <a:pt x="49249" y="806689"/>
                  <a:pt x="0" y="757440"/>
                  <a:pt x="0" y="696689"/>
                </a:cubicBezTo>
                <a:lnTo>
                  <a:pt x="0" y="110000"/>
                </a:lnTo>
                <a:cubicBezTo>
                  <a:pt x="0" y="49249"/>
                  <a:pt x="49249" y="0"/>
                  <a:pt x="1100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501" dist="916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00030" y="5280144"/>
            <a:ext cx="6774352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Model Integration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00030" y="5573486"/>
            <a:ext cx="6765185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and integration of intelligent analysis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6677" y="6050165"/>
            <a:ext cx="440012" cy="440012"/>
          </a:xfrm>
          <a:custGeom>
            <a:avLst/>
            <a:gdLst/>
            <a:ahLst/>
            <a:cxnLst/>
            <a:rect l="l" t="t" r="r" b="b"/>
            <a:pathLst>
              <a:path w="440012" h="440012">
                <a:moveTo>
                  <a:pt x="220006" y="0"/>
                </a:moveTo>
                <a:lnTo>
                  <a:pt x="220006" y="0"/>
                </a:lnTo>
                <a:cubicBezTo>
                  <a:pt x="341431" y="0"/>
                  <a:pt x="440012" y="98581"/>
                  <a:pt x="440012" y="220006"/>
                </a:cubicBezTo>
                <a:lnTo>
                  <a:pt x="440012" y="220006"/>
                </a:lnTo>
                <a:cubicBezTo>
                  <a:pt x="440012" y="341431"/>
                  <a:pt x="341431" y="440012"/>
                  <a:pt x="220006" y="440012"/>
                </a:cubicBezTo>
                <a:lnTo>
                  <a:pt x="220006" y="440012"/>
                </a:lnTo>
                <a:cubicBezTo>
                  <a:pt x="98581" y="440012"/>
                  <a:pt x="0" y="341431"/>
                  <a:pt x="0" y="220006"/>
                </a:cubicBezTo>
                <a:lnTo>
                  <a:pt x="0" y="220006"/>
                </a:lnTo>
                <a:cubicBezTo>
                  <a:pt x="0" y="98581"/>
                  <a:pt x="98581" y="0"/>
                  <a:pt x="220006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34" name="Text 32"/>
          <p:cNvSpPr/>
          <p:nvPr/>
        </p:nvSpPr>
        <p:spPr>
          <a:xfrm>
            <a:off x="325426" y="6050165"/>
            <a:ext cx="522514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53359" y="6050165"/>
            <a:ext cx="6985191" cy="806689"/>
          </a:xfrm>
          <a:custGeom>
            <a:avLst/>
            <a:gdLst/>
            <a:ahLst/>
            <a:cxnLst/>
            <a:rect l="l" t="t" r="r" b="b"/>
            <a:pathLst>
              <a:path w="6985191" h="806689">
                <a:moveTo>
                  <a:pt x="110000" y="0"/>
                </a:moveTo>
                <a:lnTo>
                  <a:pt x="6875191" y="0"/>
                </a:lnTo>
                <a:cubicBezTo>
                  <a:pt x="6935942" y="0"/>
                  <a:pt x="6985191" y="49249"/>
                  <a:pt x="6985191" y="110000"/>
                </a:cubicBezTo>
                <a:lnTo>
                  <a:pt x="6985191" y="696689"/>
                </a:lnTo>
                <a:cubicBezTo>
                  <a:pt x="6985191" y="757440"/>
                  <a:pt x="6935942" y="806689"/>
                  <a:pt x="6875191" y="806689"/>
                </a:cubicBezTo>
                <a:lnTo>
                  <a:pt x="110000" y="806689"/>
                </a:lnTo>
                <a:cubicBezTo>
                  <a:pt x="49249" y="806689"/>
                  <a:pt x="0" y="757440"/>
                  <a:pt x="0" y="696689"/>
                </a:cubicBezTo>
                <a:lnTo>
                  <a:pt x="0" y="110000"/>
                </a:lnTo>
                <a:cubicBezTo>
                  <a:pt x="0" y="49249"/>
                  <a:pt x="49249" y="0"/>
                  <a:pt x="1100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501" dist="916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100030" y="6196836"/>
            <a:ext cx="6774352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Testing, Validation &amp; Evaluation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00030" y="6490177"/>
            <a:ext cx="6765185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assessment and refinement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56494" y="751687"/>
            <a:ext cx="3666767" cy="4510124"/>
          </a:xfrm>
          <a:custGeom>
            <a:avLst/>
            <a:gdLst/>
            <a:ahLst/>
            <a:cxnLst/>
            <a:rect l="l" t="t" r="r" b="b"/>
            <a:pathLst>
              <a:path w="3666767" h="3795104">
                <a:moveTo>
                  <a:pt x="110003" y="0"/>
                </a:moveTo>
                <a:lnTo>
                  <a:pt x="3556764" y="0"/>
                </a:lnTo>
                <a:cubicBezTo>
                  <a:pt x="3617517" y="0"/>
                  <a:pt x="3666767" y="49250"/>
                  <a:pt x="3666767" y="110003"/>
                </a:cubicBezTo>
                <a:lnTo>
                  <a:pt x="3666767" y="3685101"/>
                </a:lnTo>
                <a:cubicBezTo>
                  <a:pt x="3666767" y="3745854"/>
                  <a:pt x="3617517" y="3795104"/>
                  <a:pt x="3556764" y="3795104"/>
                </a:cubicBezTo>
                <a:lnTo>
                  <a:pt x="110003" y="3795104"/>
                </a:lnTo>
                <a:cubicBezTo>
                  <a:pt x="49250" y="3795104"/>
                  <a:pt x="0" y="3745854"/>
                  <a:pt x="0" y="3685101"/>
                </a:cubicBezTo>
                <a:lnTo>
                  <a:pt x="0" y="110003"/>
                </a:lnTo>
                <a:cubicBezTo>
                  <a:pt x="0" y="49291"/>
                  <a:pt x="49291" y="0"/>
                  <a:pt x="1100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501" dist="916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8156494" y="5354691"/>
            <a:ext cx="3666767" cy="1448373"/>
          </a:xfrm>
          <a:custGeom>
            <a:avLst/>
            <a:gdLst/>
            <a:ahLst/>
            <a:cxnLst/>
            <a:rect l="l" t="t" r="r" b="b"/>
            <a:pathLst>
              <a:path w="3666767" h="1448373">
                <a:moveTo>
                  <a:pt x="110004" y="0"/>
                </a:moveTo>
                <a:lnTo>
                  <a:pt x="3556763" y="0"/>
                </a:lnTo>
                <a:cubicBezTo>
                  <a:pt x="3617516" y="0"/>
                  <a:pt x="3666767" y="49250"/>
                  <a:pt x="3666767" y="110004"/>
                </a:cubicBezTo>
                <a:lnTo>
                  <a:pt x="3666767" y="1338369"/>
                </a:lnTo>
                <a:cubicBezTo>
                  <a:pt x="3666767" y="1399122"/>
                  <a:pt x="3617516" y="1448373"/>
                  <a:pt x="3556763" y="1448373"/>
                </a:cubicBezTo>
                <a:lnTo>
                  <a:pt x="110004" y="1448373"/>
                </a:lnTo>
                <a:cubicBezTo>
                  <a:pt x="49250" y="1448373"/>
                  <a:pt x="0" y="1399122"/>
                  <a:pt x="0" y="1338369"/>
                </a:cubicBezTo>
                <a:lnTo>
                  <a:pt x="0" y="110004"/>
                </a:lnTo>
                <a:cubicBezTo>
                  <a:pt x="0" y="49291"/>
                  <a:pt x="49291" y="0"/>
                  <a:pt x="110004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1" name="Shape 38"/>
          <p:cNvSpPr/>
          <p:nvPr/>
        </p:nvSpPr>
        <p:spPr>
          <a:xfrm>
            <a:off x="8362750" y="5628487"/>
            <a:ext cx="183338" cy="183338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22917" y="22917"/>
                </a:moveTo>
                <a:cubicBezTo>
                  <a:pt x="22917" y="16579"/>
                  <a:pt x="17797" y="11459"/>
                  <a:pt x="11459" y="11459"/>
                </a:cubicBezTo>
                <a:cubicBezTo>
                  <a:pt x="5121" y="11459"/>
                  <a:pt x="0" y="16579"/>
                  <a:pt x="0" y="22917"/>
                </a:cubicBezTo>
                <a:lnTo>
                  <a:pt x="0" y="143233"/>
                </a:lnTo>
                <a:cubicBezTo>
                  <a:pt x="0" y="159060"/>
                  <a:pt x="12819" y="171880"/>
                  <a:pt x="28647" y="171880"/>
                </a:cubicBezTo>
                <a:lnTo>
                  <a:pt x="171880" y="171880"/>
                </a:lnTo>
                <a:cubicBezTo>
                  <a:pt x="178218" y="171880"/>
                  <a:pt x="183338" y="166759"/>
                  <a:pt x="183338" y="160421"/>
                </a:cubicBezTo>
                <a:cubicBezTo>
                  <a:pt x="183338" y="154083"/>
                  <a:pt x="178218" y="148962"/>
                  <a:pt x="171880" y="148962"/>
                </a:cubicBezTo>
                <a:lnTo>
                  <a:pt x="28647" y="148962"/>
                </a:lnTo>
                <a:cubicBezTo>
                  <a:pt x="25495" y="148962"/>
                  <a:pt x="22917" y="146384"/>
                  <a:pt x="22917" y="143233"/>
                </a:cubicBezTo>
                <a:lnTo>
                  <a:pt x="22917" y="22917"/>
                </a:lnTo>
                <a:close/>
                <a:moveTo>
                  <a:pt x="168514" y="53927"/>
                </a:moveTo>
                <a:cubicBezTo>
                  <a:pt x="172990" y="49451"/>
                  <a:pt x="172990" y="42182"/>
                  <a:pt x="168514" y="37706"/>
                </a:cubicBezTo>
                <a:cubicBezTo>
                  <a:pt x="164038" y="33230"/>
                  <a:pt x="156769" y="33230"/>
                  <a:pt x="152293" y="37706"/>
                </a:cubicBezTo>
                <a:lnTo>
                  <a:pt x="114586" y="75448"/>
                </a:lnTo>
                <a:lnTo>
                  <a:pt x="94033" y="54930"/>
                </a:lnTo>
                <a:cubicBezTo>
                  <a:pt x="89556" y="50454"/>
                  <a:pt x="82287" y="50454"/>
                  <a:pt x="77811" y="54930"/>
                </a:cubicBezTo>
                <a:lnTo>
                  <a:pt x="43435" y="89306"/>
                </a:lnTo>
                <a:cubicBezTo>
                  <a:pt x="38959" y="93782"/>
                  <a:pt x="38959" y="101051"/>
                  <a:pt x="43435" y="105527"/>
                </a:cubicBezTo>
                <a:cubicBezTo>
                  <a:pt x="47911" y="110003"/>
                  <a:pt x="55181" y="110003"/>
                  <a:pt x="59657" y="105527"/>
                </a:cubicBezTo>
                <a:lnTo>
                  <a:pt x="85940" y="79244"/>
                </a:lnTo>
                <a:lnTo>
                  <a:pt x="106494" y="99798"/>
                </a:lnTo>
                <a:cubicBezTo>
                  <a:pt x="110970" y="104274"/>
                  <a:pt x="118239" y="104274"/>
                  <a:pt x="122715" y="99798"/>
                </a:cubicBezTo>
                <a:lnTo>
                  <a:pt x="168550" y="53963"/>
                </a:ln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42" name="Text 39"/>
          <p:cNvSpPr/>
          <p:nvPr/>
        </p:nvSpPr>
        <p:spPr>
          <a:xfrm>
            <a:off x="8679008" y="5591820"/>
            <a:ext cx="1420872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Iterative Approach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339832" y="5958496"/>
            <a:ext cx="3373426" cy="715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5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stage involved continuous feedback and refinement to ensure system reliability and performance.</a:t>
            </a:r>
            <a:endParaRPr lang="en-US" sz="1600" dirty="0"/>
          </a:p>
        </p:txBody>
      </p:sp>
      <p:pic>
        <p:nvPicPr>
          <p:cNvPr id="45" name="صورة 44">
            <a:extLst>
              <a:ext uri="{FF2B5EF4-FFF2-40B4-BE49-F238E27FC236}">
                <a16:creationId xmlns:a16="http://schemas.microsoft.com/office/drawing/2014/main" id="{E5DE875C-8126-B987-E170-B3CF9A0CC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892" y="882450"/>
            <a:ext cx="3426366" cy="43255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55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48176"/>
                </a:moveTo>
                <a:lnTo>
                  <a:pt x="107603" y="38889"/>
                </a:lnTo>
                <a:cubicBezTo>
                  <a:pt x="96441" y="23440"/>
                  <a:pt x="78537" y="14288"/>
                  <a:pt x="59427" y="14288"/>
                </a:cubicBezTo>
                <a:cubicBezTo>
                  <a:pt x="26610" y="14288"/>
                  <a:pt x="0" y="40898"/>
                  <a:pt x="0" y="73715"/>
                </a:cubicBezTo>
                <a:lnTo>
                  <a:pt x="0" y="74875"/>
                </a:lnTo>
                <a:cubicBezTo>
                  <a:pt x="0" y="85412"/>
                  <a:pt x="2768" y="96307"/>
                  <a:pt x="7412" y="107156"/>
                </a:cubicBezTo>
                <a:lnTo>
                  <a:pt x="54739" y="107156"/>
                </a:lnTo>
                <a:cubicBezTo>
                  <a:pt x="56168" y="107156"/>
                  <a:pt x="57463" y="106308"/>
                  <a:pt x="58043" y="104968"/>
                </a:cubicBezTo>
                <a:lnTo>
                  <a:pt x="72241" y="70902"/>
                </a:lnTo>
                <a:cubicBezTo>
                  <a:pt x="73893" y="66973"/>
                  <a:pt x="77733" y="64383"/>
                  <a:pt x="81975" y="64294"/>
                </a:cubicBezTo>
                <a:cubicBezTo>
                  <a:pt x="86216" y="64204"/>
                  <a:pt x="90145" y="66705"/>
                  <a:pt x="91886" y="70589"/>
                </a:cubicBezTo>
                <a:lnTo>
                  <a:pt x="114791" y="121444"/>
                </a:lnTo>
                <a:lnTo>
                  <a:pt x="133276" y="84475"/>
                </a:lnTo>
                <a:cubicBezTo>
                  <a:pt x="135106" y="80858"/>
                  <a:pt x="138812" y="78537"/>
                  <a:pt x="142875" y="78537"/>
                </a:cubicBezTo>
                <a:cubicBezTo>
                  <a:pt x="146938" y="78537"/>
                  <a:pt x="150644" y="80814"/>
                  <a:pt x="152474" y="84475"/>
                </a:cubicBezTo>
                <a:lnTo>
                  <a:pt x="162833" y="105147"/>
                </a:lnTo>
                <a:cubicBezTo>
                  <a:pt x="163458" y="106353"/>
                  <a:pt x="164663" y="107112"/>
                  <a:pt x="166048" y="107112"/>
                </a:cubicBezTo>
                <a:lnTo>
                  <a:pt x="221233" y="107112"/>
                </a:lnTo>
                <a:cubicBezTo>
                  <a:pt x="225921" y="96262"/>
                  <a:pt x="228645" y="85368"/>
                  <a:pt x="228645" y="74831"/>
                </a:cubicBezTo>
                <a:lnTo>
                  <a:pt x="228645" y="73670"/>
                </a:lnTo>
                <a:cubicBezTo>
                  <a:pt x="228600" y="40898"/>
                  <a:pt x="201990" y="14288"/>
                  <a:pt x="169173" y="14288"/>
                </a:cubicBezTo>
                <a:cubicBezTo>
                  <a:pt x="150108" y="14288"/>
                  <a:pt x="132159" y="23440"/>
                  <a:pt x="120997" y="38889"/>
                </a:cubicBezTo>
                <a:lnTo>
                  <a:pt x="114300" y="48131"/>
                </a:lnTo>
                <a:close/>
                <a:moveTo>
                  <a:pt x="209669" y="128588"/>
                </a:moveTo>
                <a:lnTo>
                  <a:pt x="166003" y="128588"/>
                </a:lnTo>
                <a:cubicBezTo>
                  <a:pt x="156537" y="128588"/>
                  <a:pt x="147876" y="123230"/>
                  <a:pt x="143634" y="114746"/>
                </a:cubicBezTo>
                <a:lnTo>
                  <a:pt x="142875" y="113228"/>
                </a:lnTo>
                <a:lnTo>
                  <a:pt x="123899" y="151224"/>
                </a:lnTo>
                <a:cubicBezTo>
                  <a:pt x="122069" y="154930"/>
                  <a:pt x="118229" y="157252"/>
                  <a:pt x="114077" y="157163"/>
                </a:cubicBezTo>
                <a:cubicBezTo>
                  <a:pt x="109924" y="157073"/>
                  <a:pt x="106219" y="154618"/>
                  <a:pt x="104522" y="150867"/>
                </a:cubicBezTo>
                <a:lnTo>
                  <a:pt x="82510" y="101977"/>
                </a:lnTo>
                <a:lnTo>
                  <a:pt x="77822" y="113228"/>
                </a:lnTo>
                <a:cubicBezTo>
                  <a:pt x="73938" y="122560"/>
                  <a:pt x="64830" y="128632"/>
                  <a:pt x="54739" y="128632"/>
                </a:cubicBezTo>
                <a:lnTo>
                  <a:pt x="18931" y="128632"/>
                </a:lnTo>
                <a:cubicBezTo>
                  <a:pt x="40005" y="161583"/>
                  <a:pt x="73849" y="191899"/>
                  <a:pt x="95012" y="208062"/>
                </a:cubicBezTo>
                <a:cubicBezTo>
                  <a:pt x="100548" y="212259"/>
                  <a:pt x="107335" y="214357"/>
                  <a:pt x="114255" y="214357"/>
                </a:cubicBezTo>
                <a:cubicBezTo>
                  <a:pt x="121176" y="214357"/>
                  <a:pt x="128007" y="212303"/>
                  <a:pt x="133499" y="208062"/>
                </a:cubicBezTo>
                <a:cubicBezTo>
                  <a:pt x="154751" y="191854"/>
                  <a:pt x="188595" y="161538"/>
                  <a:pt x="209669" y="128588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53" dirty="0">
                <a:solidFill>
                  <a:srgbClr val="1ABC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3267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 Background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0668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Microscopic analysis plays a critical role in medical diagnostics, including: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543050"/>
            <a:ext cx="3714750" cy="2381250"/>
          </a:xfrm>
          <a:custGeom>
            <a:avLst/>
            <a:gdLst/>
            <a:ahLst/>
            <a:cxnLst/>
            <a:rect l="l" t="t" r="r" b="b"/>
            <a:pathLst>
              <a:path w="3714750" h="2381250">
                <a:moveTo>
                  <a:pt x="38100" y="0"/>
                </a:moveTo>
                <a:lnTo>
                  <a:pt x="3676650" y="0"/>
                </a:lnTo>
                <a:cubicBezTo>
                  <a:pt x="3697678" y="0"/>
                  <a:pt x="3714750" y="17072"/>
                  <a:pt x="3714750" y="38100"/>
                </a:cubicBezTo>
                <a:lnTo>
                  <a:pt x="3714750" y="2266950"/>
                </a:lnTo>
                <a:cubicBezTo>
                  <a:pt x="3714750" y="2330034"/>
                  <a:pt x="3663534" y="2381250"/>
                  <a:pt x="3600450" y="2381250"/>
                </a:cubicBezTo>
                <a:lnTo>
                  <a:pt x="114300" y="2381250"/>
                </a:lnTo>
                <a:cubicBezTo>
                  <a:pt x="51216" y="2381250"/>
                  <a:pt x="0" y="2330034"/>
                  <a:pt x="0" y="2266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1000" y="1543050"/>
            <a:ext cx="3714750" cy="38100"/>
          </a:xfrm>
          <a:custGeom>
            <a:avLst/>
            <a:gdLst/>
            <a:ahLst/>
            <a:cxnLst/>
            <a:rect l="l" t="t" r="r" b="b"/>
            <a:pathLst>
              <a:path w="3714750" h="38100">
                <a:moveTo>
                  <a:pt x="38100" y="0"/>
                </a:moveTo>
                <a:lnTo>
                  <a:pt x="3676650" y="0"/>
                </a:lnTo>
                <a:cubicBezTo>
                  <a:pt x="3697678" y="0"/>
                  <a:pt x="3714750" y="17072"/>
                  <a:pt x="3714750" y="38100"/>
                </a:cubicBezTo>
                <a:lnTo>
                  <a:pt x="3714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9" name="Shape 7"/>
          <p:cNvSpPr/>
          <p:nvPr/>
        </p:nvSpPr>
        <p:spPr>
          <a:xfrm>
            <a:off x="571500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28663" y="18859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1438" y="190500"/>
                </a:moveTo>
                <a:cubicBezTo>
                  <a:pt x="31998" y="190500"/>
                  <a:pt x="0" y="158502"/>
                  <a:pt x="0" y="119063"/>
                </a:cubicBezTo>
                <a:cubicBezTo>
                  <a:pt x="0" y="85130"/>
                  <a:pt x="48444" y="17078"/>
                  <a:pt x="61987" y="-1302"/>
                </a:cubicBezTo>
                <a:cubicBezTo>
                  <a:pt x="64182" y="-4279"/>
                  <a:pt x="67642" y="-5953"/>
                  <a:pt x="71363" y="-5953"/>
                </a:cubicBezTo>
                <a:lnTo>
                  <a:pt x="71512" y="-5953"/>
                </a:lnTo>
                <a:cubicBezTo>
                  <a:pt x="75233" y="-5953"/>
                  <a:pt x="78693" y="-4279"/>
                  <a:pt x="80888" y="-1302"/>
                </a:cubicBezTo>
                <a:cubicBezTo>
                  <a:pt x="94431" y="17078"/>
                  <a:pt x="142875" y="85130"/>
                  <a:pt x="142875" y="119063"/>
                </a:cubicBezTo>
                <a:cubicBezTo>
                  <a:pt x="142875" y="158502"/>
                  <a:pt x="110877" y="190500"/>
                  <a:pt x="71438" y="190500"/>
                </a:cubicBezTo>
                <a:close/>
                <a:moveTo>
                  <a:pt x="41672" y="116086"/>
                </a:moveTo>
                <a:cubicBezTo>
                  <a:pt x="41672" y="111137"/>
                  <a:pt x="37691" y="107156"/>
                  <a:pt x="32742" y="107156"/>
                </a:cubicBezTo>
                <a:cubicBezTo>
                  <a:pt x="27794" y="107156"/>
                  <a:pt x="23812" y="111137"/>
                  <a:pt x="23812" y="116086"/>
                </a:cubicBezTo>
                <a:cubicBezTo>
                  <a:pt x="23812" y="144028"/>
                  <a:pt x="46472" y="166688"/>
                  <a:pt x="74414" y="166688"/>
                </a:cubicBezTo>
                <a:cubicBezTo>
                  <a:pt x="79363" y="166688"/>
                  <a:pt x="83344" y="162706"/>
                  <a:pt x="83344" y="157758"/>
                </a:cubicBezTo>
                <a:cubicBezTo>
                  <a:pt x="83344" y="152809"/>
                  <a:pt x="79363" y="148828"/>
                  <a:pt x="74414" y="148828"/>
                </a:cubicBezTo>
                <a:cubicBezTo>
                  <a:pt x="56331" y="148828"/>
                  <a:pt x="41672" y="134169"/>
                  <a:pt x="41672" y="116086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1847850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Blood Cell Examination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324100"/>
            <a:ext cx="340995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blood count analysis, cell morphology assessment, and identification of abnormal cell types for disease diagnosis.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48150" y="1543050"/>
            <a:ext cx="3714750" cy="2381250"/>
          </a:xfrm>
          <a:custGeom>
            <a:avLst/>
            <a:gdLst/>
            <a:ahLst/>
            <a:cxnLst/>
            <a:rect l="l" t="t" r="r" b="b"/>
            <a:pathLst>
              <a:path w="3714750" h="2381250">
                <a:moveTo>
                  <a:pt x="38100" y="0"/>
                </a:moveTo>
                <a:lnTo>
                  <a:pt x="3676650" y="0"/>
                </a:lnTo>
                <a:cubicBezTo>
                  <a:pt x="3697678" y="0"/>
                  <a:pt x="3714750" y="17072"/>
                  <a:pt x="3714750" y="38100"/>
                </a:cubicBezTo>
                <a:lnTo>
                  <a:pt x="3714750" y="2266950"/>
                </a:lnTo>
                <a:cubicBezTo>
                  <a:pt x="3714750" y="2330034"/>
                  <a:pt x="3663534" y="2381250"/>
                  <a:pt x="3600450" y="2381250"/>
                </a:cubicBezTo>
                <a:lnTo>
                  <a:pt x="114300" y="2381250"/>
                </a:lnTo>
                <a:cubicBezTo>
                  <a:pt x="51216" y="2381250"/>
                  <a:pt x="0" y="2330034"/>
                  <a:pt x="0" y="2266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48150" y="1543050"/>
            <a:ext cx="3714750" cy="38100"/>
          </a:xfrm>
          <a:custGeom>
            <a:avLst/>
            <a:gdLst/>
            <a:ahLst/>
            <a:cxnLst/>
            <a:rect l="l" t="t" r="r" b="b"/>
            <a:pathLst>
              <a:path w="3714750" h="38100">
                <a:moveTo>
                  <a:pt x="38100" y="0"/>
                </a:moveTo>
                <a:lnTo>
                  <a:pt x="3676650" y="0"/>
                </a:lnTo>
                <a:cubicBezTo>
                  <a:pt x="3697678" y="0"/>
                  <a:pt x="3714750" y="17072"/>
                  <a:pt x="3714750" y="38100"/>
                </a:cubicBezTo>
                <a:lnTo>
                  <a:pt x="3714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5" name="Shape 13"/>
          <p:cNvSpPr/>
          <p:nvPr/>
        </p:nvSpPr>
        <p:spPr>
          <a:xfrm>
            <a:off x="4438650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1885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7" name="Text 15"/>
          <p:cNvSpPr/>
          <p:nvPr/>
        </p:nvSpPr>
        <p:spPr>
          <a:xfrm>
            <a:off x="5010150" y="1847850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Tissue Analysis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38650" y="2324100"/>
            <a:ext cx="340995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Histopathological examination of tissue samples to detect cancer, inflammation, and other pathological conditions.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1000" y="4095750"/>
            <a:ext cx="3714750" cy="2381250"/>
          </a:xfrm>
          <a:custGeom>
            <a:avLst/>
            <a:gdLst/>
            <a:ahLst/>
            <a:cxnLst/>
            <a:rect l="l" t="t" r="r" b="b"/>
            <a:pathLst>
              <a:path w="3714750" h="2381250">
                <a:moveTo>
                  <a:pt x="38100" y="0"/>
                </a:moveTo>
                <a:lnTo>
                  <a:pt x="3676650" y="0"/>
                </a:lnTo>
                <a:cubicBezTo>
                  <a:pt x="3697678" y="0"/>
                  <a:pt x="3714750" y="17072"/>
                  <a:pt x="3714750" y="38100"/>
                </a:cubicBezTo>
                <a:lnTo>
                  <a:pt x="3714750" y="2266950"/>
                </a:lnTo>
                <a:cubicBezTo>
                  <a:pt x="3714750" y="2330034"/>
                  <a:pt x="3663534" y="2381250"/>
                  <a:pt x="3600450" y="2381250"/>
                </a:cubicBezTo>
                <a:lnTo>
                  <a:pt x="114300" y="2381250"/>
                </a:lnTo>
                <a:cubicBezTo>
                  <a:pt x="51216" y="2381250"/>
                  <a:pt x="0" y="2330034"/>
                  <a:pt x="0" y="2266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1000" y="4095750"/>
            <a:ext cx="3714750" cy="38100"/>
          </a:xfrm>
          <a:custGeom>
            <a:avLst/>
            <a:gdLst/>
            <a:ahLst/>
            <a:cxnLst/>
            <a:rect l="l" t="t" r="r" b="b"/>
            <a:pathLst>
              <a:path w="3714750" h="38100">
                <a:moveTo>
                  <a:pt x="38100" y="0"/>
                </a:moveTo>
                <a:lnTo>
                  <a:pt x="3676650" y="0"/>
                </a:lnTo>
                <a:cubicBezTo>
                  <a:pt x="3697678" y="0"/>
                  <a:pt x="3714750" y="17072"/>
                  <a:pt x="3714750" y="38100"/>
                </a:cubicBezTo>
                <a:lnTo>
                  <a:pt x="3714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" y="4305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D6D7E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81038" y="44386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95250" y="-11906"/>
                </a:moveTo>
                <a:cubicBezTo>
                  <a:pt x="100199" y="-11906"/>
                  <a:pt x="104180" y="-7925"/>
                  <a:pt x="104180" y="-2977"/>
                </a:cubicBezTo>
                <a:lnTo>
                  <a:pt x="104180" y="1116"/>
                </a:lnTo>
                <a:cubicBezTo>
                  <a:pt x="107379" y="1935"/>
                  <a:pt x="110468" y="3200"/>
                  <a:pt x="113407" y="4949"/>
                </a:cubicBezTo>
                <a:lnTo>
                  <a:pt x="115714" y="2604"/>
                </a:lnTo>
                <a:cubicBezTo>
                  <a:pt x="119211" y="-893"/>
                  <a:pt x="124867" y="-893"/>
                  <a:pt x="128327" y="2604"/>
                </a:cubicBezTo>
                <a:cubicBezTo>
                  <a:pt x="131787" y="6102"/>
                  <a:pt x="131825" y="11757"/>
                  <a:pt x="128327" y="15218"/>
                </a:cubicBezTo>
                <a:lnTo>
                  <a:pt x="125983" y="17562"/>
                </a:lnTo>
                <a:cubicBezTo>
                  <a:pt x="127695" y="20464"/>
                  <a:pt x="128960" y="23589"/>
                  <a:pt x="129815" y="26789"/>
                </a:cubicBezTo>
                <a:lnTo>
                  <a:pt x="133908" y="26789"/>
                </a:lnTo>
                <a:cubicBezTo>
                  <a:pt x="138857" y="26789"/>
                  <a:pt x="142838" y="30770"/>
                  <a:pt x="142838" y="35719"/>
                </a:cubicBezTo>
                <a:cubicBezTo>
                  <a:pt x="142838" y="40667"/>
                  <a:pt x="138857" y="44648"/>
                  <a:pt x="133908" y="44648"/>
                </a:cubicBezTo>
                <a:lnTo>
                  <a:pt x="129815" y="44648"/>
                </a:lnTo>
                <a:cubicBezTo>
                  <a:pt x="128997" y="47848"/>
                  <a:pt x="127732" y="50936"/>
                  <a:pt x="125983" y="53876"/>
                </a:cubicBezTo>
                <a:lnTo>
                  <a:pt x="128364" y="56183"/>
                </a:lnTo>
                <a:cubicBezTo>
                  <a:pt x="131862" y="59680"/>
                  <a:pt x="131862" y="65336"/>
                  <a:pt x="128364" y="68796"/>
                </a:cubicBezTo>
                <a:cubicBezTo>
                  <a:pt x="124867" y="72256"/>
                  <a:pt x="119211" y="72293"/>
                  <a:pt x="115751" y="68796"/>
                </a:cubicBezTo>
                <a:lnTo>
                  <a:pt x="114226" y="67270"/>
                </a:lnTo>
                <a:lnTo>
                  <a:pt x="103026" y="78470"/>
                </a:lnTo>
                <a:lnTo>
                  <a:pt x="104552" y="79995"/>
                </a:lnTo>
                <a:cubicBezTo>
                  <a:pt x="108049" y="83493"/>
                  <a:pt x="108049" y="89148"/>
                  <a:pt x="104552" y="92608"/>
                </a:cubicBezTo>
                <a:cubicBezTo>
                  <a:pt x="101054" y="96069"/>
                  <a:pt x="95399" y="96106"/>
                  <a:pt x="91939" y="92608"/>
                </a:cubicBezTo>
                <a:lnTo>
                  <a:pt x="90413" y="91083"/>
                </a:lnTo>
                <a:cubicBezTo>
                  <a:pt x="86692" y="94804"/>
                  <a:pt x="82972" y="98524"/>
                  <a:pt x="79214" y="102282"/>
                </a:cubicBezTo>
                <a:lnTo>
                  <a:pt x="80739" y="103808"/>
                </a:lnTo>
                <a:cubicBezTo>
                  <a:pt x="84237" y="107305"/>
                  <a:pt x="84237" y="112961"/>
                  <a:pt x="80739" y="116421"/>
                </a:cubicBezTo>
                <a:cubicBezTo>
                  <a:pt x="77242" y="119881"/>
                  <a:pt x="71586" y="119918"/>
                  <a:pt x="68126" y="116421"/>
                </a:cubicBezTo>
                <a:lnTo>
                  <a:pt x="65782" y="114077"/>
                </a:lnTo>
                <a:cubicBezTo>
                  <a:pt x="62880" y="115788"/>
                  <a:pt x="59754" y="117053"/>
                  <a:pt x="56555" y="117909"/>
                </a:cubicBezTo>
                <a:lnTo>
                  <a:pt x="56555" y="122002"/>
                </a:lnTo>
                <a:cubicBezTo>
                  <a:pt x="56555" y="126950"/>
                  <a:pt x="52574" y="130932"/>
                  <a:pt x="47625" y="130932"/>
                </a:cubicBezTo>
                <a:cubicBezTo>
                  <a:pt x="42676" y="130932"/>
                  <a:pt x="38695" y="126950"/>
                  <a:pt x="38695" y="122002"/>
                </a:cubicBezTo>
                <a:lnTo>
                  <a:pt x="38695" y="117909"/>
                </a:lnTo>
                <a:cubicBezTo>
                  <a:pt x="35496" y="117091"/>
                  <a:pt x="32407" y="115825"/>
                  <a:pt x="29468" y="114077"/>
                </a:cubicBezTo>
                <a:lnTo>
                  <a:pt x="27161" y="116458"/>
                </a:lnTo>
                <a:cubicBezTo>
                  <a:pt x="23664" y="119955"/>
                  <a:pt x="18008" y="119955"/>
                  <a:pt x="14548" y="116458"/>
                </a:cubicBezTo>
                <a:cubicBezTo>
                  <a:pt x="11088" y="112961"/>
                  <a:pt x="11050" y="107305"/>
                  <a:pt x="14548" y="103845"/>
                </a:cubicBezTo>
                <a:lnTo>
                  <a:pt x="16892" y="101501"/>
                </a:lnTo>
                <a:cubicBezTo>
                  <a:pt x="15180" y="98599"/>
                  <a:pt x="13915" y="95473"/>
                  <a:pt x="13060" y="92273"/>
                </a:cubicBezTo>
                <a:lnTo>
                  <a:pt x="8967" y="92273"/>
                </a:lnTo>
                <a:cubicBezTo>
                  <a:pt x="4018" y="92273"/>
                  <a:pt x="37" y="88292"/>
                  <a:pt x="37" y="83344"/>
                </a:cubicBezTo>
                <a:cubicBezTo>
                  <a:pt x="37" y="78395"/>
                  <a:pt x="4018" y="74414"/>
                  <a:pt x="8967" y="74414"/>
                </a:cubicBezTo>
                <a:lnTo>
                  <a:pt x="13060" y="74414"/>
                </a:lnTo>
                <a:cubicBezTo>
                  <a:pt x="13878" y="71214"/>
                  <a:pt x="15143" y="68126"/>
                  <a:pt x="16892" y="65187"/>
                </a:cubicBezTo>
                <a:lnTo>
                  <a:pt x="14511" y="62880"/>
                </a:lnTo>
                <a:cubicBezTo>
                  <a:pt x="11013" y="59382"/>
                  <a:pt x="11013" y="53727"/>
                  <a:pt x="14511" y="50267"/>
                </a:cubicBezTo>
                <a:cubicBezTo>
                  <a:pt x="18008" y="46806"/>
                  <a:pt x="23664" y="46769"/>
                  <a:pt x="27124" y="50267"/>
                </a:cubicBezTo>
                <a:lnTo>
                  <a:pt x="28649" y="51792"/>
                </a:lnTo>
                <a:cubicBezTo>
                  <a:pt x="32370" y="48071"/>
                  <a:pt x="36091" y="44351"/>
                  <a:pt x="39849" y="40593"/>
                </a:cubicBezTo>
                <a:lnTo>
                  <a:pt x="38323" y="39067"/>
                </a:lnTo>
                <a:cubicBezTo>
                  <a:pt x="34826" y="35570"/>
                  <a:pt x="34826" y="29914"/>
                  <a:pt x="38323" y="26454"/>
                </a:cubicBezTo>
                <a:cubicBezTo>
                  <a:pt x="41821" y="22994"/>
                  <a:pt x="47476" y="22957"/>
                  <a:pt x="50936" y="26454"/>
                </a:cubicBezTo>
                <a:lnTo>
                  <a:pt x="52462" y="27980"/>
                </a:lnTo>
                <a:lnTo>
                  <a:pt x="63661" y="16780"/>
                </a:lnTo>
                <a:lnTo>
                  <a:pt x="62136" y="15255"/>
                </a:lnTo>
                <a:cubicBezTo>
                  <a:pt x="58638" y="11757"/>
                  <a:pt x="58638" y="6102"/>
                  <a:pt x="62136" y="2642"/>
                </a:cubicBezTo>
                <a:cubicBezTo>
                  <a:pt x="65633" y="-819"/>
                  <a:pt x="71289" y="-856"/>
                  <a:pt x="74786" y="2604"/>
                </a:cubicBezTo>
                <a:lnTo>
                  <a:pt x="77130" y="4949"/>
                </a:lnTo>
                <a:cubicBezTo>
                  <a:pt x="80032" y="3237"/>
                  <a:pt x="83158" y="1972"/>
                  <a:pt x="86358" y="1116"/>
                </a:cubicBezTo>
                <a:lnTo>
                  <a:pt x="86358" y="-2977"/>
                </a:lnTo>
                <a:cubicBezTo>
                  <a:pt x="86358" y="-7925"/>
                  <a:pt x="90339" y="-11906"/>
                  <a:pt x="95287" y="-11906"/>
                </a:cubicBezTo>
                <a:close/>
                <a:moveTo>
                  <a:pt x="47625" y="95250"/>
                </a:moveTo>
                <a:cubicBezTo>
                  <a:pt x="54196" y="95250"/>
                  <a:pt x="59531" y="89915"/>
                  <a:pt x="59531" y="83344"/>
                </a:cubicBezTo>
                <a:cubicBezTo>
                  <a:pt x="59531" y="76773"/>
                  <a:pt x="54196" y="71438"/>
                  <a:pt x="47625" y="71438"/>
                </a:cubicBezTo>
                <a:cubicBezTo>
                  <a:pt x="41054" y="71438"/>
                  <a:pt x="35719" y="76773"/>
                  <a:pt x="35719" y="83344"/>
                </a:cubicBezTo>
                <a:cubicBezTo>
                  <a:pt x="35719" y="89915"/>
                  <a:pt x="41054" y="95250"/>
                  <a:pt x="47625" y="95250"/>
                </a:cubicBezTo>
                <a:close/>
                <a:moveTo>
                  <a:pt x="89297" y="53578"/>
                </a:moveTo>
                <a:cubicBezTo>
                  <a:pt x="89297" y="47007"/>
                  <a:pt x="83962" y="41672"/>
                  <a:pt x="77391" y="41672"/>
                </a:cubicBezTo>
                <a:cubicBezTo>
                  <a:pt x="70819" y="41672"/>
                  <a:pt x="65484" y="47007"/>
                  <a:pt x="65484" y="53578"/>
                </a:cubicBezTo>
                <a:cubicBezTo>
                  <a:pt x="65484" y="60149"/>
                  <a:pt x="70819" y="65484"/>
                  <a:pt x="77391" y="65484"/>
                </a:cubicBezTo>
                <a:cubicBezTo>
                  <a:pt x="83962" y="65484"/>
                  <a:pt x="89297" y="60149"/>
                  <a:pt x="89297" y="53578"/>
                </a:cubicBezTo>
                <a:close/>
                <a:moveTo>
                  <a:pt x="199430" y="68461"/>
                </a:moveTo>
                <a:lnTo>
                  <a:pt x="199430" y="72554"/>
                </a:lnTo>
                <a:cubicBezTo>
                  <a:pt x="202629" y="73372"/>
                  <a:pt x="205718" y="74637"/>
                  <a:pt x="208657" y="76386"/>
                </a:cubicBezTo>
                <a:lnTo>
                  <a:pt x="210964" y="74042"/>
                </a:lnTo>
                <a:cubicBezTo>
                  <a:pt x="214461" y="70545"/>
                  <a:pt x="220117" y="70545"/>
                  <a:pt x="223577" y="74042"/>
                </a:cubicBezTo>
                <a:cubicBezTo>
                  <a:pt x="227037" y="77539"/>
                  <a:pt x="227075" y="83195"/>
                  <a:pt x="223577" y="86655"/>
                </a:cubicBezTo>
                <a:lnTo>
                  <a:pt x="221233" y="88999"/>
                </a:lnTo>
                <a:cubicBezTo>
                  <a:pt x="222945" y="91901"/>
                  <a:pt x="224210" y="95027"/>
                  <a:pt x="225065" y="98227"/>
                </a:cubicBezTo>
                <a:lnTo>
                  <a:pt x="229158" y="98227"/>
                </a:lnTo>
                <a:cubicBezTo>
                  <a:pt x="234107" y="98227"/>
                  <a:pt x="238088" y="102208"/>
                  <a:pt x="238088" y="107156"/>
                </a:cubicBezTo>
                <a:cubicBezTo>
                  <a:pt x="238088" y="112105"/>
                  <a:pt x="234107" y="116086"/>
                  <a:pt x="229158" y="116086"/>
                </a:cubicBezTo>
                <a:lnTo>
                  <a:pt x="225065" y="116086"/>
                </a:lnTo>
                <a:cubicBezTo>
                  <a:pt x="224247" y="119286"/>
                  <a:pt x="222982" y="122374"/>
                  <a:pt x="221233" y="125313"/>
                </a:cubicBezTo>
                <a:lnTo>
                  <a:pt x="223614" y="127620"/>
                </a:lnTo>
                <a:cubicBezTo>
                  <a:pt x="227112" y="131118"/>
                  <a:pt x="227112" y="136773"/>
                  <a:pt x="223614" y="140233"/>
                </a:cubicBezTo>
                <a:cubicBezTo>
                  <a:pt x="220117" y="143694"/>
                  <a:pt x="214461" y="143731"/>
                  <a:pt x="211001" y="140233"/>
                </a:cubicBezTo>
                <a:lnTo>
                  <a:pt x="209476" y="138708"/>
                </a:lnTo>
                <a:lnTo>
                  <a:pt x="198276" y="149907"/>
                </a:lnTo>
                <a:lnTo>
                  <a:pt x="199802" y="151433"/>
                </a:lnTo>
                <a:cubicBezTo>
                  <a:pt x="203299" y="154930"/>
                  <a:pt x="203299" y="160586"/>
                  <a:pt x="199802" y="164046"/>
                </a:cubicBezTo>
                <a:cubicBezTo>
                  <a:pt x="196304" y="167506"/>
                  <a:pt x="190649" y="167543"/>
                  <a:pt x="187189" y="164046"/>
                </a:cubicBezTo>
                <a:lnTo>
                  <a:pt x="185663" y="162520"/>
                </a:lnTo>
                <a:cubicBezTo>
                  <a:pt x="181942" y="166241"/>
                  <a:pt x="178222" y="169962"/>
                  <a:pt x="174464" y="173720"/>
                </a:cubicBezTo>
                <a:lnTo>
                  <a:pt x="175989" y="175245"/>
                </a:lnTo>
                <a:cubicBezTo>
                  <a:pt x="179487" y="178743"/>
                  <a:pt x="179487" y="184398"/>
                  <a:pt x="175989" y="187858"/>
                </a:cubicBezTo>
                <a:cubicBezTo>
                  <a:pt x="172492" y="191319"/>
                  <a:pt x="166836" y="191356"/>
                  <a:pt x="163376" y="187858"/>
                </a:cubicBezTo>
                <a:lnTo>
                  <a:pt x="161032" y="185514"/>
                </a:lnTo>
                <a:cubicBezTo>
                  <a:pt x="158130" y="187226"/>
                  <a:pt x="155004" y="188491"/>
                  <a:pt x="151805" y="189347"/>
                </a:cubicBezTo>
                <a:lnTo>
                  <a:pt x="151805" y="193439"/>
                </a:lnTo>
                <a:cubicBezTo>
                  <a:pt x="151805" y="198388"/>
                  <a:pt x="147824" y="202369"/>
                  <a:pt x="142875" y="202369"/>
                </a:cubicBezTo>
                <a:cubicBezTo>
                  <a:pt x="137926" y="202369"/>
                  <a:pt x="133945" y="198388"/>
                  <a:pt x="133945" y="193439"/>
                </a:cubicBezTo>
                <a:lnTo>
                  <a:pt x="133945" y="189347"/>
                </a:lnTo>
                <a:cubicBezTo>
                  <a:pt x="130746" y="188528"/>
                  <a:pt x="127657" y="187263"/>
                  <a:pt x="124718" y="185514"/>
                </a:cubicBezTo>
                <a:lnTo>
                  <a:pt x="122411" y="187896"/>
                </a:lnTo>
                <a:cubicBezTo>
                  <a:pt x="118914" y="191393"/>
                  <a:pt x="113258" y="191393"/>
                  <a:pt x="109798" y="187896"/>
                </a:cubicBezTo>
                <a:cubicBezTo>
                  <a:pt x="106338" y="184398"/>
                  <a:pt x="106300" y="178743"/>
                  <a:pt x="109798" y="175282"/>
                </a:cubicBezTo>
                <a:lnTo>
                  <a:pt x="112142" y="172938"/>
                </a:lnTo>
                <a:cubicBezTo>
                  <a:pt x="110430" y="170036"/>
                  <a:pt x="109165" y="166911"/>
                  <a:pt x="108310" y="163711"/>
                </a:cubicBezTo>
                <a:lnTo>
                  <a:pt x="104217" y="163711"/>
                </a:lnTo>
                <a:cubicBezTo>
                  <a:pt x="99268" y="163711"/>
                  <a:pt x="95287" y="159730"/>
                  <a:pt x="95287" y="154781"/>
                </a:cubicBezTo>
                <a:cubicBezTo>
                  <a:pt x="95287" y="149833"/>
                  <a:pt x="99268" y="145852"/>
                  <a:pt x="104217" y="145852"/>
                </a:cubicBezTo>
                <a:lnTo>
                  <a:pt x="108310" y="145852"/>
                </a:lnTo>
                <a:cubicBezTo>
                  <a:pt x="109128" y="142652"/>
                  <a:pt x="110393" y="139564"/>
                  <a:pt x="112142" y="136624"/>
                </a:cubicBezTo>
                <a:lnTo>
                  <a:pt x="109761" y="134317"/>
                </a:lnTo>
                <a:cubicBezTo>
                  <a:pt x="106263" y="130820"/>
                  <a:pt x="106263" y="125164"/>
                  <a:pt x="109761" y="121704"/>
                </a:cubicBezTo>
                <a:cubicBezTo>
                  <a:pt x="113258" y="118244"/>
                  <a:pt x="118914" y="118207"/>
                  <a:pt x="122374" y="121704"/>
                </a:cubicBezTo>
                <a:lnTo>
                  <a:pt x="123899" y="123230"/>
                </a:lnTo>
                <a:cubicBezTo>
                  <a:pt x="127620" y="119509"/>
                  <a:pt x="131341" y="115788"/>
                  <a:pt x="135099" y="112030"/>
                </a:cubicBezTo>
                <a:lnTo>
                  <a:pt x="133573" y="110505"/>
                </a:lnTo>
                <a:cubicBezTo>
                  <a:pt x="130076" y="107007"/>
                  <a:pt x="130076" y="101352"/>
                  <a:pt x="133573" y="97892"/>
                </a:cubicBezTo>
                <a:cubicBezTo>
                  <a:pt x="137071" y="94431"/>
                  <a:pt x="142726" y="94394"/>
                  <a:pt x="146186" y="97892"/>
                </a:cubicBezTo>
                <a:lnTo>
                  <a:pt x="147712" y="99417"/>
                </a:lnTo>
                <a:lnTo>
                  <a:pt x="158911" y="88218"/>
                </a:lnTo>
                <a:lnTo>
                  <a:pt x="157386" y="86692"/>
                </a:lnTo>
                <a:cubicBezTo>
                  <a:pt x="153888" y="83195"/>
                  <a:pt x="153888" y="77539"/>
                  <a:pt x="157386" y="74079"/>
                </a:cubicBezTo>
                <a:cubicBezTo>
                  <a:pt x="160883" y="70619"/>
                  <a:pt x="166539" y="70582"/>
                  <a:pt x="169999" y="74079"/>
                </a:cubicBezTo>
                <a:lnTo>
                  <a:pt x="172343" y="76423"/>
                </a:lnTo>
                <a:cubicBezTo>
                  <a:pt x="175245" y="74712"/>
                  <a:pt x="178371" y="73447"/>
                  <a:pt x="181570" y="72591"/>
                </a:cubicBezTo>
                <a:lnTo>
                  <a:pt x="181570" y="68498"/>
                </a:lnTo>
                <a:cubicBezTo>
                  <a:pt x="181570" y="63550"/>
                  <a:pt x="185551" y="59568"/>
                  <a:pt x="190500" y="59568"/>
                </a:cubicBezTo>
                <a:cubicBezTo>
                  <a:pt x="195449" y="59568"/>
                  <a:pt x="199430" y="63550"/>
                  <a:pt x="199430" y="68498"/>
                </a:cubicBezTo>
                <a:close/>
                <a:moveTo>
                  <a:pt x="166688" y="142875"/>
                </a:moveTo>
                <a:cubicBezTo>
                  <a:pt x="166688" y="136304"/>
                  <a:pt x="161352" y="130969"/>
                  <a:pt x="154781" y="130969"/>
                </a:cubicBezTo>
                <a:cubicBezTo>
                  <a:pt x="148210" y="130969"/>
                  <a:pt x="142875" y="136304"/>
                  <a:pt x="142875" y="142875"/>
                </a:cubicBezTo>
                <a:cubicBezTo>
                  <a:pt x="142875" y="149446"/>
                  <a:pt x="148210" y="154781"/>
                  <a:pt x="154781" y="154781"/>
                </a:cubicBezTo>
                <a:cubicBezTo>
                  <a:pt x="161352" y="154781"/>
                  <a:pt x="166688" y="149446"/>
                  <a:pt x="166688" y="142875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4400550"/>
            <a:ext cx="2543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Bacteria &amp; Parasite Detection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500" y="4876800"/>
            <a:ext cx="340995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Identification of infectious agents in clinical samples for accurate diagnosis and treatment planning.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48150" y="4095750"/>
            <a:ext cx="3714750" cy="2381250"/>
          </a:xfrm>
          <a:custGeom>
            <a:avLst/>
            <a:gdLst/>
            <a:ahLst/>
            <a:cxnLst/>
            <a:rect l="l" t="t" r="r" b="b"/>
            <a:pathLst>
              <a:path w="3714750" h="2381250">
                <a:moveTo>
                  <a:pt x="38100" y="0"/>
                </a:moveTo>
                <a:lnTo>
                  <a:pt x="3676650" y="0"/>
                </a:lnTo>
                <a:cubicBezTo>
                  <a:pt x="3697678" y="0"/>
                  <a:pt x="3714750" y="17072"/>
                  <a:pt x="3714750" y="38100"/>
                </a:cubicBezTo>
                <a:lnTo>
                  <a:pt x="3714750" y="2266950"/>
                </a:lnTo>
                <a:cubicBezTo>
                  <a:pt x="3714750" y="2330034"/>
                  <a:pt x="3663534" y="2381250"/>
                  <a:pt x="3600450" y="2381250"/>
                </a:cubicBezTo>
                <a:lnTo>
                  <a:pt x="114300" y="2381250"/>
                </a:lnTo>
                <a:cubicBezTo>
                  <a:pt x="51216" y="2381250"/>
                  <a:pt x="0" y="2330034"/>
                  <a:pt x="0" y="2266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48150" y="4095750"/>
            <a:ext cx="3714750" cy="38100"/>
          </a:xfrm>
          <a:custGeom>
            <a:avLst/>
            <a:gdLst/>
            <a:ahLst/>
            <a:cxnLst/>
            <a:rect l="l" t="t" r="r" b="b"/>
            <a:pathLst>
              <a:path w="3714750" h="38100">
                <a:moveTo>
                  <a:pt x="38100" y="0"/>
                </a:moveTo>
                <a:lnTo>
                  <a:pt x="3676650" y="0"/>
                </a:lnTo>
                <a:cubicBezTo>
                  <a:pt x="3697678" y="0"/>
                  <a:pt x="3714750" y="17072"/>
                  <a:pt x="3714750" y="38100"/>
                </a:cubicBezTo>
                <a:lnTo>
                  <a:pt x="3714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7" name="Shape 25"/>
          <p:cNvSpPr/>
          <p:nvPr/>
        </p:nvSpPr>
        <p:spPr>
          <a:xfrm>
            <a:off x="4438650" y="4305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0" y="4438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0"/>
                </a:moveTo>
                <a:cubicBezTo>
                  <a:pt x="55625" y="0"/>
                  <a:pt x="47625" y="8000"/>
                  <a:pt x="47625" y="17859"/>
                </a:cubicBezTo>
                <a:lnTo>
                  <a:pt x="47625" y="95250"/>
                </a:lnTo>
                <a:cubicBezTo>
                  <a:pt x="47625" y="105110"/>
                  <a:pt x="55625" y="113109"/>
                  <a:pt x="65484" y="113109"/>
                </a:cubicBezTo>
                <a:lnTo>
                  <a:pt x="89297" y="113109"/>
                </a:lnTo>
                <a:cubicBezTo>
                  <a:pt x="99157" y="113109"/>
                  <a:pt x="107156" y="105110"/>
                  <a:pt x="107156" y="95250"/>
                </a:cubicBezTo>
                <a:lnTo>
                  <a:pt x="107156" y="71438"/>
                </a:lnTo>
                <a:lnTo>
                  <a:pt x="119063" y="71438"/>
                </a:lnTo>
                <a:cubicBezTo>
                  <a:pt x="145368" y="71438"/>
                  <a:pt x="166688" y="92757"/>
                  <a:pt x="166688" y="119063"/>
                </a:cubicBezTo>
                <a:cubicBezTo>
                  <a:pt x="166688" y="145368"/>
                  <a:pt x="145368" y="166688"/>
                  <a:pt x="119063" y="166688"/>
                </a:cubicBezTo>
                <a:lnTo>
                  <a:pt x="11906" y="166688"/>
                </a:lnTo>
                <a:cubicBezTo>
                  <a:pt x="5321" y="166688"/>
                  <a:pt x="0" y="172008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2008"/>
                  <a:pt x="185179" y="166688"/>
                  <a:pt x="178594" y="166688"/>
                </a:cubicBezTo>
                <a:lnTo>
                  <a:pt x="172306" y="166688"/>
                </a:lnTo>
                <a:cubicBezTo>
                  <a:pt x="183617" y="154037"/>
                  <a:pt x="190500" y="137368"/>
                  <a:pt x="190500" y="119063"/>
                </a:cubicBezTo>
                <a:cubicBezTo>
                  <a:pt x="190500" y="79623"/>
                  <a:pt x="158502" y="47625"/>
                  <a:pt x="119063" y="47625"/>
                </a:cubicBezTo>
                <a:lnTo>
                  <a:pt x="107156" y="47625"/>
                </a:lnTo>
                <a:lnTo>
                  <a:pt x="107156" y="17859"/>
                </a:lnTo>
                <a:cubicBezTo>
                  <a:pt x="107156" y="8000"/>
                  <a:pt x="99157" y="0"/>
                  <a:pt x="89297" y="0"/>
                </a:cubicBezTo>
                <a:lnTo>
                  <a:pt x="65484" y="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110133" y="148828"/>
                </a:lnTo>
                <a:cubicBezTo>
                  <a:pt x="115081" y="148828"/>
                  <a:pt x="119063" y="144847"/>
                  <a:pt x="119063" y="139898"/>
                </a:cubicBezTo>
                <a:cubicBezTo>
                  <a:pt x="119063" y="134950"/>
                  <a:pt x="115081" y="130969"/>
                  <a:pt x="110133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9" name="Text 27"/>
          <p:cNvSpPr/>
          <p:nvPr/>
        </p:nvSpPr>
        <p:spPr>
          <a:xfrm>
            <a:off x="5010150" y="4400550"/>
            <a:ext cx="2714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Pathological Sample Evaluation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38650" y="4876800"/>
            <a:ext cx="340995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analysis of diseased tissue and cellular abnormalities for clinical decision-making.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91500" y="1524000"/>
            <a:ext cx="3619500" cy="3333750"/>
          </a:xfrm>
          <a:custGeom>
            <a:avLst/>
            <a:gdLst/>
            <a:ahLst/>
            <a:cxnLst/>
            <a:rect l="l" t="t" r="r" b="b"/>
            <a:pathLst>
              <a:path w="3619500" h="3333750">
                <a:moveTo>
                  <a:pt x="114314" y="0"/>
                </a:moveTo>
                <a:lnTo>
                  <a:pt x="3505186" y="0"/>
                </a:lnTo>
                <a:cubicBezTo>
                  <a:pt x="3568320" y="0"/>
                  <a:pt x="3619500" y="51180"/>
                  <a:pt x="3619500" y="114314"/>
                </a:cubicBezTo>
                <a:lnTo>
                  <a:pt x="3619500" y="3219436"/>
                </a:lnTo>
                <a:cubicBezTo>
                  <a:pt x="3619500" y="3282570"/>
                  <a:pt x="3568320" y="3333750"/>
                  <a:pt x="3505186" y="3333750"/>
                </a:cubicBezTo>
                <a:lnTo>
                  <a:pt x="114314" y="3333750"/>
                </a:lnTo>
                <a:cubicBezTo>
                  <a:pt x="51180" y="3333750"/>
                  <a:pt x="0" y="3282570"/>
                  <a:pt x="0" y="3219436"/>
                </a:cubicBezTo>
                <a:lnTo>
                  <a:pt x="0" y="114314"/>
                </a:lnTo>
                <a:cubicBezTo>
                  <a:pt x="0" y="51180"/>
                  <a:pt x="51180" y="0"/>
                  <a:pt x="11431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32" name="Image 0" descr="https://kimi-web-img.moonshot.cn/img/wvumedicine.org/23945ecc3499f874f564b73754f6dd773334c8d9.jpg"/>
          <p:cNvPicPr>
            <a:picLocks noChangeAspect="1"/>
          </p:cNvPicPr>
          <p:nvPr/>
        </p:nvPicPr>
        <p:blipFill>
          <a:blip r:embed="rId3"/>
          <a:srcRect l="13781" r="13781"/>
          <a:stretch/>
        </p:blipFill>
        <p:spPr>
          <a:xfrm>
            <a:off x="8191500" y="1524000"/>
            <a:ext cx="3619500" cy="3333750"/>
          </a:xfrm>
          <a:prstGeom prst="roundRect">
            <a:avLst>
              <a:gd name="adj" fmla="val 3429"/>
            </a:avLst>
          </a:prstGeom>
        </p:spPr>
      </p:pic>
      <p:sp>
        <p:nvSpPr>
          <p:cNvPr id="33" name="Shape 30"/>
          <p:cNvSpPr/>
          <p:nvPr/>
        </p:nvSpPr>
        <p:spPr>
          <a:xfrm>
            <a:off x="8191500" y="5010150"/>
            <a:ext cx="3619500" cy="1466850"/>
          </a:xfrm>
          <a:custGeom>
            <a:avLst/>
            <a:gdLst/>
            <a:ahLst/>
            <a:cxnLst/>
            <a:rect l="l" t="t" r="r" b="b"/>
            <a:pathLst>
              <a:path w="3619500" h="1466850">
                <a:moveTo>
                  <a:pt x="114297" y="0"/>
                </a:moveTo>
                <a:lnTo>
                  <a:pt x="3505203" y="0"/>
                </a:lnTo>
                <a:cubicBezTo>
                  <a:pt x="3568328" y="0"/>
                  <a:pt x="3619500" y="51172"/>
                  <a:pt x="3619500" y="114297"/>
                </a:cubicBezTo>
                <a:lnTo>
                  <a:pt x="3619500" y="1352553"/>
                </a:lnTo>
                <a:cubicBezTo>
                  <a:pt x="3619500" y="1415678"/>
                  <a:pt x="3568328" y="1466850"/>
                  <a:pt x="3505203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4" name="Shape 31"/>
          <p:cNvSpPr/>
          <p:nvPr/>
        </p:nvSpPr>
        <p:spPr>
          <a:xfrm>
            <a:off x="8362950" y="5238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35" name="Text 32"/>
          <p:cNvSpPr/>
          <p:nvPr/>
        </p:nvSpPr>
        <p:spPr>
          <a:xfrm>
            <a:off x="8644533" y="5200650"/>
            <a:ext cx="3057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Importance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644533" y="5543550"/>
            <a:ext cx="3048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precision is essential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as diagnostic errors may significantly affect medical decisions and patient outcomes.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9587" y="5524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228600"/>
                </a:moveTo>
                <a:lnTo>
                  <a:pt x="42863" y="228600"/>
                </a:lnTo>
                <a:cubicBezTo>
                  <a:pt x="19199" y="228600"/>
                  <a:pt x="0" y="209401"/>
                  <a:pt x="0" y="185738"/>
                </a:cubicBezTo>
                <a:lnTo>
                  <a:pt x="0" y="42863"/>
                </a:lnTo>
                <a:cubicBezTo>
                  <a:pt x="0" y="19199"/>
                  <a:pt x="19199" y="0"/>
                  <a:pt x="42863" y="0"/>
                </a:cubicBezTo>
                <a:lnTo>
                  <a:pt x="178594" y="0"/>
                </a:lnTo>
                <a:cubicBezTo>
                  <a:pt x="190426" y="0"/>
                  <a:pt x="200025" y="9599"/>
                  <a:pt x="200025" y="21431"/>
                </a:cubicBezTo>
                <a:lnTo>
                  <a:pt x="200025" y="150019"/>
                </a:lnTo>
                <a:cubicBezTo>
                  <a:pt x="200025" y="159350"/>
                  <a:pt x="194042" y="167298"/>
                  <a:pt x="185738" y="170244"/>
                </a:cubicBezTo>
                <a:lnTo>
                  <a:pt x="185738" y="200025"/>
                </a:lnTo>
                <a:cubicBezTo>
                  <a:pt x="193640" y="200025"/>
                  <a:pt x="200025" y="206410"/>
                  <a:pt x="200025" y="214313"/>
                </a:cubicBezTo>
                <a:cubicBezTo>
                  <a:pt x="200025" y="222215"/>
                  <a:pt x="193640" y="228600"/>
                  <a:pt x="185738" y="228600"/>
                </a:cubicBezTo>
                <a:lnTo>
                  <a:pt x="171450" y="228600"/>
                </a:lnTo>
                <a:close/>
                <a:moveTo>
                  <a:pt x="42863" y="171450"/>
                </a:moveTo>
                <a:cubicBezTo>
                  <a:pt x="34960" y="171450"/>
                  <a:pt x="28575" y="177835"/>
                  <a:pt x="28575" y="185738"/>
                </a:cubicBezTo>
                <a:cubicBezTo>
                  <a:pt x="28575" y="193640"/>
                  <a:pt x="34960" y="200025"/>
                  <a:pt x="42863" y="200025"/>
                </a:cubicBezTo>
                <a:lnTo>
                  <a:pt x="157163" y="200025"/>
                </a:lnTo>
                <a:lnTo>
                  <a:pt x="157163" y="171450"/>
                </a:lnTo>
                <a:lnTo>
                  <a:pt x="42863" y="171450"/>
                </a:lnTo>
                <a:close/>
                <a:moveTo>
                  <a:pt x="57150" y="67866"/>
                </a:moveTo>
                <a:cubicBezTo>
                  <a:pt x="57150" y="73804"/>
                  <a:pt x="61927" y="78581"/>
                  <a:pt x="67866" y="78581"/>
                </a:cubicBezTo>
                <a:lnTo>
                  <a:pt x="146447" y="78581"/>
                </a:lnTo>
                <a:cubicBezTo>
                  <a:pt x="152385" y="78581"/>
                  <a:pt x="157163" y="73804"/>
                  <a:pt x="157163" y="67866"/>
                </a:cubicBezTo>
                <a:cubicBezTo>
                  <a:pt x="157163" y="61927"/>
                  <a:pt x="152385" y="57150"/>
                  <a:pt x="146447" y="57150"/>
                </a:cubicBezTo>
                <a:lnTo>
                  <a:pt x="67866" y="57150"/>
                </a:lnTo>
                <a:cubicBezTo>
                  <a:pt x="61927" y="57150"/>
                  <a:pt x="57150" y="61927"/>
                  <a:pt x="57150" y="67866"/>
                </a:cubicBezTo>
                <a:close/>
                <a:moveTo>
                  <a:pt x="67866" y="100013"/>
                </a:moveTo>
                <a:cubicBezTo>
                  <a:pt x="61927" y="100013"/>
                  <a:pt x="57150" y="104790"/>
                  <a:pt x="57150" y="110728"/>
                </a:cubicBezTo>
                <a:cubicBezTo>
                  <a:pt x="57150" y="116666"/>
                  <a:pt x="61927" y="121444"/>
                  <a:pt x="67866" y="121444"/>
                </a:cubicBezTo>
                <a:lnTo>
                  <a:pt x="146447" y="121444"/>
                </a:lnTo>
                <a:cubicBezTo>
                  <a:pt x="152385" y="121444"/>
                  <a:pt x="157163" y="116666"/>
                  <a:pt x="157163" y="110728"/>
                </a:cubicBezTo>
                <a:cubicBezTo>
                  <a:pt x="157163" y="104790"/>
                  <a:pt x="152385" y="100013"/>
                  <a:pt x="146447" y="100013"/>
                </a:cubicBezTo>
                <a:lnTo>
                  <a:pt x="67866" y="100013"/>
                </a:ln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4" name="Text 2"/>
          <p:cNvSpPr/>
          <p:nvPr/>
        </p:nvSpPr>
        <p:spPr>
          <a:xfrm>
            <a:off x="124364" y="352425"/>
            <a:ext cx="2695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53" dirty="0">
                <a:solidFill>
                  <a:srgbClr val="1ABC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2800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57300"/>
            <a:ext cx="11430000" cy="2133600"/>
          </a:xfrm>
          <a:custGeom>
            <a:avLst/>
            <a:gdLst/>
            <a:ahLst/>
            <a:cxnLst/>
            <a:rect l="l" t="t" r="r" b="b"/>
            <a:pathLst>
              <a:path w="11430000" h="21336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2019303"/>
                </a:lnTo>
                <a:cubicBezTo>
                  <a:pt x="11430000" y="2082428"/>
                  <a:pt x="11378828" y="2133600"/>
                  <a:pt x="11315703" y="2133600"/>
                </a:cubicBezTo>
                <a:lnTo>
                  <a:pt x="114297" y="2133600"/>
                </a:lnTo>
                <a:cubicBezTo>
                  <a:pt x="51172" y="2133600"/>
                  <a:pt x="0" y="2082428"/>
                  <a:pt x="0" y="20193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9600" y="1485900"/>
            <a:ext cx="11058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Recent studies focus on: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8650" y="1905000"/>
            <a:ext cx="3533775" cy="1257300"/>
          </a:xfrm>
          <a:custGeom>
            <a:avLst/>
            <a:gdLst/>
            <a:ahLst/>
            <a:cxnLst/>
            <a:rect l="l" t="t" r="r" b="b"/>
            <a:pathLst>
              <a:path w="3533775" h="1257300">
                <a:moveTo>
                  <a:pt x="38100" y="0"/>
                </a:moveTo>
                <a:lnTo>
                  <a:pt x="3419474" y="0"/>
                </a:lnTo>
                <a:cubicBezTo>
                  <a:pt x="3482558" y="0"/>
                  <a:pt x="3533775" y="51217"/>
                  <a:pt x="3533775" y="114301"/>
                </a:cubicBezTo>
                <a:lnTo>
                  <a:pt x="3533775" y="1142999"/>
                </a:lnTo>
                <a:cubicBezTo>
                  <a:pt x="3533775" y="1206083"/>
                  <a:pt x="3482558" y="1257300"/>
                  <a:pt x="3419474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8650" y="19050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0" name="Shape 8"/>
          <p:cNvSpPr/>
          <p:nvPr/>
        </p:nvSpPr>
        <p:spPr>
          <a:xfrm>
            <a:off x="881063" y="21145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57150" y="50006"/>
                </a:moveTo>
                <a:cubicBezTo>
                  <a:pt x="68978" y="50006"/>
                  <a:pt x="78581" y="59609"/>
                  <a:pt x="78581" y="71438"/>
                </a:cubicBezTo>
                <a:cubicBezTo>
                  <a:pt x="78581" y="83266"/>
                  <a:pt x="68978" y="92869"/>
                  <a:pt x="57150" y="92869"/>
                </a:cubicBezTo>
                <a:cubicBezTo>
                  <a:pt x="45322" y="92869"/>
                  <a:pt x="35719" y="83266"/>
                  <a:pt x="35719" y="71438"/>
                </a:cubicBezTo>
                <a:cubicBezTo>
                  <a:pt x="35719" y="59609"/>
                  <a:pt x="45322" y="50006"/>
                  <a:pt x="57150" y="50006"/>
                </a:cubicBezTo>
                <a:close/>
                <a:moveTo>
                  <a:pt x="121444" y="100013"/>
                </a:moveTo>
                <a:cubicBezTo>
                  <a:pt x="125194" y="100013"/>
                  <a:pt x="128632" y="101977"/>
                  <a:pt x="130597" y="105147"/>
                </a:cubicBezTo>
                <a:lnTo>
                  <a:pt x="169887" y="169441"/>
                </a:lnTo>
                <a:cubicBezTo>
                  <a:pt x="171896" y="172745"/>
                  <a:pt x="171986" y="176897"/>
                  <a:pt x="170111" y="180290"/>
                </a:cubicBezTo>
                <a:cubicBezTo>
                  <a:pt x="168235" y="183684"/>
                  <a:pt x="164619" y="185738"/>
                  <a:pt x="160734" y="185738"/>
                </a:cubicBezTo>
                <a:lnTo>
                  <a:pt x="39291" y="185738"/>
                </a:lnTo>
                <a:cubicBezTo>
                  <a:pt x="35317" y="185738"/>
                  <a:pt x="31611" y="183505"/>
                  <a:pt x="29781" y="179978"/>
                </a:cubicBezTo>
                <a:cubicBezTo>
                  <a:pt x="27950" y="176451"/>
                  <a:pt x="28218" y="172164"/>
                  <a:pt x="30495" y="168905"/>
                </a:cubicBezTo>
                <a:lnTo>
                  <a:pt x="55498" y="133186"/>
                </a:lnTo>
                <a:cubicBezTo>
                  <a:pt x="57507" y="130329"/>
                  <a:pt x="60767" y="128632"/>
                  <a:pt x="64294" y="128632"/>
                </a:cubicBezTo>
                <a:cubicBezTo>
                  <a:pt x="67821" y="128632"/>
                  <a:pt x="71080" y="130329"/>
                  <a:pt x="73089" y="133186"/>
                </a:cubicBezTo>
                <a:lnTo>
                  <a:pt x="84877" y="150063"/>
                </a:lnTo>
                <a:lnTo>
                  <a:pt x="112291" y="105192"/>
                </a:lnTo>
                <a:cubicBezTo>
                  <a:pt x="114255" y="102022"/>
                  <a:pt x="117693" y="100057"/>
                  <a:pt x="121444" y="100057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2095500"/>
            <a:ext cx="2152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Image Enhancement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" y="2476500"/>
            <a:ext cx="32099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techniques for improving microscopy image quality and clarity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36971" y="1905000"/>
            <a:ext cx="3533775" cy="1257300"/>
          </a:xfrm>
          <a:custGeom>
            <a:avLst/>
            <a:gdLst/>
            <a:ahLst/>
            <a:cxnLst/>
            <a:rect l="l" t="t" r="r" b="b"/>
            <a:pathLst>
              <a:path w="3533775" h="1257300">
                <a:moveTo>
                  <a:pt x="38100" y="0"/>
                </a:moveTo>
                <a:lnTo>
                  <a:pt x="3419474" y="0"/>
                </a:lnTo>
                <a:cubicBezTo>
                  <a:pt x="3482558" y="0"/>
                  <a:pt x="3533775" y="51217"/>
                  <a:pt x="3533775" y="114301"/>
                </a:cubicBezTo>
                <a:lnTo>
                  <a:pt x="3533775" y="1142999"/>
                </a:lnTo>
                <a:cubicBezTo>
                  <a:pt x="3533775" y="1206083"/>
                  <a:pt x="3482558" y="1257300"/>
                  <a:pt x="3419474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36971" y="19050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5096" y="2114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6" name="Text 14"/>
          <p:cNvSpPr/>
          <p:nvPr/>
        </p:nvSpPr>
        <p:spPr>
          <a:xfrm>
            <a:off x="4946571" y="2095500"/>
            <a:ext cx="223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 Classification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46521" y="2476500"/>
            <a:ext cx="32099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AI-driven approaches for automated cell and tissue classification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5411" y="1905000"/>
            <a:ext cx="3533775" cy="1257300"/>
          </a:xfrm>
          <a:custGeom>
            <a:avLst/>
            <a:gdLst/>
            <a:ahLst/>
            <a:cxnLst/>
            <a:rect l="l" t="t" r="r" b="b"/>
            <a:pathLst>
              <a:path w="3533775" h="1257300">
                <a:moveTo>
                  <a:pt x="38100" y="0"/>
                </a:moveTo>
                <a:lnTo>
                  <a:pt x="3419474" y="0"/>
                </a:lnTo>
                <a:cubicBezTo>
                  <a:pt x="3482558" y="0"/>
                  <a:pt x="3533775" y="51217"/>
                  <a:pt x="3533775" y="114301"/>
                </a:cubicBezTo>
                <a:lnTo>
                  <a:pt x="3533775" y="1142999"/>
                </a:lnTo>
                <a:cubicBezTo>
                  <a:pt x="3533775" y="1206083"/>
                  <a:pt x="3482558" y="1257300"/>
                  <a:pt x="3419474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D7E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45411" y="19050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0" name="Shape 18"/>
          <p:cNvSpPr/>
          <p:nvPr/>
        </p:nvSpPr>
        <p:spPr>
          <a:xfrm>
            <a:off x="8326398" y="211455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1" name="Text 19"/>
          <p:cNvSpPr/>
          <p:nvPr/>
        </p:nvSpPr>
        <p:spPr>
          <a:xfrm>
            <a:off x="8655011" y="2095500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Low-Cost Development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54961" y="2476500"/>
            <a:ext cx="32099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Efforts to make digital microscopy accessible and affordable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1000" y="3581400"/>
            <a:ext cx="5619750" cy="2895600"/>
          </a:xfrm>
          <a:custGeom>
            <a:avLst/>
            <a:gdLst/>
            <a:ahLst/>
            <a:cxnLst/>
            <a:rect l="l" t="t" r="r" b="b"/>
            <a:pathLst>
              <a:path w="5619750" h="2895600">
                <a:moveTo>
                  <a:pt x="114289" y="0"/>
                </a:moveTo>
                <a:lnTo>
                  <a:pt x="5505461" y="0"/>
                </a:lnTo>
                <a:cubicBezTo>
                  <a:pt x="5568581" y="0"/>
                  <a:pt x="5619750" y="51169"/>
                  <a:pt x="5619750" y="114289"/>
                </a:cubicBezTo>
                <a:lnTo>
                  <a:pt x="5619750" y="2781311"/>
                </a:lnTo>
                <a:cubicBezTo>
                  <a:pt x="5619750" y="2844431"/>
                  <a:pt x="5568581" y="2895600"/>
                  <a:pt x="5505461" y="2895600"/>
                </a:cubicBezTo>
                <a:lnTo>
                  <a:pt x="114289" y="2895600"/>
                </a:lnTo>
                <a:cubicBezTo>
                  <a:pt x="51169" y="2895600"/>
                  <a:pt x="0" y="2844431"/>
                  <a:pt x="0" y="2781311"/>
                </a:cubicBezTo>
                <a:lnTo>
                  <a:pt x="0" y="114289"/>
                </a:lnTo>
                <a:cubicBezTo>
                  <a:pt x="0" y="51211"/>
                  <a:pt x="51211" y="0"/>
                  <a:pt x="114289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600" y="44457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23900" y="456009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181100" y="4521994"/>
            <a:ext cx="251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Gap Identified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9600" y="5055394"/>
            <a:ext cx="52482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However, many existing systems are either </a:t>
            </a: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expensive</a:t>
            </a: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lack </a:t>
            </a: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integration</a:t>
            </a: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hardware and AI components.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1250" y="3581400"/>
            <a:ext cx="5619750" cy="2895600"/>
          </a:xfrm>
          <a:custGeom>
            <a:avLst/>
            <a:gdLst/>
            <a:ahLst/>
            <a:cxnLst/>
            <a:rect l="l" t="t" r="r" b="b"/>
            <a:pathLst>
              <a:path w="5619750" h="2895600">
                <a:moveTo>
                  <a:pt x="114289" y="0"/>
                </a:moveTo>
                <a:lnTo>
                  <a:pt x="5505461" y="0"/>
                </a:lnTo>
                <a:cubicBezTo>
                  <a:pt x="5568581" y="0"/>
                  <a:pt x="5619750" y="51169"/>
                  <a:pt x="5619750" y="114289"/>
                </a:cubicBezTo>
                <a:lnTo>
                  <a:pt x="5619750" y="2781311"/>
                </a:lnTo>
                <a:cubicBezTo>
                  <a:pt x="5619750" y="2844431"/>
                  <a:pt x="5568581" y="2895600"/>
                  <a:pt x="5505461" y="2895600"/>
                </a:cubicBezTo>
                <a:lnTo>
                  <a:pt x="114289" y="2895600"/>
                </a:lnTo>
                <a:cubicBezTo>
                  <a:pt x="51169" y="2895600"/>
                  <a:pt x="0" y="2844431"/>
                  <a:pt x="0" y="2781311"/>
                </a:cubicBezTo>
                <a:lnTo>
                  <a:pt x="0" y="114289"/>
                </a:lnTo>
                <a:cubicBezTo>
                  <a:pt x="0" y="51211"/>
                  <a:pt x="51211" y="0"/>
                  <a:pt x="114289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9" name="Shape 27"/>
          <p:cNvSpPr/>
          <p:nvPr/>
        </p:nvSpPr>
        <p:spPr>
          <a:xfrm>
            <a:off x="6419850" y="44457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62725" y="4560094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991350" y="4521994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Contribution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19850" y="5055394"/>
            <a:ext cx="52482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aims to provide a </a:t>
            </a: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cost-effective</a:t>
            </a: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smart solution</a:t>
            </a: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bridges this gap.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55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3562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53" dirty="0">
                <a:solidFill>
                  <a:srgbClr val="1ABC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Requirements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3667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Components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257300"/>
            <a:ext cx="3600450" cy="1800225"/>
          </a:xfrm>
          <a:custGeom>
            <a:avLst/>
            <a:gdLst/>
            <a:ahLst/>
            <a:cxnLst/>
            <a:rect l="l" t="t" r="r" b="b"/>
            <a:pathLst>
              <a:path w="3600450" h="1800225">
                <a:moveTo>
                  <a:pt x="38100" y="0"/>
                </a:moveTo>
                <a:lnTo>
                  <a:pt x="3486154" y="0"/>
                </a:lnTo>
                <a:cubicBezTo>
                  <a:pt x="3549236" y="0"/>
                  <a:pt x="3600450" y="51214"/>
                  <a:pt x="3600450" y="114296"/>
                </a:cubicBezTo>
                <a:lnTo>
                  <a:pt x="3600450" y="1685929"/>
                </a:lnTo>
                <a:cubicBezTo>
                  <a:pt x="3600450" y="1749011"/>
                  <a:pt x="3549236" y="1800225"/>
                  <a:pt x="3486154" y="1800225"/>
                </a:cubicBezTo>
                <a:lnTo>
                  <a:pt x="38100" y="1800225"/>
                </a:lnTo>
                <a:cubicBezTo>
                  <a:pt x="17072" y="1800225"/>
                  <a:pt x="0" y="1783153"/>
                  <a:pt x="0" y="1762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0050" y="1257300"/>
            <a:ext cx="38100" cy="1800225"/>
          </a:xfrm>
          <a:custGeom>
            <a:avLst/>
            <a:gdLst/>
            <a:ahLst/>
            <a:cxnLst/>
            <a:rect l="l" t="t" r="r" b="b"/>
            <a:pathLst>
              <a:path w="38100" h="1800225">
                <a:moveTo>
                  <a:pt x="38100" y="0"/>
                </a:moveTo>
                <a:lnTo>
                  <a:pt x="38100" y="0"/>
                </a:lnTo>
                <a:lnTo>
                  <a:pt x="38100" y="1800225"/>
                </a:lnTo>
                <a:lnTo>
                  <a:pt x="38100" y="1800225"/>
                </a:lnTo>
                <a:cubicBezTo>
                  <a:pt x="17072" y="1800225"/>
                  <a:pt x="0" y="1783153"/>
                  <a:pt x="0" y="1762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8" name="Shape 6"/>
          <p:cNvSpPr/>
          <p:nvPr/>
        </p:nvSpPr>
        <p:spPr>
          <a:xfrm>
            <a:off x="647700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81050" y="1619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0"/>
                </a:moveTo>
                <a:cubicBezTo>
                  <a:pt x="55625" y="0"/>
                  <a:pt x="47625" y="8000"/>
                  <a:pt x="47625" y="17859"/>
                </a:cubicBezTo>
                <a:lnTo>
                  <a:pt x="47625" y="95250"/>
                </a:lnTo>
                <a:cubicBezTo>
                  <a:pt x="47625" y="105110"/>
                  <a:pt x="55625" y="113109"/>
                  <a:pt x="65484" y="113109"/>
                </a:cubicBezTo>
                <a:lnTo>
                  <a:pt x="89297" y="113109"/>
                </a:lnTo>
                <a:cubicBezTo>
                  <a:pt x="99157" y="113109"/>
                  <a:pt x="107156" y="105110"/>
                  <a:pt x="107156" y="95250"/>
                </a:cubicBezTo>
                <a:lnTo>
                  <a:pt x="107156" y="71438"/>
                </a:lnTo>
                <a:lnTo>
                  <a:pt x="119063" y="71438"/>
                </a:lnTo>
                <a:cubicBezTo>
                  <a:pt x="145368" y="71438"/>
                  <a:pt x="166688" y="92757"/>
                  <a:pt x="166688" y="119063"/>
                </a:cubicBezTo>
                <a:cubicBezTo>
                  <a:pt x="166688" y="145368"/>
                  <a:pt x="145368" y="166688"/>
                  <a:pt x="119063" y="166688"/>
                </a:cubicBezTo>
                <a:lnTo>
                  <a:pt x="11906" y="166688"/>
                </a:lnTo>
                <a:cubicBezTo>
                  <a:pt x="5321" y="166688"/>
                  <a:pt x="0" y="172008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2008"/>
                  <a:pt x="185179" y="166688"/>
                  <a:pt x="178594" y="166688"/>
                </a:cubicBezTo>
                <a:lnTo>
                  <a:pt x="172306" y="166688"/>
                </a:lnTo>
                <a:cubicBezTo>
                  <a:pt x="183617" y="154037"/>
                  <a:pt x="190500" y="137368"/>
                  <a:pt x="190500" y="119063"/>
                </a:cubicBezTo>
                <a:cubicBezTo>
                  <a:pt x="190500" y="79623"/>
                  <a:pt x="158502" y="47625"/>
                  <a:pt x="119063" y="47625"/>
                </a:cubicBezTo>
                <a:lnTo>
                  <a:pt x="107156" y="47625"/>
                </a:lnTo>
                <a:lnTo>
                  <a:pt x="107156" y="17859"/>
                </a:lnTo>
                <a:cubicBezTo>
                  <a:pt x="107156" y="8000"/>
                  <a:pt x="99157" y="0"/>
                  <a:pt x="89297" y="0"/>
                </a:cubicBezTo>
                <a:lnTo>
                  <a:pt x="65484" y="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110133" y="148828"/>
                </a:lnTo>
                <a:cubicBezTo>
                  <a:pt x="115081" y="148828"/>
                  <a:pt x="119063" y="144847"/>
                  <a:pt x="119063" y="139898"/>
                </a:cubicBezTo>
                <a:cubicBezTo>
                  <a:pt x="119063" y="134950"/>
                  <a:pt x="115081" y="130969"/>
                  <a:pt x="110133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1581150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Optical Microscope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700" y="2057400"/>
            <a:ext cx="32004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High-quality optical system for initial sample magnification and visualization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71950" y="1257300"/>
            <a:ext cx="3600450" cy="1800225"/>
          </a:xfrm>
          <a:custGeom>
            <a:avLst/>
            <a:gdLst/>
            <a:ahLst/>
            <a:cxnLst/>
            <a:rect l="l" t="t" r="r" b="b"/>
            <a:pathLst>
              <a:path w="3600450" h="1800225">
                <a:moveTo>
                  <a:pt x="38100" y="0"/>
                </a:moveTo>
                <a:lnTo>
                  <a:pt x="3486154" y="0"/>
                </a:lnTo>
                <a:cubicBezTo>
                  <a:pt x="3549236" y="0"/>
                  <a:pt x="3600450" y="51214"/>
                  <a:pt x="3600450" y="114296"/>
                </a:cubicBezTo>
                <a:lnTo>
                  <a:pt x="3600450" y="1685929"/>
                </a:lnTo>
                <a:cubicBezTo>
                  <a:pt x="3600450" y="1749011"/>
                  <a:pt x="3549236" y="1800225"/>
                  <a:pt x="3486154" y="1800225"/>
                </a:cubicBezTo>
                <a:lnTo>
                  <a:pt x="38100" y="1800225"/>
                </a:lnTo>
                <a:cubicBezTo>
                  <a:pt x="17072" y="1800225"/>
                  <a:pt x="0" y="1783153"/>
                  <a:pt x="0" y="1762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71950" y="1257300"/>
            <a:ext cx="38100" cy="1800225"/>
          </a:xfrm>
          <a:custGeom>
            <a:avLst/>
            <a:gdLst/>
            <a:ahLst/>
            <a:cxnLst/>
            <a:rect l="l" t="t" r="r" b="b"/>
            <a:pathLst>
              <a:path w="38100" h="1800225">
                <a:moveTo>
                  <a:pt x="38100" y="0"/>
                </a:moveTo>
                <a:lnTo>
                  <a:pt x="38100" y="0"/>
                </a:lnTo>
                <a:lnTo>
                  <a:pt x="38100" y="1800225"/>
                </a:lnTo>
                <a:lnTo>
                  <a:pt x="38100" y="1800225"/>
                </a:lnTo>
                <a:cubicBezTo>
                  <a:pt x="17072" y="1800225"/>
                  <a:pt x="0" y="1783153"/>
                  <a:pt x="0" y="1762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4" name="Shape 12"/>
          <p:cNvSpPr/>
          <p:nvPr/>
        </p:nvSpPr>
        <p:spPr>
          <a:xfrm>
            <a:off x="4419600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52950" y="1619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5476" y="24110"/>
                </a:moveTo>
                <a:lnTo>
                  <a:pt x="51606" y="35719"/>
                </a:lnTo>
                <a:lnTo>
                  <a:pt x="23812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66688" y="178594"/>
                </a:lnTo>
                <a:cubicBezTo>
                  <a:pt x="179822" y="178594"/>
                  <a:pt x="190500" y="167915"/>
                  <a:pt x="190500" y="154781"/>
                </a:cubicBezTo>
                <a:lnTo>
                  <a:pt x="190500" y="59531"/>
                </a:lnTo>
                <a:cubicBezTo>
                  <a:pt x="190500" y="46397"/>
                  <a:pt x="179822" y="35719"/>
                  <a:pt x="166688" y="35719"/>
                </a:cubicBezTo>
                <a:lnTo>
                  <a:pt x="138894" y="35719"/>
                </a:lnTo>
                <a:lnTo>
                  <a:pt x="135024" y="24110"/>
                </a:lnTo>
                <a:cubicBezTo>
                  <a:pt x="132606" y="16818"/>
                  <a:pt x="125797" y="11906"/>
                  <a:pt x="118095" y="11906"/>
                </a:cubicBezTo>
                <a:lnTo>
                  <a:pt x="72405" y="11906"/>
                </a:lnTo>
                <a:cubicBezTo>
                  <a:pt x="64703" y="11906"/>
                  <a:pt x="57894" y="16818"/>
                  <a:pt x="55476" y="24110"/>
                </a:cubicBezTo>
                <a:close/>
                <a:moveTo>
                  <a:pt x="95250" y="71438"/>
                </a:moveTo>
                <a:cubicBezTo>
                  <a:pt x="114964" y="71438"/>
                  <a:pt x="130969" y="87443"/>
                  <a:pt x="130969" y="107156"/>
                </a:cubicBezTo>
                <a:cubicBezTo>
                  <a:pt x="130969" y="126870"/>
                  <a:pt x="114964" y="142875"/>
                  <a:pt x="95250" y="142875"/>
                </a:cubicBezTo>
                <a:cubicBezTo>
                  <a:pt x="75536" y="142875"/>
                  <a:pt x="59531" y="126870"/>
                  <a:pt x="59531" y="107156"/>
                </a:cubicBezTo>
                <a:cubicBezTo>
                  <a:pt x="59531" y="87443"/>
                  <a:pt x="75536" y="71438"/>
                  <a:pt x="95250" y="71438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6" name="Text 14"/>
          <p:cNvSpPr/>
          <p:nvPr/>
        </p:nvSpPr>
        <p:spPr>
          <a:xfrm>
            <a:off x="4991100" y="1581150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Camera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19600" y="2057400"/>
            <a:ext cx="32004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High-resolution imaging sensor for capturing detailed microscopic images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213022"/>
            <a:ext cx="3600450" cy="1800225"/>
          </a:xfrm>
          <a:custGeom>
            <a:avLst/>
            <a:gdLst/>
            <a:ahLst/>
            <a:cxnLst/>
            <a:rect l="l" t="t" r="r" b="b"/>
            <a:pathLst>
              <a:path w="3600450" h="1800225">
                <a:moveTo>
                  <a:pt x="38100" y="0"/>
                </a:moveTo>
                <a:lnTo>
                  <a:pt x="3486154" y="0"/>
                </a:lnTo>
                <a:cubicBezTo>
                  <a:pt x="3549236" y="0"/>
                  <a:pt x="3600450" y="51214"/>
                  <a:pt x="3600450" y="114296"/>
                </a:cubicBezTo>
                <a:lnTo>
                  <a:pt x="3600450" y="1685929"/>
                </a:lnTo>
                <a:cubicBezTo>
                  <a:pt x="3600450" y="1749011"/>
                  <a:pt x="3549236" y="1800225"/>
                  <a:pt x="3486154" y="1800225"/>
                </a:cubicBezTo>
                <a:lnTo>
                  <a:pt x="38100" y="1800225"/>
                </a:lnTo>
                <a:cubicBezTo>
                  <a:pt x="17072" y="1800225"/>
                  <a:pt x="0" y="1783153"/>
                  <a:pt x="0" y="1762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0050" y="3213022"/>
            <a:ext cx="38100" cy="1800225"/>
          </a:xfrm>
          <a:custGeom>
            <a:avLst/>
            <a:gdLst/>
            <a:ahLst/>
            <a:cxnLst/>
            <a:rect l="l" t="t" r="r" b="b"/>
            <a:pathLst>
              <a:path w="38100" h="1800225">
                <a:moveTo>
                  <a:pt x="38100" y="0"/>
                </a:moveTo>
                <a:lnTo>
                  <a:pt x="38100" y="0"/>
                </a:lnTo>
                <a:lnTo>
                  <a:pt x="38100" y="1800225"/>
                </a:lnTo>
                <a:lnTo>
                  <a:pt x="38100" y="1800225"/>
                </a:lnTo>
                <a:cubicBezTo>
                  <a:pt x="17072" y="1800225"/>
                  <a:pt x="0" y="1783153"/>
                  <a:pt x="0" y="1762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7700" y="344162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D6D7E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81050" y="357497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9664" y="83344"/>
                </a:moveTo>
                <a:lnTo>
                  <a:pt x="116086" y="83344"/>
                </a:lnTo>
                <a:cubicBezTo>
                  <a:pt x="111137" y="83344"/>
                  <a:pt x="107156" y="79363"/>
                  <a:pt x="107156" y="74414"/>
                </a:cubicBezTo>
                <a:lnTo>
                  <a:pt x="107156" y="20836"/>
                </a:lnTo>
                <a:cubicBezTo>
                  <a:pt x="107156" y="17227"/>
                  <a:pt x="109314" y="13953"/>
                  <a:pt x="112663" y="12576"/>
                </a:cubicBezTo>
                <a:cubicBezTo>
                  <a:pt x="116012" y="11199"/>
                  <a:pt x="119844" y="11981"/>
                  <a:pt x="122411" y="14511"/>
                </a:cubicBezTo>
                <a:lnTo>
                  <a:pt x="137294" y="29394"/>
                </a:lnTo>
                <a:lnTo>
                  <a:pt x="164604" y="2084"/>
                </a:lnTo>
                <a:cubicBezTo>
                  <a:pt x="165943" y="744"/>
                  <a:pt x="167767" y="0"/>
                  <a:pt x="169664" y="0"/>
                </a:cubicBezTo>
                <a:cubicBezTo>
                  <a:pt x="171562" y="0"/>
                  <a:pt x="173385" y="744"/>
                  <a:pt x="174761" y="2121"/>
                </a:cubicBezTo>
                <a:lnTo>
                  <a:pt x="188416" y="15776"/>
                </a:lnTo>
                <a:cubicBezTo>
                  <a:pt x="189756" y="17115"/>
                  <a:pt x="190500" y="18938"/>
                  <a:pt x="190500" y="20836"/>
                </a:cubicBezTo>
                <a:cubicBezTo>
                  <a:pt x="190500" y="22733"/>
                  <a:pt x="189756" y="24557"/>
                  <a:pt x="188379" y="25933"/>
                </a:cubicBezTo>
                <a:lnTo>
                  <a:pt x="161106" y="53206"/>
                </a:lnTo>
                <a:lnTo>
                  <a:pt x="175989" y="68089"/>
                </a:lnTo>
                <a:cubicBezTo>
                  <a:pt x="178557" y="70656"/>
                  <a:pt x="179301" y="74488"/>
                  <a:pt x="177924" y="77837"/>
                </a:cubicBezTo>
                <a:cubicBezTo>
                  <a:pt x="176547" y="81186"/>
                  <a:pt x="173273" y="83344"/>
                  <a:pt x="169664" y="83344"/>
                </a:cubicBezTo>
                <a:close/>
                <a:moveTo>
                  <a:pt x="169664" y="107156"/>
                </a:moveTo>
                <a:cubicBezTo>
                  <a:pt x="173273" y="107156"/>
                  <a:pt x="176547" y="109314"/>
                  <a:pt x="177924" y="112663"/>
                </a:cubicBezTo>
                <a:cubicBezTo>
                  <a:pt x="179301" y="116012"/>
                  <a:pt x="178557" y="119844"/>
                  <a:pt x="175989" y="122411"/>
                </a:cubicBezTo>
                <a:lnTo>
                  <a:pt x="161106" y="137294"/>
                </a:lnTo>
                <a:lnTo>
                  <a:pt x="188416" y="164604"/>
                </a:lnTo>
                <a:cubicBezTo>
                  <a:pt x="189756" y="165943"/>
                  <a:pt x="190537" y="167767"/>
                  <a:pt x="190537" y="169701"/>
                </a:cubicBezTo>
                <a:cubicBezTo>
                  <a:pt x="190537" y="171636"/>
                  <a:pt x="189793" y="173422"/>
                  <a:pt x="188416" y="174799"/>
                </a:cubicBezTo>
                <a:lnTo>
                  <a:pt x="174761" y="188454"/>
                </a:lnTo>
                <a:cubicBezTo>
                  <a:pt x="173385" y="189756"/>
                  <a:pt x="171562" y="190500"/>
                  <a:pt x="169664" y="190500"/>
                </a:cubicBezTo>
                <a:cubicBezTo>
                  <a:pt x="167767" y="190500"/>
                  <a:pt x="165943" y="189756"/>
                  <a:pt x="164567" y="188379"/>
                </a:cubicBezTo>
                <a:lnTo>
                  <a:pt x="137294" y="161106"/>
                </a:lnTo>
                <a:lnTo>
                  <a:pt x="122411" y="175989"/>
                </a:lnTo>
                <a:cubicBezTo>
                  <a:pt x="119844" y="178557"/>
                  <a:pt x="116012" y="179301"/>
                  <a:pt x="112663" y="177924"/>
                </a:cubicBezTo>
                <a:cubicBezTo>
                  <a:pt x="109314" y="176547"/>
                  <a:pt x="107156" y="173273"/>
                  <a:pt x="107156" y="169664"/>
                </a:cubicBezTo>
                <a:lnTo>
                  <a:pt x="107156" y="116086"/>
                </a:lnTo>
                <a:cubicBezTo>
                  <a:pt x="107156" y="111137"/>
                  <a:pt x="111137" y="107156"/>
                  <a:pt x="116086" y="107156"/>
                </a:cubicBezTo>
                <a:lnTo>
                  <a:pt x="169664" y="107156"/>
                </a:lnTo>
                <a:close/>
                <a:moveTo>
                  <a:pt x="74414" y="107156"/>
                </a:moveTo>
                <a:cubicBezTo>
                  <a:pt x="79363" y="107156"/>
                  <a:pt x="83344" y="111137"/>
                  <a:pt x="83344" y="116086"/>
                </a:cubicBezTo>
                <a:lnTo>
                  <a:pt x="83344" y="169664"/>
                </a:lnTo>
                <a:cubicBezTo>
                  <a:pt x="83344" y="173273"/>
                  <a:pt x="81186" y="176547"/>
                  <a:pt x="77837" y="177924"/>
                </a:cubicBezTo>
                <a:cubicBezTo>
                  <a:pt x="74488" y="179301"/>
                  <a:pt x="70656" y="178557"/>
                  <a:pt x="68089" y="175989"/>
                </a:cubicBezTo>
                <a:lnTo>
                  <a:pt x="53206" y="161106"/>
                </a:lnTo>
                <a:lnTo>
                  <a:pt x="25896" y="188416"/>
                </a:lnTo>
                <a:cubicBezTo>
                  <a:pt x="24557" y="189756"/>
                  <a:pt x="22733" y="190500"/>
                  <a:pt x="20836" y="190500"/>
                </a:cubicBezTo>
                <a:cubicBezTo>
                  <a:pt x="18938" y="190500"/>
                  <a:pt x="17115" y="189756"/>
                  <a:pt x="15739" y="188379"/>
                </a:cubicBezTo>
                <a:lnTo>
                  <a:pt x="2121" y="174761"/>
                </a:lnTo>
                <a:cubicBezTo>
                  <a:pt x="744" y="173385"/>
                  <a:pt x="0" y="171562"/>
                  <a:pt x="0" y="169664"/>
                </a:cubicBezTo>
                <a:cubicBezTo>
                  <a:pt x="0" y="167767"/>
                  <a:pt x="744" y="165943"/>
                  <a:pt x="2121" y="164567"/>
                </a:cubicBezTo>
                <a:lnTo>
                  <a:pt x="29394" y="137294"/>
                </a:lnTo>
                <a:lnTo>
                  <a:pt x="14511" y="122411"/>
                </a:lnTo>
                <a:cubicBezTo>
                  <a:pt x="11943" y="119844"/>
                  <a:pt x="11199" y="116012"/>
                  <a:pt x="12576" y="112663"/>
                </a:cubicBezTo>
                <a:cubicBezTo>
                  <a:pt x="13953" y="109314"/>
                  <a:pt x="17227" y="107156"/>
                  <a:pt x="20836" y="107156"/>
                </a:cubicBezTo>
                <a:lnTo>
                  <a:pt x="74414" y="107156"/>
                </a:lnTo>
                <a:close/>
                <a:moveTo>
                  <a:pt x="20836" y="83344"/>
                </a:moveTo>
                <a:cubicBezTo>
                  <a:pt x="17227" y="83344"/>
                  <a:pt x="13953" y="81186"/>
                  <a:pt x="12576" y="77837"/>
                </a:cubicBezTo>
                <a:cubicBezTo>
                  <a:pt x="11199" y="74488"/>
                  <a:pt x="11981" y="70656"/>
                  <a:pt x="14511" y="68089"/>
                </a:cubicBezTo>
                <a:lnTo>
                  <a:pt x="29394" y="53206"/>
                </a:lnTo>
                <a:lnTo>
                  <a:pt x="2121" y="25933"/>
                </a:lnTo>
                <a:cubicBezTo>
                  <a:pt x="744" y="24557"/>
                  <a:pt x="0" y="22733"/>
                  <a:pt x="0" y="20836"/>
                </a:cubicBezTo>
                <a:cubicBezTo>
                  <a:pt x="0" y="18938"/>
                  <a:pt x="744" y="17115"/>
                  <a:pt x="2121" y="15739"/>
                </a:cubicBezTo>
                <a:lnTo>
                  <a:pt x="15739" y="2121"/>
                </a:lnTo>
                <a:cubicBezTo>
                  <a:pt x="17115" y="744"/>
                  <a:pt x="18938" y="0"/>
                  <a:pt x="20836" y="0"/>
                </a:cubicBezTo>
                <a:cubicBezTo>
                  <a:pt x="22733" y="0"/>
                  <a:pt x="24557" y="744"/>
                  <a:pt x="25933" y="2121"/>
                </a:cubicBezTo>
                <a:lnTo>
                  <a:pt x="53206" y="29394"/>
                </a:lnTo>
                <a:lnTo>
                  <a:pt x="68089" y="14511"/>
                </a:lnTo>
                <a:cubicBezTo>
                  <a:pt x="70656" y="11943"/>
                  <a:pt x="74488" y="11199"/>
                  <a:pt x="77837" y="12576"/>
                </a:cubicBezTo>
                <a:cubicBezTo>
                  <a:pt x="81186" y="13953"/>
                  <a:pt x="83344" y="17227"/>
                  <a:pt x="83344" y="20836"/>
                </a:cubicBezTo>
                <a:lnTo>
                  <a:pt x="83344" y="74414"/>
                </a:lnTo>
                <a:cubicBezTo>
                  <a:pt x="83344" y="79363"/>
                  <a:pt x="79363" y="83344"/>
                  <a:pt x="74414" y="83344"/>
                </a:cubicBezTo>
                <a:lnTo>
                  <a:pt x="20836" y="83344"/>
                </a:ln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2" name="Text 20"/>
          <p:cNvSpPr/>
          <p:nvPr/>
        </p:nvSpPr>
        <p:spPr>
          <a:xfrm>
            <a:off x="1219200" y="3536872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Mounting Structure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7700" y="4013122"/>
            <a:ext cx="32004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Stable mounting system to ensure image stability and precise positioning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171950" y="3213022"/>
            <a:ext cx="3600450" cy="1800225"/>
          </a:xfrm>
          <a:custGeom>
            <a:avLst/>
            <a:gdLst/>
            <a:ahLst/>
            <a:cxnLst/>
            <a:rect l="l" t="t" r="r" b="b"/>
            <a:pathLst>
              <a:path w="3600450" h="1800225">
                <a:moveTo>
                  <a:pt x="38100" y="0"/>
                </a:moveTo>
                <a:lnTo>
                  <a:pt x="3486154" y="0"/>
                </a:lnTo>
                <a:cubicBezTo>
                  <a:pt x="3549236" y="0"/>
                  <a:pt x="3600450" y="51214"/>
                  <a:pt x="3600450" y="114296"/>
                </a:cubicBezTo>
                <a:lnTo>
                  <a:pt x="3600450" y="1685929"/>
                </a:lnTo>
                <a:cubicBezTo>
                  <a:pt x="3600450" y="1749011"/>
                  <a:pt x="3549236" y="1800225"/>
                  <a:pt x="3486154" y="1800225"/>
                </a:cubicBezTo>
                <a:lnTo>
                  <a:pt x="38100" y="1800225"/>
                </a:lnTo>
                <a:cubicBezTo>
                  <a:pt x="17072" y="1800225"/>
                  <a:pt x="0" y="1783153"/>
                  <a:pt x="0" y="1762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71950" y="3213022"/>
            <a:ext cx="38100" cy="1800225"/>
          </a:xfrm>
          <a:custGeom>
            <a:avLst/>
            <a:gdLst/>
            <a:ahLst/>
            <a:cxnLst/>
            <a:rect l="l" t="t" r="r" b="b"/>
            <a:pathLst>
              <a:path w="38100" h="1800225">
                <a:moveTo>
                  <a:pt x="38100" y="0"/>
                </a:moveTo>
                <a:lnTo>
                  <a:pt x="38100" y="0"/>
                </a:lnTo>
                <a:lnTo>
                  <a:pt x="38100" y="1800225"/>
                </a:lnTo>
                <a:lnTo>
                  <a:pt x="38100" y="1800225"/>
                </a:lnTo>
                <a:cubicBezTo>
                  <a:pt x="17072" y="1800225"/>
                  <a:pt x="0" y="1783153"/>
                  <a:pt x="0" y="1762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6" name="Shape 24"/>
          <p:cNvSpPr/>
          <p:nvPr/>
        </p:nvSpPr>
        <p:spPr>
          <a:xfrm>
            <a:off x="4419600" y="344162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76763" y="3574972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8" name="Text 26"/>
          <p:cNvSpPr/>
          <p:nvPr/>
        </p:nvSpPr>
        <p:spPr>
          <a:xfrm>
            <a:off x="4991100" y="3536872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Illumination System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19600" y="4013122"/>
            <a:ext cx="32004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Controlled lighting setup for optimal sample visibility and contrast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00050" y="5168861"/>
            <a:ext cx="7372350" cy="1552575"/>
          </a:xfrm>
          <a:custGeom>
            <a:avLst/>
            <a:gdLst/>
            <a:ahLst/>
            <a:cxnLst/>
            <a:rect l="l" t="t" r="r" b="b"/>
            <a:pathLst>
              <a:path w="7372350" h="1552575">
                <a:moveTo>
                  <a:pt x="38100" y="0"/>
                </a:moveTo>
                <a:lnTo>
                  <a:pt x="7258049" y="0"/>
                </a:lnTo>
                <a:cubicBezTo>
                  <a:pt x="7321176" y="0"/>
                  <a:pt x="7372350" y="51174"/>
                  <a:pt x="7372350" y="114301"/>
                </a:cubicBezTo>
                <a:lnTo>
                  <a:pt x="7372350" y="1438274"/>
                </a:lnTo>
                <a:cubicBezTo>
                  <a:pt x="7372350" y="1501401"/>
                  <a:pt x="7321176" y="1552575"/>
                  <a:pt x="7258049" y="1552575"/>
                </a:cubicBez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00050" y="5168861"/>
            <a:ext cx="38100" cy="1552575"/>
          </a:xfrm>
          <a:custGeom>
            <a:avLst/>
            <a:gdLst/>
            <a:ahLst/>
            <a:cxnLst/>
            <a:rect l="l" t="t" r="r" b="b"/>
            <a:pathLst>
              <a:path w="38100" h="1552575">
                <a:moveTo>
                  <a:pt x="38100" y="0"/>
                </a:moveTo>
                <a:lnTo>
                  <a:pt x="38100" y="0"/>
                </a:lnTo>
                <a:lnTo>
                  <a:pt x="38100" y="1552575"/>
                </a:ln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2" name="Shape 30"/>
          <p:cNvSpPr/>
          <p:nvPr/>
        </p:nvSpPr>
        <p:spPr>
          <a:xfrm>
            <a:off x="647700" y="53974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81050" y="553081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4" name="Text 32"/>
          <p:cNvSpPr/>
          <p:nvPr/>
        </p:nvSpPr>
        <p:spPr>
          <a:xfrm>
            <a:off x="1219200" y="5492711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Unit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7700" y="5968961"/>
            <a:ext cx="69723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or embedded system for running image processing algorithms and AI models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001000" y="1257300"/>
            <a:ext cx="3810000" cy="3810000"/>
          </a:xfrm>
          <a:custGeom>
            <a:avLst/>
            <a:gdLst/>
            <a:ahLst/>
            <a:cxnLst/>
            <a:rect l="l" t="t" r="r" b="b"/>
            <a:pathLst>
              <a:path w="3810000" h="3810000">
                <a:moveTo>
                  <a:pt x="114300" y="0"/>
                </a:moveTo>
                <a:lnTo>
                  <a:pt x="3695700" y="0"/>
                </a:lnTo>
                <a:cubicBezTo>
                  <a:pt x="3758784" y="0"/>
                  <a:pt x="3810000" y="51216"/>
                  <a:pt x="3810000" y="114300"/>
                </a:cubicBezTo>
                <a:lnTo>
                  <a:pt x="3810000" y="3695700"/>
                </a:lnTo>
                <a:cubicBezTo>
                  <a:pt x="3810000" y="3758784"/>
                  <a:pt x="3758784" y="3810000"/>
                  <a:pt x="3695700" y="3810000"/>
                </a:cubicBezTo>
                <a:lnTo>
                  <a:pt x="114300" y="3810000"/>
                </a:lnTo>
                <a:cubicBezTo>
                  <a:pt x="51216" y="3810000"/>
                  <a:pt x="0" y="3758784"/>
                  <a:pt x="0" y="3695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8001000" y="5219700"/>
            <a:ext cx="3810000" cy="1504950"/>
          </a:xfrm>
          <a:custGeom>
            <a:avLst/>
            <a:gdLst/>
            <a:ahLst/>
            <a:cxnLst/>
            <a:rect l="l" t="t" r="r" b="b"/>
            <a:pathLst>
              <a:path w="3810000" h="1504950">
                <a:moveTo>
                  <a:pt x="114301" y="0"/>
                </a:moveTo>
                <a:lnTo>
                  <a:pt x="3695699" y="0"/>
                </a:lnTo>
                <a:cubicBezTo>
                  <a:pt x="3758826" y="0"/>
                  <a:pt x="3810000" y="51174"/>
                  <a:pt x="3810000" y="114301"/>
                </a:cubicBezTo>
                <a:lnTo>
                  <a:pt x="3810000" y="1390649"/>
                </a:lnTo>
                <a:cubicBezTo>
                  <a:pt x="3810000" y="1453776"/>
                  <a:pt x="3758826" y="1504950"/>
                  <a:pt x="3695699" y="1504950"/>
                </a:cubicBezTo>
                <a:lnTo>
                  <a:pt x="114301" y="1504950"/>
                </a:lnTo>
                <a:cubicBezTo>
                  <a:pt x="51174" y="1504950"/>
                  <a:pt x="0" y="1453776"/>
                  <a:pt x="0" y="13906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8191500" y="54483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40" name="Text 37"/>
          <p:cNvSpPr/>
          <p:nvPr/>
        </p:nvSpPr>
        <p:spPr>
          <a:xfrm>
            <a:off x="8543925" y="5410200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Focus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191500" y="5791200"/>
            <a:ext cx="3505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hardware components are carefully selected to work together seamlessly for optimal system performance.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1012" y="5524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53" dirty="0">
                <a:solidFill>
                  <a:srgbClr val="1ABC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Requirements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3571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Software Components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76350"/>
            <a:ext cx="3619500" cy="1866900"/>
          </a:xfrm>
          <a:custGeom>
            <a:avLst/>
            <a:gdLst/>
            <a:ahLst/>
            <a:cxnLst/>
            <a:rect l="l" t="t" r="r" b="b"/>
            <a:pathLst>
              <a:path w="3619500" h="1866900">
                <a:moveTo>
                  <a:pt x="38100" y="0"/>
                </a:moveTo>
                <a:lnTo>
                  <a:pt x="3581400" y="0"/>
                </a:lnTo>
                <a:cubicBezTo>
                  <a:pt x="3602428" y="0"/>
                  <a:pt x="3619500" y="17072"/>
                  <a:pt x="3619500" y="38100"/>
                </a:cubicBezTo>
                <a:lnTo>
                  <a:pt x="3619500" y="1752608"/>
                </a:lnTo>
                <a:cubicBezTo>
                  <a:pt x="3619500" y="1815730"/>
                  <a:pt x="3568330" y="1866900"/>
                  <a:pt x="3505208" y="1866900"/>
                </a:cubicBezTo>
                <a:lnTo>
                  <a:pt x="114292" y="1866900"/>
                </a:lnTo>
                <a:cubicBezTo>
                  <a:pt x="51170" y="1866900"/>
                  <a:pt x="0" y="1815730"/>
                  <a:pt x="0" y="175260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1000" y="1276350"/>
            <a:ext cx="3619500" cy="38100"/>
          </a:xfrm>
          <a:custGeom>
            <a:avLst/>
            <a:gdLst/>
            <a:ahLst/>
            <a:cxnLst/>
            <a:rect l="l" t="t" r="r" b="b"/>
            <a:pathLst>
              <a:path w="3619500" h="38100">
                <a:moveTo>
                  <a:pt x="38100" y="0"/>
                </a:moveTo>
                <a:lnTo>
                  <a:pt x="3581400" y="0"/>
                </a:lnTo>
                <a:cubicBezTo>
                  <a:pt x="3602428" y="0"/>
                  <a:pt x="3619500" y="17072"/>
                  <a:pt x="3619500" y="38100"/>
                </a:cubicBezTo>
                <a:lnTo>
                  <a:pt x="36195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8188" y="16383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6364" y="89520"/>
                </a:moveTo>
                <a:cubicBezTo>
                  <a:pt x="192926" y="75724"/>
                  <a:pt x="186407" y="65321"/>
                  <a:pt x="172522" y="65321"/>
                </a:cubicBezTo>
                <a:lnTo>
                  <a:pt x="154618" y="65321"/>
                </a:lnTo>
                <a:lnTo>
                  <a:pt x="154618" y="86484"/>
                </a:lnTo>
                <a:cubicBezTo>
                  <a:pt x="154618" y="102915"/>
                  <a:pt x="140687" y="116756"/>
                  <a:pt x="124792" y="116756"/>
                </a:cubicBezTo>
                <a:lnTo>
                  <a:pt x="77108" y="116756"/>
                </a:lnTo>
                <a:cubicBezTo>
                  <a:pt x="64071" y="116756"/>
                  <a:pt x="53266" y="127918"/>
                  <a:pt x="53266" y="141000"/>
                </a:cubicBezTo>
                <a:lnTo>
                  <a:pt x="53266" y="186452"/>
                </a:lnTo>
                <a:cubicBezTo>
                  <a:pt x="53266" y="199400"/>
                  <a:pt x="64517" y="206990"/>
                  <a:pt x="77108" y="210696"/>
                </a:cubicBezTo>
                <a:cubicBezTo>
                  <a:pt x="92199" y="215116"/>
                  <a:pt x="106710" y="215920"/>
                  <a:pt x="124792" y="210696"/>
                </a:cubicBezTo>
                <a:cubicBezTo>
                  <a:pt x="136803" y="207213"/>
                  <a:pt x="148635" y="200204"/>
                  <a:pt x="148635" y="186452"/>
                </a:cubicBezTo>
                <a:lnTo>
                  <a:pt x="148635" y="168280"/>
                </a:lnTo>
                <a:lnTo>
                  <a:pt x="100995" y="168280"/>
                </a:lnTo>
                <a:lnTo>
                  <a:pt x="100995" y="162208"/>
                </a:lnTo>
                <a:lnTo>
                  <a:pt x="172522" y="162208"/>
                </a:lnTo>
                <a:cubicBezTo>
                  <a:pt x="186407" y="162208"/>
                  <a:pt x="191542" y="152519"/>
                  <a:pt x="196364" y="138008"/>
                </a:cubicBezTo>
                <a:cubicBezTo>
                  <a:pt x="201364" y="123051"/>
                  <a:pt x="201141" y="108674"/>
                  <a:pt x="196364" y="89520"/>
                </a:cubicBezTo>
                <a:close/>
                <a:moveTo>
                  <a:pt x="127784" y="198552"/>
                </a:moveTo>
                <a:cubicBezTo>
                  <a:pt x="124386" y="198790"/>
                  <a:pt x="121139" y="197112"/>
                  <a:pt x="119367" y="194203"/>
                </a:cubicBezTo>
                <a:cubicBezTo>
                  <a:pt x="117595" y="191293"/>
                  <a:pt x="117595" y="187638"/>
                  <a:pt x="119367" y="184729"/>
                </a:cubicBezTo>
                <a:cubicBezTo>
                  <a:pt x="121139" y="181819"/>
                  <a:pt x="124386" y="180141"/>
                  <a:pt x="127784" y="180380"/>
                </a:cubicBezTo>
                <a:cubicBezTo>
                  <a:pt x="131182" y="180141"/>
                  <a:pt x="134429" y="181819"/>
                  <a:pt x="136201" y="184729"/>
                </a:cubicBezTo>
                <a:cubicBezTo>
                  <a:pt x="137972" y="187638"/>
                  <a:pt x="137972" y="191293"/>
                  <a:pt x="136201" y="194203"/>
                </a:cubicBezTo>
                <a:cubicBezTo>
                  <a:pt x="134429" y="197112"/>
                  <a:pt x="131182" y="198790"/>
                  <a:pt x="127784" y="198552"/>
                </a:cubicBezTo>
                <a:close/>
                <a:moveTo>
                  <a:pt x="74920" y="110773"/>
                </a:moveTo>
                <a:lnTo>
                  <a:pt x="122605" y="110773"/>
                </a:lnTo>
                <a:cubicBezTo>
                  <a:pt x="135865" y="110773"/>
                  <a:pt x="146447" y="99834"/>
                  <a:pt x="146447" y="86529"/>
                </a:cubicBezTo>
                <a:lnTo>
                  <a:pt x="146447" y="41032"/>
                </a:lnTo>
                <a:cubicBezTo>
                  <a:pt x="146447" y="28084"/>
                  <a:pt x="135553" y="18395"/>
                  <a:pt x="122605" y="16207"/>
                </a:cubicBezTo>
                <a:cubicBezTo>
                  <a:pt x="106620" y="13573"/>
                  <a:pt x="89252" y="13707"/>
                  <a:pt x="74920" y="16252"/>
                </a:cubicBezTo>
                <a:cubicBezTo>
                  <a:pt x="54739" y="19824"/>
                  <a:pt x="51078" y="27280"/>
                  <a:pt x="51078" y="41077"/>
                </a:cubicBezTo>
                <a:lnTo>
                  <a:pt x="51078" y="59248"/>
                </a:lnTo>
                <a:lnTo>
                  <a:pt x="98807" y="59248"/>
                </a:lnTo>
                <a:lnTo>
                  <a:pt x="98807" y="65321"/>
                </a:lnTo>
                <a:lnTo>
                  <a:pt x="33174" y="65321"/>
                </a:lnTo>
                <a:cubicBezTo>
                  <a:pt x="19288" y="65321"/>
                  <a:pt x="7144" y="73670"/>
                  <a:pt x="3349" y="89520"/>
                </a:cubicBezTo>
                <a:cubicBezTo>
                  <a:pt x="-1027" y="107692"/>
                  <a:pt x="-1206" y="119033"/>
                  <a:pt x="3349" y="138008"/>
                </a:cubicBezTo>
                <a:cubicBezTo>
                  <a:pt x="6742" y="152117"/>
                  <a:pt x="14823" y="162208"/>
                  <a:pt x="28709" y="162208"/>
                </a:cubicBezTo>
                <a:lnTo>
                  <a:pt x="45095" y="162208"/>
                </a:lnTo>
                <a:lnTo>
                  <a:pt x="45095" y="140419"/>
                </a:lnTo>
                <a:cubicBezTo>
                  <a:pt x="45095" y="124658"/>
                  <a:pt x="58713" y="110773"/>
                  <a:pt x="74920" y="110773"/>
                </a:cubicBezTo>
                <a:close/>
                <a:moveTo>
                  <a:pt x="71973" y="28888"/>
                </a:moveTo>
                <a:cubicBezTo>
                  <a:pt x="77000" y="28888"/>
                  <a:pt x="81082" y="32969"/>
                  <a:pt x="81082" y="37996"/>
                </a:cubicBezTo>
                <a:cubicBezTo>
                  <a:pt x="81082" y="43023"/>
                  <a:pt x="77000" y="47104"/>
                  <a:pt x="71973" y="47104"/>
                </a:cubicBezTo>
                <a:cubicBezTo>
                  <a:pt x="66946" y="47104"/>
                  <a:pt x="62865" y="43023"/>
                  <a:pt x="62865" y="37996"/>
                </a:cubicBezTo>
                <a:cubicBezTo>
                  <a:pt x="62865" y="32969"/>
                  <a:pt x="66946" y="28888"/>
                  <a:pt x="71973" y="28888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1619250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Environment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095500"/>
            <a:ext cx="32385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programming language for system development with extensive libraries and community support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52900" y="1276350"/>
            <a:ext cx="3619500" cy="1866900"/>
          </a:xfrm>
          <a:custGeom>
            <a:avLst/>
            <a:gdLst/>
            <a:ahLst/>
            <a:cxnLst/>
            <a:rect l="l" t="t" r="r" b="b"/>
            <a:pathLst>
              <a:path w="3619500" h="1866900">
                <a:moveTo>
                  <a:pt x="38100" y="0"/>
                </a:moveTo>
                <a:lnTo>
                  <a:pt x="3581400" y="0"/>
                </a:lnTo>
                <a:cubicBezTo>
                  <a:pt x="3602428" y="0"/>
                  <a:pt x="3619500" y="17072"/>
                  <a:pt x="3619500" y="38100"/>
                </a:cubicBezTo>
                <a:lnTo>
                  <a:pt x="3619500" y="1752608"/>
                </a:lnTo>
                <a:cubicBezTo>
                  <a:pt x="3619500" y="1815730"/>
                  <a:pt x="3568330" y="1866900"/>
                  <a:pt x="3505208" y="1866900"/>
                </a:cubicBezTo>
                <a:lnTo>
                  <a:pt x="114292" y="1866900"/>
                </a:lnTo>
                <a:cubicBezTo>
                  <a:pt x="51170" y="1866900"/>
                  <a:pt x="0" y="1815730"/>
                  <a:pt x="0" y="175260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52900" y="1276350"/>
            <a:ext cx="3619500" cy="38100"/>
          </a:xfrm>
          <a:custGeom>
            <a:avLst/>
            <a:gdLst/>
            <a:ahLst/>
            <a:cxnLst/>
            <a:rect l="l" t="t" r="r" b="b"/>
            <a:pathLst>
              <a:path w="3619500" h="38100">
                <a:moveTo>
                  <a:pt x="38100" y="0"/>
                </a:moveTo>
                <a:lnTo>
                  <a:pt x="3581400" y="0"/>
                </a:lnTo>
                <a:cubicBezTo>
                  <a:pt x="3602428" y="0"/>
                  <a:pt x="3619500" y="17072"/>
                  <a:pt x="3619500" y="38100"/>
                </a:cubicBezTo>
                <a:lnTo>
                  <a:pt x="36195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150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481513" y="1638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6" name="Text 14"/>
          <p:cNvSpPr/>
          <p:nvPr/>
        </p:nvSpPr>
        <p:spPr>
          <a:xfrm>
            <a:off x="4953000" y="1619250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OpenCV Library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1500" y="2095500"/>
            <a:ext cx="32385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Industry-standard library for image processing, computer vision, and real-time image manipulation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3314700"/>
            <a:ext cx="3619500" cy="1619250"/>
          </a:xfrm>
          <a:custGeom>
            <a:avLst/>
            <a:gdLst/>
            <a:ahLst/>
            <a:cxnLst/>
            <a:rect l="l" t="t" r="r" b="b"/>
            <a:pathLst>
              <a:path w="3619500" h="1619250">
                <a:moveTo>
                  <a:pt x="38100" y="0"/>
                </a:moveTo>
                <a:lnTo>
                  <a:pt x="3581400" y="0"/>
                </a:lnTo>
                <a:cubicBezTo>
                  <a:pt x="3602428" y="0"/>
                  <a:pt x="3619500" y="17072"/>
                  <a:pt x="3619500" y="38100"/>
                </a:cubicBezTo>
                <a:lnTo>
                  <a:pt x="3619500" y="1504947"/>
                </a:lnTo>
                <a:cubicBezTo>
                  <a:pt x="3619500" y="1568033"/>
                  <a:pt x="3568283" y="1619250"/>
                  <a:pt x="3505197" y="1619250"/>
                </a:cubicBezTo>
                <a:lnTo>
                  <a:pt x="114303" y="1619250"/>
                </a:lnTo>
                <a:cubicBezTo>
                  <a:pt x="51217" y="1619250"/>
                  <a:pt x="0" y="1568033"/>
                  <a:pt x="0" y="15049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1000" y="3314700"/>
            <a:ext cx="3619500" cy="38100"/>
          </a:xfrm>
          <a:custGeom>
            <a:avLst/>
            <a:gdLst/>
            <a:ahLst/>
            <a:cxnLst/>
            <a:rect l="l" t="t" r="r" b="b"/>
            <a:pathLst>
              <a:path w="3619500" h="38100">
                <a:moveTo>
                  <a:pt x="38100" y="0"/>
                </a:moveTo>
                <a:lnTo>
                  <a:pt x="3581400" y="0"/>
                </a:lnTo>
                <a:cubicBezTo>
                  <a:pt x="3602428" y="0"/>
                  <a:pt x="3619500" y="17072"/>
                  <a:pt x="3619500" y="38100"/>
                </a:cubicBezTo>
                <a:lnTo>
                  <a:pt x="36195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600" y="3562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D6D7E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23900" y="3676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2" name="Text 20"/>
          <p:cNvSpPr/>
          <p:nvPr/>
        </p:nvSpPr>
        <p:spPr>
          <a:xfrm>
            <a:off x="1181100" y="3657600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TensorFlow/PyTorch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4133850"/>
            <a:ext cx="323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frameworks for building, training, and deploying AI models for analysis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152900" y="3314700"/>
            <a:ext cx="3619500" cy="1619250"/>
          </a:xfrm>
          <a:custGeom>
            <a:avLst/>
            <a:gdLst/>
            <a:ahLst/>
            <a:cxnLst/>
            <a:rect l="l" t="t" r="r" b="b"/>
            <a:pathLst>
              <a:path w="3619500" h="1619250">
                <a:moveTo>
                  <a:pt x="38100" y="0"/>
                </a:moveTo>
                <a:lnTo>
                  <a:pt x="3581400" y="0"/>
                </a:lnTo>
                <a:cubicBezTo>
                  <a:pt x="3602428" y="0"/>
                  <a:pt x="3619500" y="17072"/>
                  <a:pt x="3619500" y="38100"/>
                </a:cubicBezTo>
                <a:lnTo>
                  <a:pt x="3619500" y="1504947"/>
                </a:lnTo>
                <a:cubicBezTo>
                  <a:pt x="3619500" y="1568033"/>
                  <a:pt x="3568283" y="1619250"/>
                  <a:pt x="3505197" y="1619250"/>
                </a:cubicBezTo>
                <a:lnTo>
                  <a:pt x="114303" y="1619250"/>
                </a:lnTo>
                <a:cubicBezTo>
                  <a:pt x="51217" y="1619250"/>
                  <a:pt x="0" y="1568033"/>
                  <a:pt x="0" y="15049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52900" y="3314700"/>
            <a:ext cx="3619500" cy="38100"/>
          </a:xfrm>
          <a:custGeom>
            <a:avLst/>
            <a:gdLst/>
            <a:ahLst/>
            <a:cxnLst/>
            <a:rect l="l" t="t" r="r" b="b"/>
            <a:pathLst>
              <a:path w="3619500" h="38100">
                <a:moveTo>
                  <a:pt x="38100" y="0"/>
                </a:moveTo>
                <a:lnTo>
                  <a:pt x="3581400" y="0"/>
                </a:lnTo>
                <a:cubicBezTo>
                  <a:pt x="3602428" y="0"/>
                  <a:pt x="3619500" y="17072"/>
                  <a:pt x="3619500" y="38100"/>
                </a:cubicBezTo>
                <a:lnTo>
                  <a:pt x="36195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6" name="Shape 24"/>
          <p:cNvSpPr/>
          <p:nvPr/>
        </p:nvSpPr>
        <p:spPr>
          <a:xfrm>
            <a:off x="4381500" y="3562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495800" y="3676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lose/>
                <a:moveTo>
                  <a:pt x="39291" y="57150"/>
                </a:moveTo>
                <a:lnTo>
                  <a:pt x="189309" y="57150"/>
                </a:lnTo>
                <a:cubicBezTo>
                  <a:pt x="195248" y="57150"/>
                  <a:pt x="200025" y="61927"/>
                  <a:pt x="200025" y="67866"/>
                </a:cubicBezTo>
                <a:cubicBezTo>
                  <a:pt x="200025" y="73804"/>
                  <a:pt x="195248" y="78581"/>
                  <a:pt x="189309" y="78581"/>
                </a:cubicBezTo>
                <a:lnTo>
                  <a:pt x="39291" y="78581"/>
                </a:lnTo>
                <a:cubicBezTo>
                  <a:pt x="33352" y="78581"/>
                  <a:pt x="28575" y="73804"/>
                  <a:pt x="28575" y="67866"/>
                </a:cubicBezTo>
                <a:cubicBezTo>
                  <a:pt x="28575" y="61927"/>
                  <a:pt x="33352" y="57150"/>
                  <a:pt x="39291" y="5715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8" name="Text 26"/>
          <p:cNvSpPr/>
          <p:nvPr/>
        </p:nvSpPr>
        <p:spPr>
          <a:xfrm>
            <a:off x="4953000" y="3657600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 Framework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81500" y="4133850"/>
            <a:ext cx="323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User-friendly graphical interface framework for intuitive system interaction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000" y="5105400"/>
            <a:ext cx="7391400" cy="1371600"/>
          </a:xfrm>
          <a:custGeom>
            <a:avLst/>
            <a:gdLst/>
            <a:ahLst/>
            <a:cxnLst/>
            <a:rect l="l" t="t" r="r" b="b"/>
            <a:pathLst>
              <a:path w="7391400" h="1371600">
                <a:moveTo>
                  <a:pt x="38100" y="0"/>
                </a:moveTo>
                <a:lnTo>
                  <a:pt x="7353300" y="0"/>
                </a:lnTo>
                <a:cubicBezTo>
                  <a:pt x="7374328" y="0"/>
                  <a:pt x="7391400" y="17072"/>
                  <a:pt x="7391400" y="38100"/>
                </a:cubicBezTo>
                <a:lnTo>
                  <a:pt x="7391400" y="1257305"/>
                </a:lnTo>
                <a:cubicBezTo>
                  <a:pt x="7391400" y="1320386"/>
                  <a:pt x="7340186" y="1371600"/>
                  <a:pt x="7277105" y="1371600"/>
                </a:cubicBezTo>
                <a:lnTo>
                  <a:pt x="114295" y="1371600"/>
                </a:lnTo>
                <a:cubicBezTo>
                  <a:pt x="51214" y="1371600"/>
                  <a:pt x="0" y="1320386"/>
                  <a:pt x="0" y="125730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1000" y="5105400"/>
            <a:ext cx="7391400" cy="38100"/>
          </a:xfrm>
          <a:custGeom>
            <a:avLst/>
            <a:gdLst/>
            <a:ahLst/>
            <a:cxnLst/>
            <a:rect l="l" t="t" r="r" b="b"/>
            <a:pathLst>
              <a:path w="7391400" h="38100">
                <a:moveTo>
                  <a:pt x="38100" y="0"/>
                </a:moveTo>
                <a:lnTo>
                  <a:pt x="7353300" y="0"/>
                </a:lnTo>
                <a:cubicBezTo>
                  <a:pt x="7374328" y="0"/>
                  <a:pt x="7391400" y="17072"/>
                  <a:pt x="7391400" y="38100"/>
                </a:cubicBezTo>
                <a:lnTo>
                  <a:pt x="73914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600" y="5353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38188" y="54673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4" name="Text 32"/>
          <p:cNvSpPr/>
          <p:nvPr/>
        </p:nvSpPr>
        <p:spPr>
          <a:xfrm>
            <a:off x="1181100" y="5448300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Management System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09600" y="5924550"/>
            <a:ext cx="7010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and retrieval system for organizing images, analysis results, and metadata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001000" y="1257300"/>
            <a:ext cx="3810000" cy="3810000"/>
          </a:xfrm>
          <a:custGeom>
            <a:avLst/>
            <a:gdLst/>
            <a:ahLst/>
            <a:cxnLst/>
            <a:rect l="l" t="t" r="r" b="b"/>
            <a:pathLst>
              <a:path w="3810000" h="3810000">
                <a:moveTo>
                  <a:pt x="114300" y="0"/>
                </a:moveTo>
                <a:lnTo>
                  <a:pt x="3695700" y="0"/>
                </a:lnTo>
                <a:cubicBezTo>
                  <a:pt x="3758784" y="0"/>
                  <a:pt x="3810000" y="51216"/>
                  <a:pt x="3810000" y="114300"/>
                </a:cubicBezTo>
                <a:lnTo>
                  <a:pt x="3810000" y="3695700"/>
                </a:lnTo>
                <a:cubicBezTo>
                  <a:pt x="3810000" y="3758784"/>
                  <a:pt x="3758784" y="3810000"/>
                  <a:pt x="3695700" y="3810000"/>
                </a:cubicBezTo>
                <a:lnTo>
                  <a:pt x="114300" y="3810000"/>
                </a:lnTo>
                <a:cubicBezTo>
                  <a:pt x="51216" y="3810000"/>
                  <a:pt x="0" y="3758784"/>
                  <a:pt x="0" y="3695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8001000" y="5219700"/>
            <a:ext cx="3810000" cy="1257300"/>
          </a:xfrm>
          <a:custGeom>
            <a:avLst/>
            <a:gdLst/>
            <a:ahLst/>
            <a:cxnLst/>
            <a:rect l="l" t="t" r="r" b="b"/>
            <a:pathLst>
              <a:path w="3810000" h="1257300">
                <a:moveTo>
                  <a:pt x="114301" y="0"/>
                </a:moveTo>
                <a:lnTo>
                  <a:pt x="3695699" y="0"/>
                </a:lnTo>
                <a:cubicBezTo>
                  <a:pt x="3758783" y="0"/>
                  <a:pt x="3810000" y="51217"/>
                  <a:pt x="3810000" y="114301"/>
                </a:cubicBezTo>
                <a:lnTo>
                  <a:pt x="3810000" y="1142999"/>
                </a:lnTo>
                <a:cubicBezTo>
                  <a:pt x="3810000" y="1206083"/>
                  <a:pt x="3758783" y="1257300"/>
                  <a:pt x="3695699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9" name="Shape 36"/>
          <p:cNvSpPr/>
          <p:nvPr/>
        </p:nvSpPr>
        <p:spPr>
          <a:xfrm>
            <a:off x="8215313" y="5448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40" name="Text 37"/>
          <p:cNvSpPr/>
          <p:nvPr/>
        </p:nvSpPr>
        <p:spPr>
          <a:xfrm>
            <a:off x="8543925" y="5410200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191500" y="5791200"/>
            <a:ext cx="3505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Modern, proven technologies selected for reliability, performance, and maintainability.</a:t>
            </a:r>
            <a:endParaRPr lang="en-US" sz="1600" dirty="0"/>
          </a:p>
        </p:txBody>
      </p:sp>
      <p:pic>
        <p:nvPicPr>
          <p:cNvPr id="43" name="صورة 42">
            <a:extLst>
              <a:ext uri="{FF2B5EF4-FFF2-40B4-BE49-F238E27FC236}">
                <a16:creationId xmlns:a16="http://schemas.microsoft.com/office/drawing/2014/main" id="{6BF17D23-5F71-E4DB-DED9-FEC7EDD38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0964" y="1367958"/>
            <a:ext cx="3570071" cy="35659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66725" y="5524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399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53" dirty="0">
                <a:solidFill>
                  <a:srgbClr val="1ABC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 &amp; Implementation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4095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Implementation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257300"/>
            <a:ext cx="6419850" cy="1219200"/>
          </a:xfrm>
          <a:custGeom>
            <a:avLst/>
            <a:gdLst/>
            <a:ahLst/>
            <a:cxnLst/>
            <a:rect l="l" t="t" r="r" b="b"/>
            <a:pathLst>
              <a:path w="6419850" h="1219200">
                <a:moveTo>
                  <a:pt x="38100" y="0"/>
                </a:moveTo>
                <a:lnTo>
                  <a:pt x="6305550" y="0"/>
                </a:lnTo>
                <a:cubicBezTo>
                  <a:pt x="6368634" y="0"/>
                  <a:pt x="6419850" y="51216"/>
                  <a:pt x="6419850" y="114300"/>
                </a:cubicBezTo>
                <a:lnTo>
                  <a:pt x="6419850" y="1104900"/>
                </a:lnTo>
                <a:cubicBezTo>
                  <a:pt x="6419850" y="1167984"/>
                  <a:pt x="6368634" y="1219200"/>
                  <a:pt x="63055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0050" y="12573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1447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6756" y="15525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9928" y="21699"/>
                </a:moveTo>
                <a:lnTo>
                  <a:pt x="46446" y="32147"/>
                </a:lnTo>
                <a:lnTo>
                  <a:pt x="21431" y="32147"/>
                </a:lnTo>
                <a:cubicBezTo>
                  <a:pt x="9611" y="32147"/>
                  <a:pt x="0" y="41757"/>
                  <a:pt x="0" y="53578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50019" y="160734"/>
                </a:lnTo>
                <a:cubicBezTo>
                  <a:pt x="161839" y="160734"/>
                  <a:pt x="171450" y="151124"/>
                  <a:pt x="171450" y="139303"/>
                </a:cubicBezTo>
                <a:lnTo>
                  <a:pt x="171450" y="53578"/>
                </a:lnTo>
                <a:cubicBezTo>
                  <a:pt x="171450" y="41757"/>
                  <a:pt x="161839" y="32147"/>
                  <a:pt x="150019" y="32147"/>
                </a:cubicBezTo>
                <a:lnTo>
                  <a:pt x="125004" y="32147"/>
                </a:lnTo>
                <a:lnTo>
                  <a:pt x="121522" y="21699"/>
                </a:lnTo>
                <a:cubicBezTo>
                  <a:pt x="119345" y="15136"/>
                  <a:pt x="113217" y="10716"/>
                  <a:pt x="106286" y="10716"/>
                </a:cubicBezTo>
                <a:lnTo>
                  <a:pt x="65164" y="10716"/>
                </a:lnTo>
                <a:cubicBezTo>
                  <a:pt x="58233" y="10716"/>
                  <a:pt x="52105" y="15136"/>
                  <a:pt x="49928" y="21699"/>
                </a:cubicBezTo>
                <a:close/>
                <a:moveTo>
                  <a:pt x="85725" y="64294"/>
                </a:moveTo>
                <a:cubicBezTo>
                  <a:pt x="103467" y="64294"/>
                  <a:pt x="117872" y="78698"/>
                  <a:pt x="117872" y="96441"/>
                </a:cubicBezTo>
                <a:cubicBezTo>
                  <a:pt x="117872" y="114183"/>
                  <a:pt x="103467" y="128588"/>
                  <a:pt x="85725" y="128588"/>
                </a:cubicBezTo>
                <a:cubicBezTo>
                  <a:pt x="67983" y="128588"/>
                  <a:pt x="53578" y="114183"/>
                  <a:pt x="53578" y="96441"/>
                </a:cubicBezTo>
                <a:cubicBezTo>
                  <a:pt x="53578" y="78698"/>
                  <a:pt x="67983" y="64294"/>
                  <a:pt x="85725" y="64294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0" name="Text 8"/>
          <p:cNvSpPr/>
          <p:nvPr/>
        </p:nvSpPr>
        <p:spPr>
          <a:xfrm>
            <a:off x="1104900" y="1447800"/>
            <a:ext cx="561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 Mounting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04900" y="1790700"/>
            <a:ext cx="5600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camera was securely mounted to ensure image stability and prevent vibration-induced blur during capture.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2628900"/>
            <a:ext cx="6419850" cy="1219200"/>
          </a:xfrm>
          <a:custGeom>
            <a:avLst/>
            <a:gdLst/>
            <a:ahLst/>
            <a:cxnLst/>
            <a:rect l="l" t="t" r="r" b="b"/>
            <a:pathLst>
              <a:path w="6419850" h="1219200">
                <a:moveTo>
                  <a:pt x="38100" y="0"/>
                </a:moveTo>
                <a:lnTo>
                  <a:pt x="6305550" y="0"/>
                </a:lnTo>
                <a:cubicBezTo>
                  <a:pt x="6368634" y="0"/>
                  <a:pt x="6419850" y="51216"/>
                  <a:pt x="6419850" y="114300"/>
                </a:cubicBezTo>
                <a:lnTo>
                  <a:pt x="6419850" y="1104900"/>
                </a:lnTo>
                <a:cubicBezTo>
                  <a:pt x="6419850" y="1167984"/>
                  <a:pt x="6368634" y="1219200"/>
                  <a:pt x="63055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0050" y="26289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600" y="2819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8188" y="29241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" y="2819400"/>
            <a:ext cx="561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Lighting Optimization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" y="3162300"/>
            <a:ext cx="5600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Lighting conditions were optimized to reduce shadows and noise, ensuring consistent illumination across samples.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4000500"/>
            <a:ext cx="6419850" cy="1219200"/>
          </a:xfrm>
          <a:custGeom>
            <a:avLst/>
            <a:gdLst/>
            <a:ahLst/>
            <a:cxnLst/>
            <a:rect l="l" t="t" r="r" b="b"/>
            <a:pathLst>
              <a:path w="6419850" h="1219200">
                <a:moveTo>
                  <a:pt x="38100" y="0"/>
                </a:moveTo>
                <a:lnTo>
                  <a:pt x="6305550" y="0"/>
                </a:lnTo>
                <a:cubicBezTo>
                  <a:pt x="6368634" y="0"/>
                  <a:pt x="6419850" y="51216"/>
                  <a:pt x="6419850" y="114300"/>
                </a:cubicBezTo>
                <a:lnTo>
                  <a:pt x="6419850" y="1104900"/>
                </a:lnTo>
                <a:cubicBezTo>
                  <a:pt x="6419850" y="1167984"/>
                  <a:pt x="6368634" y="1219200"/>
                  <a:pt x="63055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0050" y="40005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600" y="419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D6D7E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06041" y="42957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70020" y="172856"/>
                </a:moveTo>
                <a:cubicBezTo>
                  <a:pt x="63758" y="179118"/>
                  <a:pt x="53578" y="179118"/>
                  <a:pt x="47283" y="172856"/>
                </a:cubicBezTo>
                <a:lnTo>
                  <a:pt x="9410" y="134983"/>
                </a:lnTo>
                <a:cubicBezTo>
                  <a:pt x="3148" y="128721"/>
                  <a:pt x="3148" y="118542"/>
                  <a:pt x="9410" y="112246"/>
                </a:cubicBezTo>
                <a:lnTo>
                  <a:pt x="15102" y="106553"/>
                </a:lnTo>
                <a:lnTo>
                  <a:pt x="39715" y="131166"/>
                </a:lnTo>
                <a:cubicBezTo>
                  <a:pt x="42863" y="134314"/>
                  <a:pt x="47952" y="134314"/>
                  <a:pt x="51067" y="131166"/>
                </a:cubicBezTo>
                <a:cubicBezTo>
                  <a:pt x="54181" y="128018"/>
                  <a:pt x="54214" y="122928"/>
                  <a:pt x="51067" y="119814"/>
                </a:cubicBezTo>
                <a:lnTo>
                  <a:pt x="26454" y="95202"/>
                </a:lnTo>
                <a:lnTo>
                  <a:pt x="37806" y="83850"/>
                </a:lnTo>
                <a:lnTo>
                  <a:pt x="54851" y="100894"/>
                </a:lnTo>
                <a:cubicBezTo>
                  <a:pt x="57998" y="104042"/>
                  <a:pt x="63088" y="104042"/>
                  <a:pt x="66202" y="100894"/>
                </a:cubicBezTo>
                <a:cubicBezTo>
                  <a:pt x="69317" y="97747"/>
                  <a:pt x="69350" y="92657"/>
                  <a:pt x="66202" y="89542"/>
                </a:cubicBezTo>
                <a:lnTo>
                  <a:pt x="49158" y="72498"/>
                </a:lnTo>
                <a:lnTo>
                  <a:pt x="60510" y="61146"/>
                </a:lnTo>
                <a:lnTo>
                  <a:pt x="85122" y="85758"/>
                </a:lnTo>
                <a:cubicBezTo>
                  <a:pt x="88270" y="88906"/>
                  <a:pt x="93360" y="88906"/>
                  <a:pt x="96474" y="85758"/>
                </a:cubicBezTo>
                <a:cubicBezTo>
                  <a:pt x="99588" y="82611"/>
                  <a:pt x="99622" y="77521"/>
                  <a:pt x="96474" y="74407"/>
                </a:cubicBezTo>
                <a:lnTo>
                  <a:pt x="71862" y="49794"/>
                </a:lnTo>
                <a:lnTo>
                  <a:pt x="83214" y="38442"/>
                </a:lnTo>
                <a:lnTo>
                  <a:pt x="100258" y="55487"/>
                </a:lnTo>
                <a:cubicBezTo>
                  <a:pt x="103406" y="58635"/>
                  <a:pt x="108496" y="58635"/>
                  <a:pt x="111610" y="55487"/>
                </a:cubicBezTo>
                <a:cubicBezTo>
                  <a:pt x="114724" y="52339"/>
                  <a:pt x="114758" y="47249"/>
                  <a:pt x="111610" y="44135"/>
                </a:cubicBezTo>
                <a:lnTo>
                  <a:pt x="94565" y="27090"/>
                </a:lnTo>
                <a:lnTo>
                  <a:pt x="105917" y="15739"/>
                </a:lnTo>
                <a:lnTo>
                  <a:pt x="130530" y="40351"/>
                </a:lnTo>
                <a:cubicBezTo>
                  <a:pt x="133677" y="43499"/>
                  <a:pt x="138767" y="43499"/>
                  <a:pt x="141882" y="40351"/>
                </a:cubicBezTo>
                <a:cubicBezTo>
                  <a:pt x="144996" y="37203"/>
                  <a:pt x="145029" y="32113"/>
                  <a:pt x="141882" y="28999"/>
                </a:cubicBezTo>
                <a:lnTo>
                  <a:pt x="117269" y="4387"/>
                </a:lnTo>
                <a:lnTo>
                  <a:pt x="122962" y="-1306"/>
                </a:lnTo>
                <a:cubicBezTo>
                  <a:pt x="129224" y="-7568"/>
                  <a:pt x="139404" y="-7568"/>
                  <a:pt x="145699" y="-1306"/>
                </a:cubicBezTo>
                <a:lnTo>
                  <a:pt x="183673" y="36467"/>
                </a:lnTo>
                <a:cubicBezTo>
                  <a:pt x="189934" y="42729"/>
                  <a:pt x="189934" y="52908"/>
                  <a:pt x="183673" y="59204"/>
                </a:cubicBezTo>
                <a:lnTo>
                  <a:pt x="70020" y="172856"/>
                </a:ln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900" y="4191000"/>
            <a:ext cx="561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Mechanical Calibration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4900" y="4533900"/>
            <a:ext cx="5600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Mechanical adjustments were calibrated to achieve accurate scaling and measurement precision.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" y="5372100"/>
            <a:ext cx="6438900" cy="571500"/>
          </a:xfrm>
          <a:custGeom>
            <a:avLst/>
            <a:gdLst/>
            <a:ahLst/>
            <a:cxnLst/>
            <a:rect l="l" t="t" r="r" b="b"/>
            <a:pathLst>
              <a:path w="6438900" h="571500">
                <a:moveTo>
                  <a:pt x="114300" y="0"/>
                </a:moveTo>
                <a:lnTo>
                  <a:pt x="6324600" y="0"/>
                </a:lnTo>
                <a:cubicBezTo>
                  <a:pt x="6387684" y="0"/>
                  <a:pt x="6438900" y="51216"/>
                  <a:pt x="6438900" y="114300"/>
                </a:cubicBezTo>
                <a:lnTo>
                  <a:pt x="6438900" y="457200"/>
                </a:lnTo>
                <a:cubicBezTo>
                  <a:pt x="6438900" y="520284"/>
                  <a:pt x="6387684" y="571500"/>
                  <a:pt x="6324600" y="571500"/>
                </a:cubicBezTo>
                <a:lnTo>
                  <a:pt x="114300" y="571500"/>
                </a:lnTo>
                <a:cubicBezTo>
                  <a:pt x="51216" y="571500"/>
                  <a:pt x="0" y="520284"/>
                  <a:pt x="0" y="457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57213" y="5562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6" name="Text 24"/>
          <p:cNvSpPr/>
          <p:nvPr/>
        </p:nvSpPr>
        <p:spPr>
          <a:xfrm>
            <a:off x="885825" y="5524500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 Diagram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48500" y="1257300"/>
            <a:ext cx="4762500" cy="5219700"/>
          </a:xfrm>
          <a:custGeom>
            <a:avLst/>
            <a:gdLst/>
            <a:ahLst/>
            <a:cxnLst/>
            <a:rect l="l" t="t" r="r" b="b"/>
            <a:pathLst>
              <a:path w="4762500" h="5219700">
                <a:moveTo>
                  <a:pt x="114300" y="0"/>
                </a:moveTo>
                <a:lnTo>
                  <a:pt x="4648200" y="0"/>
                </a:lnTo>
                <a:cubicBezTo>
                  <a:pt x="4711284" y="0"/>
                  <a:pt x="4762500" y="51216"/>
                  <a:pt x="4762500" y="114300"/>
                </a:cubicBezTo>
                <a:lnTo>
                  <a:pt x="4762500" y="5105400"/>
                </a:lnTo>
                <a:cubicBezTo>
                  <a:pt x="4762500" y="5168484"/>
                  <a:pt x="4711284" y="5219700"/>
                  <a:pt x="4648200" y="5219700"/>
                </a:cubicBezTo>
                <a:lnTo>
                  <a:pt x="114300" y="5219700"/>
                </a:lnTo>
                <a:cubicBezTo>
                  <a:pt x="51216" y="5219700"/>
                  <a:pt x="0" y="5168484"/>
                  <a:pt x="0" y="5105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234238" y="1485900"/>
            <a:ext cx="4391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Architecture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77100" y="2533650"/>
            <a:ext cx="4305300" cy="457200"/>
          </a:xfrm>
          <a:custGeom>
            <a:avLst/>
            <a:gdLst/>
            <a:ahLst/>
            <a:cxnLst/>
            <a:rect l="l" t="t" r="r" b="b"/>
            <a:pathLst>
              <a:path w="4305300" h="457200">
                <a:moveTo>
                  <a:pt x="76202" y="0"/>
                </a:moveTo>
                <a:lnTo>
                  <a:pt x="4229098" y="0"/>
                </a:lnTo>
                <a:cubicBezTo>
                  <a:pt x="4271183" y="0"/>
                  <a:pt x="4305300" y="34117"/>
                  <a:pt x="4305300" y="76202"/>
                </a:cubicBezTo>
                <a:lnTo>
                  <a:pt x="4305300" y="380998"/>
                </a:lnTo>
                <a:cubicBezTo>
                  <a:pt x="4305300" y="423083"/>
                  <a:pt x="4271183" y="457200"/>
                  <a:pt x="42290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30" name="Text 28"/>
          <p:cNvSpPr/>
          <p:nvPr/>
        </p:nvSpPr>
        <p:spPr>
          <a:xfrm>
            <a:off x="7353300" y="2647950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Optical Microscope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358313" y="31051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32" name="Shape 30"/>
          <p:cNvSpPr/>
          <p:nvPr/>
        </p:nvSpPr>
        <p:spPr>
          <a:xfrm>
            <a:off x="7277100" y="3409950"/>
            <a:ext cx="4305300" cy="457200"/>
          </a:xfrm>
          <a:custGeom>
            <a:avLst/>
            <a:gdLst/>
            <a:ahLst/>
            <a:cxnLst/>
            <a:rect l="l" t="t" r="r" b="b"/>
            <a:pathLst>
              <a:path w="4305300" h="457200">
                <a:moveTo>
                  <a:pt x="76202" y="0"/>
                </a:moveTo>
                <a:lnTo>
                  <a:pt x="4229098" y="0"/>
                </a:lnTo>
                <a:cubicBezTo>
                  <a:pt x="4271183" y="0"/>
                  <a:pt x="4305300" y="34117"/>
                  <a:pt x="4305300" y="76202"/>
                </a:cubicBezTo>
                <a:lnTo>
                  <a:pt x="4305300" y="380998"/>
                </a:lnTo>
                <a:cubicBezTo>
                  <a:pt x="4305300" y="423083"/>
                  <a:pt x="4271183" y="457200"/>
                  <a:pt x="42290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3" name="Text 31"/>
          <p:cNvSpPr/>
          <p:nvPr/>
        </p:nvSpPr>
        <p:spPr>
          <a:xfrm>
            <a:off x="7353300" y="3524250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Camera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358313" y="39814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35" name="Shape 33"/>
          <p:cNvSpPr/>
          <p:nvPr/>
        </p:nvSpPr>
        <p:spPr>
          <a:xfrm>
            <a:off x="7277100" y="4286250"/>
            <a:ext cx="4305300" cy="457200"/>
          </a:xfrm>
          <a:custGeom>
            <a:avLst/>
            <a:gdLst/>
            <a:ahLst/>
            <a:cxnLst/>
            <a:rect l="l" t="t" r="r" b="b"/>
            <a:pathLst>
              <a:path w="4305300" h="457200">
                <a:moveTo>
                  <a:pt x="76202" y="0"/>
                </a:moveTo>
                <a:lnTo>
                  <a:pt x="4229098" y="0"/>
                </a:lnTo>
                <a:cubicBezTo>
                  <a:pt x="4271183" y="0"/>
                  <a:pt x="4305300" y="34117"/>
                  <a:pt x="4305300" y="76202"/>
                </a:cubicBezTo>
                <a:lnTo>
                  <a:pt x="4305300" y="380998"/>
                </a:lnTo>
                <a:cubicBezTo>
                  <a:pt x="4305300" y="423083"/>
                  <a:pt x="4271183" y="457200"/>
                  <a:pt x="42290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36" name="Text 34"/>
          <p:cNvSpPr/>
          <p:nvPr/>
        </p:nvSpPr>
        <p:spPr>
          <a:xfrm>
            <a:off x="7353300" y="4400550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Illumination System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358313" y="48577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38" name="Shape 36"/>
          <p:cNvSpPr/>
          <p:nvPr/>
        </p:nvSpPr>
        <p:spPr>
          <a:xfrm>
            <a:off x="7277100" y="5162550"/>
            <a:ext cx="4305300" cy="457200"/>
          </a:xfrm>
          <a:custGeom>
            <a:avLst/>
            <a:gdLst/>
            <a:ahLst/>
            <a:cxnLst/>
            <a:rect l="l" t="t" r="r" b="b"/>
            <a:pathLst>
              <a:path w="4305300" h="457200">
                <a:moveTo>
                  <a:pt x="76202" y="0"/>
                </a:moveTo>
                <a:lnTo>
                  <a:pt x="4229098" y="0"/>
                </a:lnTo>
                <a:cubicBezTo>
                  <a:pt x="4271183" y="0"/>
                  <a:pt x="4305300" y="34117"/>
                  <a:pt x="4305300" y="76202"/>
                </a:cubicBezTo>
                <a:lnTo>
                  <a:pt x="4305300" y="380998"/>
                </a:lnTo>
                <a:cubicBezTo>
                  <a:pt x="4305300" y="423083"/>
                  <a:pt x="4271183" y="457200"/>
                  <a:pt x="42290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39" name="Text 37"/>
          <p:cNvSpPr/>
          <p:nvPr/>
        </p:nvSpPr>
        <p:spPr>
          <a:xfrm>
            <a:off x="7353300" y="5276850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 Unit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754" y="434417"/>
            <a:ext cx="453304" cy="453304"/>
          </a:xfrm>
          <a:custGeom>
            <a:avLst/>
            <a:gdLst/>
            <a:ahLst/>
            <a:cxnLst/>
            <a:rect l="l" t="t" r="r" b="b"/>
            <a:pathLst>
              <a:path w="453304" h="453304">
                <a:moveTo>
                  <a:pt x="113326" y="0"/>
                </a:moveTo>
                <a:lnTo>
                  <a:pt x="339978" y="0"/>
                </a:lnTo>
                <a:cubicBezTo>
                  <a:pt x="402525" y="0"/>
                  <a:pt x="453304" y="50780"/>
                  <a:pt x="453304" y="113326"/>
                </a:cubicBezTo>
                <a:lnTo>
                  <a:pt x="453304" y="339978"/>
                </a:lnTo>
                <a:cubicBezTo>
                  <a:pt x="453304" y="402567"/>
                  <a:pt x="402567" y="453304"/>
                  <a:pt x="339978" y="453304"/>
                </a:cubicBezTo>
                <a:lnTo>
                  <a:pt x="113326" y="453304"/>
                </a:lnTo>
                <a:cubicBezTo>
                  <a:pt x="50780" y="453304"/>
                  <a:pt x="0" y="402525"/>
                  <a:pt x="0" y="339978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62748" y="547743"/>
            <a:ext cx="283315" cy="226652"/>
          </a:xfrm>
          <a:custGeom>
            <a:avLst/>
            <a:gdLst/>
            <a:ahLst/>
            <a:cxnLst/>
            <a:rect l="l" t="t" r="r" b="b"/>
            <a:pathLst>
              <a:path w="283315" h="226652">
                <a:moveTo>
                  <a:pt x="28332" y="42497"/>
                </a:moveTo>
                <a:cubicBezTo>
                  <a:pt x="28332" y="26871"/>
                  <a:pt x="41036" y="14166"/>
                  <a:pt x="56663" y="14166"/>
                </a:cubicBezTo>
                <a:lnTo>
                  <a:pt x="226652" y="14166"/>
                </a:lnTo>
                <a:cubicBezTo>
                  <a:pt x="242279" y="14166"/>
                  <a:pt x="254984" y="26871"/>
                  <a:pt x="254984" y="42497"/>
                </a:cubicBezTo>
                <a:lnTo>
                  <a:pt x="254984" y="148741"/>
                </a:lnTo>
                <a:lnTo>
                  <a:pt x="226652" y="148741"/>
                </a:lnTo>
                <a:lnTo>
                  <a:pt x="226652" y="42497"/>
                </a:lnTo>
                <a:lnTo>
                  <a:pt x="56663" y="42497"/>
                </a:lnTo>
                <a:lnTo>
                  <a:pt x="56663" y="148741"/>
                </a:lnTo>
                <a:lnTo>
                  <a:pt x="28332" y="148741"/>
                </a:lnTo>
                <a:lnTo>
                  <a:pt x="28332" y="42497"/>
                </a:lnTo>
                <a:close/>
                <a:moveTo>
                  <a:pt x="0" y="178489"/>
                </a:moveTo>
                <a:cubicBezTo>
                  <a:pt x="0" y="173796"/>
                  <a:pt x="3807" y="169989"/>
                  <a:pt x="8499" y="169989"/>
                </a:cubicBezTo>
                <a:lnTo>
                  <a:pt x="274816" y="169989"/>
                </a:lnTo>
                <a:cubicBezTo>
                  <a:pt x="279508" y="169989"/>
                  <a:pt x="283315" y="173796"/>
                  <a:pt x="283315" y="178489"/>
                </a:cubicBezTo>
                <a:cubicBezTo>
                  <a:pt x="283315" y="197258"/>
                  <a:pt x="268087" y="212486"/>
                  <a:pt x="249317" y="212486"/>
                </a:cubicBezTo>
                <a:lnTo>
                  <a:pt x="33998" y="212486"/>
                </a:lnTo>
                <a:cubicBezTo>
                  <a:pt x="15228" y="212486"/>
                  <a:pt x="0" y="197258"/>
                  <a:pt x="0" y="178489"/>
                </a:cubicBezTo>
                <a:close/>
                <a:moveTo>
                  <a:pt x="124393" y="92520"/>
                </a:moveTo>
                <a:lnTo>
                  <a:pt x="110670" y="106243"/>
                </a:lnTo>
                <a:lnTo>
                  <a:pt x="124393" y="119966"/>
                </a:lnTo>
                <a:cubicBezTo>
                  <a:pt x="128554" y="124127"/>
                  <a:pt x="128554" y="130856"/>
                  <a:pt x="124393" y="134973"/>
                </a:cubicBezTo>
                <a:cubicBezTo>
                  <a:pt x="120232" y="139090"/>
                  <a:pt x="113503" y="139134"/>
                  <a:pt x="109386" y="134973"/>
                </a:cubicBezTo>
                <a:lnTo>
                  <a:pt x="88138" y="113725"/>
                </a:lnTo>
                <a:cubicBezTo>
                  <a:pt x="83976" y="109563"/>
                  <a:pt x="83976" y="102835"/>
                  <a:pt x="88138" y="98718"/>
                </a:cubicBezTo>
                <a:lnTo>
                  <a:pt x="109386" y="77469"/>
                </a:lnTo>
                <a:cubicBezTo>
                  <a:pt x="113547" y="73308"/>
                  <a:pt x="120276" y="73308"/>
                  <a:pt x="124393" y="77469"/>
                </a:cubicBezTo>
                <a:cubicBezTo>
                  <a:pt x="128510" y="81630"/>
                  <a:pt x="128554" y="88359"/>
                  <a:pt x="124393" y="92476"/>
                </a:cubicBezTo>
                <a:close/>
                <a:moveTo>
                  <a:pt x="173973" y="77469"/>
                </a:moveTo>
                <a:lnTo>
                  <a:pt x="195222" y="98718"/>
                </a:lnTo>
                <a:cubicBezTo>
                  <a:pt x="199383" y="102879"/>
                  <a:pt x="199383" y="109608"/>
                  <a:pt x="195222" y="113725"/>
                </a:cubicBezTo>
                <a:lnTo>
                  <a:pt x="173973" y="134973"/>
                </a:lnTo>
                <a:cubicBezTo>
                  <a:pt x="169812" y="139134"/>
                  <a:pt x="163083" y="139134"/>
                  <a:pt x="158966" y="134973"/>
                </a:cubicBezTo>
                <a:cubicBezTo>
                  <a:pt x="154849" y="130812"/>
                  <a:pt x="154805" y="124083"/>
                  <a:pt x="158966" y="119966"/>
                </a:cubicBezTo>
                <a:lnTo>
                  <a:pt x="172690" y="106243"/>
                </a:lnTo>
                <a:lnTo>
                  <a:pt x="158966" y="92520"/>
                </a:lnTo>
                <a:cubicBezTo>
                  <a:pt x="154805" y="88359"/>
                  <a:pt x="154805" y="81630"/>
                  <a:pt x="158966" y="77513"/>
                </a:cubicBezTo>
                <a:cubicBezTo>
                  <a:pt x="163128" y="73396"/>
                  <a:pt x="169856" y="73352"/>
                  <a:pt x="173973" y="77513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4" name="Text 2"/>
          <p:cNvSpPr/>
          <p:nvPr/>
        </p:nvSpPr>
        <p:spPr>
          <a:xfrm>
            <a:off x="944384" y="377754"/>
            <a:ext cx="3371452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kern="0" spc="52" dirty="0">
                <a:solidFill>
                  <a:srgbClr val="1ABC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 &amp; Implementation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4384" y="566631"/>
            <a:ext cx="3475334" cy="37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77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Software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7754" y="1019935"/>
            <a:ext cx="11512043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software system consists of modular components: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6641" y="1397689"/>
            <a:ext cx="6978999" cy="1001047"/>
          </a:xfrm>
          <a:custGeom>
            <a:avLst/>
            <a:gdLst/>
            <a:ahLst/>
            <a:cxnLst/>
            <a:rect l="l" t="t" r="r" b="b"/>
            <a:pathLst>
              <a:path w="6978999" h="1001047">
                <a:moveTo>
                  <a:pt x="37775" y="0"/>
                </a:moveTo>
                <a:lnTo>
                  <a:pt x="6865671" y="0"/>
                </a:lnTo>
                <a:cubicBezTo>
                  <a:pt x="6928260" y="0"/>
                  <a:pt x="6978999" y="50739"/>
                  <a:pt x="6978999" y="113329"/>
                </a:cubicBezTo>
                <a:lnTo>
                  <a:pt x="6978999" y="887719"/>
                </a:lnTo>
                <a:cubicBezTo>
                  <a:pt x="6978999" y="950308"/>
                  <a:pt x="6928260" y="1001047"/>
                  <a:pt x="6865671" y="1001047"/>
                </a:cubicBezTo>
                <a:lnTo>
                  <a:pt x="37775" y="1001047"/>
                </a:lnTo>
                <a:cubicBezTo>
                  <a:pt x="16913" y="1001047"/>
                  <a:pt x="0" y="984135"/>
                  <a:pt x="0" y="963272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332" dist="944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96641" y="1397689"/>
            <a:ext cx="37775" cy="1001047"/>
          </a:xfrm>
          <a:custGeom>
            <a:avLst/>
            <a:gdLst/>
            <a:ahLst/>
            <a:cxnLst/>
            <a:rect l="l" t="t" r="r" b="b"/>
            <a:pathLst>
              <a:path w="37775" h="1001047">
                <a:moveTo>
                  <a:pt x="37775" y="0"/>
                </a:moveTo>
                <a:lnTo>
                  <a:pt x="37775" y="0"/>
                </a:lnTo>
                <a:lnTo>
                  <a:pt x="37775" y="1001047"/>
                </a:lnTo>
                <a:lnTo>
                  <a:pt x="37775" y="1001047"/>
                </a:lnTo>
                <a:cubicBezTo>
                  <a:pt x="16913" y="1001047"/>
                  <a:pt x="0" y="984135"/>
                  <a:pt x="0" y="963272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9" name="Shape 7"/>
          <p:cNvSpPr/>
          <p:nvPr/>
        </p:nvSpPr>
        <p:spPr>
          <a:xfrm>
            <a:off x="566631" y="1548790"/>
            <a:ext cx="377754" cy="377754"/>
          </a:xfrm>
          <a:custGeom>
            <a:avLst/>
            <a:gdLst/>
            <a:ahLst/>
            <a:cxnLst/>
            <a:rect l="l" t="t" r="r" b="b"/>
            <a:pathLst>
              <a:path w="377754" h="377754">
                <a:moveTo>
                  <a:pt x="75551" y="0"/>
                </a:moveTo>
                <a:lnTo>
                  <a:pt x="302203" y="0"/>
                </a:lnTo>
                <a:cubicBezTo>
                  <a:pt x="343901" y="0"/>
                  <a:pt x="377754" y="33853"/>
                  <a:pt x="377754" y="75551"/>
                </a:cubicBezTo>
                <a:lnTo>
                  <a:pt x="377754" y="302203"/>
                </a:lnTo>
                <a:cubicBezTo>
                  <a:pt x="377754" y="343901"/>
                  <a:pt x="343901" y="377754"/>
                  <a:pt x="302203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72874" y="1652672"/>
            <a:ext cx="169989" cy="169989"/>
          </a:xfrm>
          <a:custGeom>
            <a:avLst/>
            <a:gdLst/>
            <a:ahLst/>
            <a:cxnLst/>
            <a:rect l="l" t="t" r="r" b="b"/>
            <a:pathLst>
              <a:path w="169989" h="169989">
                <a:moveTo>
                  <a:pt x="49503" y="21514"/>
                </a:moveTo>
                <a:lnTo>
                  <a:pt x="46050" y="31873"/>
                </a:lnTo>
                <a:lnTo>
                  <a:pt x="21249" y="31873"/>
                </a:lnTo>
                <a:cubicBezTo>
                  <a:pt x="9529" y="31873"/>
                  <a:pt x="0" y="41402"/>
                  <a:pt x="0" y="53122"/>
                </a:cubicBezTo>
                <a:lnTo>
                  <a:pt x="0" y="138116"/>
                </a:lnTo>
                <a:cubicBezTo>
                  <a:pt x="0" y="149836"/>
                  <a:pt x="9529" y="159365"/>
                  <a:pt x="21249" y="159365"/>
                </a:cubicBezTo>
                <a:lnTo>
                  <a:pt x="148741" y="159365"/>
                </a:lnTo>
                <a:cubicBezTo>
                  <a:pt x="160460" y="159365"/>
                  <a:pt x="169989" y="149836"/>
                  <a:pt x="169989" y="138116"/>
                </a:cubicBezTo>
                <a:lnTo>
                  <a:pt x="169989" y="53122"/>
                </a:lnTo>
                <a:cubicBezTo>
                  <a:pt x="169989" y="41402"/>
                  <a:pt x="160460" y="31873"/>
                  <a:pt x="148741" y="31873"/>
                </a:cubicBezTo>
                <a:lnTo>
                  <a:pt x="123939" y="31873"/>
                </a:lnTo>
                <a:lnTo>
                  <a:pt x="120486" y="21514"/>
                </a:lnTo>
                <a:cubicBezTo>
                  <a:pt x="118328" y="15007"/>
                  <a:pt x="112253" y="10624"/>
                  <a:pt x="105380" y="10624"/>
                </a:cubicBezTo>
                <a:lnTo>
                  <a:pt x="64609" y="10624"/>
                </a:lnTo>
                <a:cubicBezTo>
                  <a:pt x="57737" y="10624"/>
                  <a:pt x="51661" y="15007"/>
                  <a:pt x="49503" y="21514"/>
                </a:cubicBezTo>
                <a:close/>
                <a:moveTo>
                  <a:pt x="84995" y="63746"/>
                </a:moveTo>
                <a:cubicBezTo>
                  <a:pt x="102586" y="63746"/>
                  <a:pt x="116868" y="78028"/>
                  <a:pt x="116868" y="95619"/>
                </a:cubicBezTo>
                <a:cubicBezTo>
                  <a:pt x="116868" y="113210"/>
                  <a:pt x="102586" y="127492"/>
                  <a:pt x="84995" y="127492"/>
                </a:cubicBezTo>
                <a:cubicBezTo>
                  <a:pt x="67403" y="127492"/>
                  <a:pt x="53122" y="113210"/>
                  <a:pt x="53122" y="95619"/>
                </a:cubicBezTo>
                <a:cubicBezTo>
                  <a:pt x="53122" y="78028"/>
                  <a:pt x="67403" y="63746"/>
                  <a:pt x="84995" y="63746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1057710" y="1605453"/>
            <a:ext cx="2030426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Acquisition Module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631" y="2002095"/>
            <a:ext cx="6733459" cy="245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9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camera interface and real-time image capture from the microscope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6641" y="2512062"/>
            <a:ext cx="6978999" cy="1001047"/>
          </a:xfrm>
          <a:custGeom>
            <a:avLst/>
            <a:gdLst/>
            <a:ahLst/>
            <a:cxnLst/>
            <a:rect l="l" t="t" r="r" b="b"/>
            <a:pathLst>
              <a:path w="6978999" h="1001047">
                <a:moveTo>
                  <a:pt x="37775" y="0"/>
                </a:moveTo>
                <a:lnTo>
                  <a:pt x="6865671" y="0"/>
                </a:lnTo>
                <a:cubicBezTo>
                  <a:pt x="6928260" y="0"/>
                  <a:pt x="6978999" y="50739"/>
                  <a:pt x="6978999" y="113329"/>
                </a:cubicBezTo>
                <a:lnTo>
                  <a:pt x="6978999" y="887719"/>
                </a:lnTo>
                <a:cubicBezTo>
                  <a:pt x="6978999" y="950308"/>
                  <a:pt x="6928260" y="1001047"/>
                  <a:pt x="6865671" y="1001047"/>
                </a:cubicBezTo>
                <a:lnTo>
                  <a:pt x="37775" y="1001047"/>
                </a:lnTo>
                <a:cubicBezTo>
                  <a:pt x="16913" y="1001047"/>
                  <a:pt x="0" y="984135"/>
                  <a:pt x="0" y="963272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332" dist="944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96641" y="2512062"/>
            <a:ext cx="37775" cy="1001047"/>
          </a:xfrm>
          <a:custGeom>
            <a:avLst/>
            <a:gdLst/>
            <a:ahLst/>
            <a:cxnLst/>
            <a:rect l="l" t="t" r="r" b="b"/>
            <a:pathLst>
              <a:path w="37775" h="1001047">
                <a:moveTo>
                  <a:pt x="37775" y="0"/>
                </a:moveTo>
                <a:lnTo>
                  <a:pt x="37775" y="0"/>
                </a:lnTo>
                <a:lnTo>
                  <a:pt x="37775" y="1001047"/>
                </a:lnTo>
                <a:lnTo>
                  <a:pt x="37775" y="1001047"/>
                </a:lnTo>
                <a:cubicBezTo>
                  <a:pt x="16913" y="1001047"/>
                  <a:pt x="0" y="984135"/>
                  <a:pt x="0" y="963272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631" y="2663163"/>
            <a:ext cx="377754" cy="377754"/>
          </a:xfrm>
          <a:custGeom>
            <a:avLst/>
            <a:gdLst/>
            <a:ahLst/>
            <a:cxnLst/>
            <a:rect l="l" t="t" r="r" b="b"/>
            <a:pathLst>
              <a:path w="377754" h="377754">
                <a:moveTo>
                  <a:pt x="75551" y="0"/>
                </a:moveTo>
                <a:lnTo>
                  <a:pt x="302203" y="0"/>
                </a:lnTo>
                <a:cubicBezTo>
                  <a:pt x="343901" y="0"/>
                  <a:pt x="377754" y="33853"/>
                  <a:pt x="377754" y="75551"/>
                </a:cubicBezTo>
                <a:lnTo>
                  <a:pt x="377754" y="302203"/>
                </a:lnTo>
                <a:cubicBezTo>
                  <a:pt x="377754" y="343901"/>
                  <a:pt x="343901" y="377754"/>
                  <a:pt x="302203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72874" y="2767046"/>
            <a:ext cx="169989" cy="169989"/>
          </a:xfrm>
          <a:custGeom>
            <a:avLst/>
            <a:gdLst/>
            <a:ahLst/>
            <a:cxnLst/>
            <a:rect l="l" t="t" r="r" b="b"/>
            <a:pathLst>
              <a:path w="169989" h="169989">
                <a:moveTo>
                  <a:pt x="132306" y="4051"/>
                </a:moveTo>
                <a:lnTo>
                  <a:pt x="103023" y="33334"/>
                </a:lnTo>
                <a:lnTo>
                  <a:pt x="136655" y="66966"/>
                </a:lnTo>
                <a:lnTo>
                  <a:pt x="165939" y="37683"/>
                </a:lnTo>
                <a:cubicBezTo>
                  <a:pt x="168528" y="35060"/>
                  <a:pt x="169989" y="31541"/>
                  <a:pt x="169989" y="27889"/>
                </a:cubicBezTo>
                <a:cubicBezTo>
                  <a:pt x="169989" y="24237"/>
                  <a:pt x="168528" y="20717"/>
                  <a:pt x="165939" y="18095"/>
                </a:cubicBezTo>
                <a:lnTo>
                  <a:pt x="151895" y="4051"/>
                </a:lnTo>
                <a:cubicBezTo>
                  <a:pt x="149272" y="1461"/>
                  <a:pt x="145752" y="0"/>
                  <a:pt x="142100" y="0"/>
                </a:cubicBezTo>
                <a:cubicBezTo>
                  <a:pt x="138448" y="0"/>
                  <a:pt x="134929" y="1461"/>
                  <a:pt x="132306" y="4051"/>
                </a:cubicBezTo>
                <a:close/>
                <a:moveTo>
                  <a:pt x="91768" y="44589"/>
                </a:moveTo>
                <a:lnTo>
                  <a:pt x="4051" y="132306"/>
                </a:lnTo>
                <a:cubicBezTo>
                  <a:pt x="1461" y="134929"/>
                  <a:pt x="0" y="138448"/>
                  <a:pt x="0" y="142100"/>
                </a:cubicBezTo>
                <a:cubicBezTo>
                  <a:pt x="0" y="145752"/>
                  <a:pt x="1461" y="149272"/>
                  <a:pt x="4051" y="151895"/>
                </a:cubicBezTo>
                <a:lnTo>
                  <a:pt x="18095" y="165939"/>
                </a:lnTo>
                <a:cubicBezTo>
                  <a:pt x="20717" y="168528"/>
                  <a:pt x="24237" y="169989"/>
                  <a:pt x="27889" y="169989"/>
                </a:cubicBezTo>
                <a:cubicBezTo>
                  <a:pt x="31541" y="169989"/>
                  <a:pt x="35060" y="168528"/>
                  <a:pt x="37683" y="165939"/>
                </a:cubicBezTo>
                <a:lnTo>
                  <a:pt x="125400" y="78222"/>
                </a:lnTo>
                <a:lnTo>
                  <a:pt x="91768" y="44589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7" name="Text 15"/>
          <p:cNvSpPr/>
          <p:nvPr/>
        </p:nvSpPr>
        <p:spPr>
          <a:xfrm>
            <a:off x="1057710" y="2719826"/>
            <a:ext cx="1765998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 Module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631" y="3116468"/>
            <a:ext cx="6733459" cy="245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9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Noise reduction, contrast enhancement, and image normalization techniques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6641" y="3626435"/>
            <a:ext cx="6978999" cy="1001047"/>
          </a:xfrm>
          <a:custGeom>
            <a:avLst/>
            <a:gdLst/>
            <a:ahLst/>
            <a:cxnLst/>
            <a:rect l="l" t="t" r="r" b="b"/>
            <a:pathLst>
              <a:path w="6978999" h="1001047">
                <a:moveTo>
                  <a:pt x="37775" y="0"/>
                </a:moveTo>
                <a:lnTo>
                  <a:pt x="6865671" y="0"/>
                </a:lnTo>
                <a:cubicBezTo>
                  <a:pt x="6928260" y="0"/>
                  <a:pt x="6978999" y="50739"/>
                  <a:pt x="6978999" y="113329"/>
                </a:cubicBezTo>
                <a:lnTo>
                  <a:pt x="6978999" y="887719"/>
                </a:lnTo>
                <a:cubicBezTo>
                  <a:pt x="6978999" y="950308"/>
                  <a:pt x="6928260" y="1001047"/>
                  <a:pt x="6865671" y="1001047"/>
                </a:cubicBezTo>
                <a:lnTo>
                  <a:pt x="37775" y="1001047"/>
                </a:lnTo>
                <a:cubicBezTo>
                  <a:pt x="16913" y="1001047"/>
                  <a:pt x="0" y="984135"/>
                  <a:pt x="0" y="963272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332" dist="944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6641" y="3626435"/>
            <a:ext cx="37775" cy="1001047"/>
          </a:xfrm>
          <a:custGeom>
            <a:avLst/>
            <a:gdLst/>
            <a:ahLst/>
            <a:cxnLst/>
            <a:rect l="l" t="t" r="r" b="b"/>
            <a:pathLst>
              <a:path w="37775" h="1001047">
                <a:moveTo>
                  <a:pt x="37775" y="0"/>
                </a:moveTo>
                <a:lnTo>
                  <a:pt x="37775" y="0"/>
                </a:lnTo>
                <a:lnTo>
                  <a:pt x="37775" y="1001047"/>
                </a:lnTo>
                <a:lnTo>
                  <a:pt x="37775" y="1001047"/>
                </a:lnTo>
                <a:cubicBezTo>
                  <a:pt x="16913" y="1001047"/>
                  <a:pt x="0" y="984135"/>
                  <a:pt x="0" y="963272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631" y="3777537"/>
            <a:ext cx="377754" cy="377754"/>
          </a:xfrm>
          <a:custGeom>
            <a:avLst/>
            <a:gdLst/>
            <a:ahLst/>
            <a:cxnLst/>
            <a:rect l="l" t="t" r="r" b="b"/>
            <a:pathLst>
              <a:path w="377754" h="377754">
                <a:moveTo>
                  <a:pt x="75551" y="0"/>
                </a:moveTo>
                <a:lnTo>
                  <a:pt x="302203" y="0"/>
                </a:lnTo>
                <a:cubicBezTo>
                  <a:pt x="343901" y="0"/>
                  <a:pt x="377754" y="33853"/>
                  <a:pt x="377754" y="75551"/>
                </a:cubicBezTo>
                <a:lnTo>
                  <a:pt x="377754" y="302203"/>
                </a:lnTo>
                <a:cubicBezTo>
                  <a:pt x="377754" y="343901"/>
                  <a:pt x="343901" y="377754"/>
                  <a:pt x="302203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5D6D7E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72874" y="3881419"/>
            <a:ext cx="169989" cy="169989"/>
          </a:xfrm>
          <a:custGeom>
            <a:avLst/>
            <a:gdLst/>
            <a:ahLst/>
            <a:cxnLst/>
            <a:rect l="l" t="t" r="r" b="b"/>
            <a:pathLst>
              <a:path w="169989" h="169989">
                <a:moveTo>
                  <a:pt x="138116" y="69058"/>
                </a:moveTo>
                <a:cubicBezTo>
                  <a:pt x="138116" y="84297"/>
                  <a:pt x="133169" y="98375"/>
                  <a:pt x="124836" y="109796"/>
                </a:cubicBezTo>
                <a:lnTo>
                  <a:pt x="166868" y="151861"/>
                </a:lnTo>
                <a:cubicBezTo>
                  <a:pt x="171018" y="156012"/>
                  <a:pt x="171018" y="162751"/>
                  <a:pt x="166868" y="166901"/>
                </a:cubicBezTo>
                <a:cubicBezTo>
                  <a:pt x="162718" y="171052"/>
                  <a:pt x="155978" y="171052"/>
                  <a:pt x="151828" y="166901"/>
                </a:cubicBezTo>
                <a:lnTo>
                  <a:pt x="109796" y="124836"/>
                </a:lnTo>
                <a:cubicBezTo>
                  <a:pt x="98375" y="133169"/>
                  <a:pt x="84297" y="138116"/>
                  <a:pt x="69058" y="138116"/>
                </a:cubicBezTo>
                <a:cubicBezTo>
                  <a:pt x="30910" y="138116"/>
                  <a:pt x="0" y="107206"/>
                  <a:pt x="0" y="69058"/>
                </a:cubicBezTo>
                <a:cubicBezTo>
                  <a:pt x="0" y="30910"/>
                  <a:pt x="30910" y="0"/>
                  <a:pt x="69058" y="0"/>
                </a:cubicBezTo>
                <a:cubicBezTo>
                  <a:pt x="107206" y="0"/>
                  <a:pt x="138116" y="30910"/>
                  <a:pt x="138116" y="69058"/>
                </a:cubicBezTo>
                <a:close/>
                <a:moveTo>
                  <a:pt x="69058" y="116868"/>
                </a:moveTo>
                <a:cubicBezTo>
                  <a:pt x="95445" y="116868"/>
                  <a:pt x="116868" y="95445"/>
                  <a:pt x="116868" y="69058"/>
                </a:cubicBezTo>
                <a:cubicBezTo>
                  <a:pt x="116868" y="42671"/>
                  <a:pt x="95445" y="21249"/>
                  <a:pt x="69058" y="21249"/>
                </a:cubicBezTo>
                <a:cubicBezTo>
                  <a:pt x="42671" y="21249"/>
                  <a:pt x="21249" y="42671"/>
                  <a:pt x="21249" y="69058"/>
                </a:cubicBezTo>
                <a:cubicBezTo>
                  <a:pt x="21249" y="95445"/>
                  <a:pt x="42671" y="116868"/>
                  <a:pt x="69058" y="116868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3" name="Text 21"/>
          <p:cNvSpPr/>
          <p:nvPr/>
        </p:nvSpPr>
        <p:spPr>
          <a:xfrm>
            <a:off x="1057710" y="3834200"/>
            <a:ext cx="2058758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Extraction Module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631" y="4230841"/>
            <a:ext cx="6733459" cy="245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9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Identifies and extracts relevant features for analysis and classification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96641" y="4740809"/>
            <a:ext cx="6978999" cy="1001047"/>
          </a:xfrm>
          <a:custGeom>
            <a:avLst/>
            <a:gdLst/>
            <a:ahLst/>
            <a:cxnLst/>
            <a:rect l="l" t="t" r="r" b="b"/>
            <a:pathLst>
              <a:path w="6978999" h="1001047">
                <a:moveTo>
                  <a:pt x="37775" y="0"/>
                </a:moveTo>
                <a:lnTo>
                  <a:pt x="6865671" y="0"/>
                </a:lnTo>
                <a:cubicBezTo>
                  <a:pt x="6928260" y="0"/>
                  <a:pt x="6978999" y="50739"/>
                  <a:pt x="6978999" y="113329"/>
                </a:cubicBezTo>
                <a:lnTo>
                  <a:pt x="6978999" y="887719"/>
                </a:lnTo>
                <a:cubicBezTo>
                  <a:pt x="6978999" y="950308"/>
                  <a:pt x="6928260" y="1001047"/>
                  <a:pt x="6865671" y="1001047"/>
                </a:cubicBezTo>
                <a:lnTo>
                  <a:pt x="37775" y="1001047"/>
                </a:lnTo>
                <a:cubicBezTo>
                  <a:pt x="16913" y="1001047"/>
                  <a:pt x="0" y="984135"/>
                  <a:pt x="0" y="963272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332" dist="944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96641" y="4740809"/>
            <a:ext cx="37775" cy="1001047"/>
          </a:xfrm>
          <a:custGeom>
            <a:avLst/>
            <a:gdLst/>
            <a:ahLst/>
            <a:cxnLst/>
            <a:rect l="l" t="t" r="r" b="b"/>
            <a:pathLst>
              <a:path w="37775" h="1001047">
                <a:moveTo>
                  <a:pt x="37775" y="0"/>
                </a:moveTo>
                <a:lnTo>
                  <a:pt x="37775" y="0"/>
                </a:lnTo>
                <a:lnTo>
                  <a:pt x="37775" y="1001047"/>
                </a:lnTo>
                <a:lnTo>
                  <a:pt x="37775" y="1001047"/>
                </a:lnTo>
                <a:cubicBezTo>
                  <a:pt x="16913" y="1001047"/>
                  <a:pt x="0" y="984135"/>
                  <a:pt x="0" y="963272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7" name="Shape 25"/>
          <p:cNvSpPr/>
          <p:nvPr/>
        </p:nvSpPr>
        <p:spPr>
          <a:xfrm>
            <a:off x="566631" y="4891910"/>
            <a:ext cx="377754" cy="377754"/>
          </a:xfrm>
          <a:custGeom>
            <a:avLst/>
            <a:gdLst/>
            <a:ahLst/>
            <a:cxnLst/>
            <a:rect l="l" t="t" r="r" b="b"/>
            <a:pathLst>
              <a:path w="377754" h="377754">
                <a:moveTo>
                  <a:pt x="75551" y="0"/>
                </a:moveTo>
                <a:lnTo>
                  <a:pt x="302203" y="0"/>
                </a:lnTo>
                <a:cubicBezTo>
                  <a:pt x="343901" y="0"/>
                  <a:pt x="377754" y="33853"/>
                  <a:pt x="377754" y="75551"/>
                </a:cubicBezTo>
                <a:lnTo>
                  <a:pt x="377754" y="302203"/>
                </a:lnTo>
                <a:cubicBezTo>
                  <a:pt x="377754" y="343901"/>
                  <a:pt x="343901" y="377754"/>
                  <a:pt x="302203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72874" y="4995792"/>
            <a:ext cx="169989" cy="169989"/>
          </a:xfrm>
          <a:custGeom>
            <a:avLst/>
            <a:gdLst/>
            <a:ahLst/>
            <a:cxnLst/>
            <a:rect l="l" t="t" r="r" b="b"/>
            <a:pathLst>
              <a:path w="169989" h="169989">
                <a:moveTo>
                  <a:pt x="10624" y="10624"/>
                </a:moveTo>
                <a:cubicBezTo>
                  <a:pt x="16501" y="10624"/>
                  <a:pt x="21249" y="15372"/>
                  <a:pt x="21249" y="21249"/>
                </a:cubicBezTo>
                <a:lnTo>
                  <a:pt x="21249" y="132804"/>
                </a:lnTo>
                <a:cubicBezTo>
                  <a:pt x="21249" y="135726"/>
                  <a:pt x="23639" y="138116"/>
                  <a:pt x="26561" y="138116"/>
                </a:cubicBezTo>
                <a:lnTo>
                  <a:pt x="159365" y="138116"/>
                </a:lnTo>
                <a:cubicBezTo>
                  <a:pt x="165241" y="138116"/>
                  <a:pt x="169989" y="142864"/>
                  <a:pt x="169989" y="148741"/>
                </a:cubicBezTo>
                <a:cubicBezTo>
                  <a:pt x="169989" y="154617"/>
                  <a:pt x="165241" y="159365"/>
                  <a:pt x="159365" y="159365"/>
                </a:cubicBezTo>
                <a:lnTo>
                  <a:pt x="26561" y="159365"/>
                </a:lnTo>
                <a:cubicBezTo>
                  <a:pt x="11886" y="159365"/>
                  <a:pt x="0" y="147479"/>
                  <a:pt x="0" y="132804"/>
                </a:cubicBezTo>
                <a:lnTo>
                  <a:pt x="0" y="21249"/>
                </a:lnTo>
                <a:cubicBezTo>
                  <a:pt x="0" y="15372"/>
                  <a:pt x="4748" y="10624"/>
                  <a:pt x="10624" y="10624"/>
                </a:cubicBezTo>
                <a:close/>
                <a:moveTo>
                  <a:pt x="42497" y="31873"/>
                </a:moveTo>
                <a:cubicBezTo>
                  <a:pt x="42497" y="25996"/>
                  <a:pt x="47245" y="21249"/>
                  <a:pt x="53122" y="21249"/>
                </a:cubicBezTo>
                <a:lnTo>
                  <a:pt x="116868" y="21249"/>
                </a:lnTo>
                <a:cubicBezTo>
                  <a:pt x="122744" y="21249"/>
                  <a:pt x="127492" y="25996"/>
                  <a:pt x="127492" y="31873"/>
                </a:cubicBezTo>
                <a:cubicBezTo>
                  <a:pt x="127492" y="37750"/>
                  <a:pt x="122744" y="42497"/>
                  <a:pt x="116868" y="42497"/>
                </a:cubicBezTo>
                <a:lnTo>
                  <a:pt x="53122" y="42497"/>
                </a:lnTo>
                <a:cubicBezTo>
                  <a:pt x="47245" y="42497"/>
                  <a:pt x="42497" y="37750"/>
                  <a:pt x="42497" y="31873"/>
                </a:cubicBezTo>
                <a:close/>
                <a:moveTo>
                  <a:pt x="53122" y="58434"/>
                </a:moveTo>
                <a:lnTo>
                  <a:pt x="95619" y="58434"/>
                </a:lnTo>
                <a:cubicBezTo>
                  <a:pt x="101495" y="58434"/>
                  <a:pt x="106243" y="63182"/>
                  <a:pt x="106243" y="69058"/>
                </a:cubicBezTo>
                <a:cubicBezTo>
                  <a:pt x="106243" y="74935"/>
                  <a:pt x="101495" y="79682"/>
                  <a:pt x="95619" y="79682"/>
                </a:cubicBezTo>
                <a:lnTo>
                  <a:pt x="53122" y="79682"/>
                </a:lnTo>
                <a:cubicBezTo>
                  <a:pt x="47245" y="79682"/>
                  <a:pt x="42497" y="74935"/>
                  <a:pt x="42497" y="69058"/>
                </a:cubicBezTo>
                <a:cubicBezTo>
                  <a:pt x="42497" y="63182"/>
                  <a:pt x="47245" y="58434"/>
                  <a:pt x="53122" y="58434"/>
                </a:cubicBezTo>
                <a:close/>
                <a:moveTo>
                  <a:pt x="53122" y="95619"/>
                </a:moveTo>
                <a:lnTo>
                  <a:pt x="138116" y="95619"/>
                </a:lnTo>
                <a:cubicBezTo>
                  <a:pt x="143993" y="95619"/>
                  <a:pt x="148741" y="100367"/>
                  <a:pt x="148741" y="106243"/>
                </a:cubicBezTo>
                <a:cubicBezTo>
                  <a:pt x="148741" y="112120"/>
                  <a:pt x="143993" y="116868"/>
                  <a:pt x="138116" y="116868"/>
                </a:cubicBezTo>
                <a:lnTo>
                  <a:pt x="53122" y="116868"/>
                </a:lnTo>
                <a:cubicBezTo>
                  <a:pt x="47245" y="116868"/>
                  <a:pt x="42497" y="112120"/>
                  <a:pt x="42497" y="106243"/>
                </a:cubicBezTo>
                <a:cubicBezTo>
                  <a:pt x="42497" y="100367"/>
                  <a:pt x="47245" y="95619"/>
                  <a:pt x="53122" y="95619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9" name="Text 27"/>
          <p:cNvSpPr/>
          <p:nvPr/>
        </p:nvSpPr>
        <p:spPr>
          <a:xfrm>
            <a:off x="1057710" y="4948573"/>
            <a:ext cx="2549837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Measurement &amp; Analysis Module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631" y="5345215"/>
            <a:ext cx="6733459" cy="245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9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Quantitative measurements and AI-based sample analysis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96641" y="5855182"/>
            <a:ext cx="6978999" cy="1001047"/>
          </a:xfrm>
          <a:custGeom>
            <a:avLst/>
            <a:gdLst/>
            <a:ahLst/>
            <a:cxnLst/>
            <a:rect l="l" t="t" r="r" b="b"/>
            <a:pathLst>
              <a:path w="6978999" h="1001047">
                <a:moveTo>
                  <a:pt x="37775" y="0"/>
                </a:moveTo>
                <a:lnTo>
                  <a:pt x="6865671" y="0"/>
                </a:lnTo>
                <a:cubicBezTo>
                  <a:pt x="6928260" y="0"/>
                  <a:pt x="6978999" y="50739"/>
                  <a:pt x="6978999" y="113329"/>
                </a:cubicBezTo>
                <a:lnTo>
                  <a:pt x="6978999" y="887719"/>
                </a:lnTo>
                <a:cubicBezTo>
                  <a:pt x="6978999" y="950308"/>
                  <a:pt x="6928260" y="1001047"/>
                  <a:pt x="6865671" y="1001047"/>
                </a:cubicBezTo>
                <a:lnTo>
                  <a:pt x="37775" y="1001047"/>
                </a:lnTo>
                <a:cubicBezTo>
                  <a:pt x="16913" y="1001047"/>
                  <a:pt x="0" y="984135"/>
                  <a:pt x="0" y="963272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332" dist="944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96641" y="5855182"/>
            <a:ext cx="37775" cy="1001047"/>
          </a:xfrm>
          <a:custGeom>
            <a:avLst/>
            <a:gdLst/>
            <a:ahLst/>
            <a:cxnLst/>
            <a:rect l="l" t="t" r="r" b="b"/>
            <a:pathLst>
              <a:path w="37775" h="1001047">
                <a:moveTo>
                  <a:pt x="37775" y="0"/>
                </a:moveTo>
                <a:lnTo>
                  <a:pt x="37775" y="0"/>
                </a:lnTo>
                <a:lnTo>
                  <a:pt x="37775" y="1001047"/>
                </a:lnTo>
                <a:lnTo>
                  <a:pt x="37775" y="1001047"/>
                </a:lnTo>
                <a:cubicBezTo>
                  <a:pt x="16913" y="1001047"/>
                  <a:pt x="0" y="984135"/>
                  <a:pt x="0" y="963272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3" name="Shape 31"/>
          <p:cNvSpPr/>
          <p:nvPr/>
        </p:nvSpPr>
        <p:spPr>
          <a:xfrm>
            <a:off x="566631" y="6006284"/>
            <a:ext cx="377754" cy="377754"/>
          </a:xfrm>
          <a:custGeom>
            <a:avLst/>
            <a:gdLst/>
            <a:ahLst/>
            <a:cxnLst/>
            <a:rect l="l" t="t" r="r" b="b"/>
            <a:pathLst>
              <a:path w="377754" h="377754">
                <a:moveTo>
                  <a:pt x="75551" y="0"/>
                </a:moveTo>
                <a:lnTo>
                  <a:pt x="302203" y="0"/>
                </a:lnTo>
                <a:cubicBezTo>
                  <a:pt x="343901" y="0"/>
                  <a:pt x="377754" y="33853"/>
                  <a:pt x="377754" y="75551"/>
                </a:cubicBezTo>
                <a:lnTo>
                  <a:pt x="377754" y="302203"/>
                </a:lnTo>
                <a:cubicBezTo>
                  <a:pt x="377754" y="343901"/>
                  <a:pt x="343901" y="377754"/>
                  <a:pt x="302203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72874" y="6110166"/>
            <a:ext cx="169989" cy="169989"/>
          </a:xfrm>
          <a:custGeom>
            <a:avLst/>
            <a:gdLst/>
            <a:ahLst/>
            <a:cxnLst/>
            <a:rect l="l" t="t" r="r" b="b"/>
            <a:pathLst>
              <a:path w="169989" h="169989">
                <a:moveTo>
                  <a:pt x="21249" y="10624"/>
                </a:moveTo>
                <a:cubicBezTo>
                  <a:pt x="9529" y="10624"/>
                  <a:pt x="0" y="20153"/>
                  <a:pt x="0" y="31873"/>
                </a:cubicBezTo>
                <a:lnTo>
                  <a:pt x="0" y="116868"/>
                </a:lnTo>
                <a:cubicBezTo>
                  <a:pt x="0" y="128588"/>
                  <a:pt x="9529" y="138116"/>
                  <a:pt x="21249" y="138116"/>
                </a:cubicBezTo>
                <a:lnTo>
                  <a:pt x="69058" y="138116"/>
                </a:lnTo>
                <a:lnTo>
                  <a:pt x="63746" y="154053"/>
                </a:lnTo>
                <a:lnTo>
                  <a:pt x="39841" y="154053"/>
                </a:lnTo>
                <a:cubicBezTo>
                  <a:pt x="35425" y="154053"/>
                  <a:pt x="31873" y="157605"/>
                  <a:pt x="31873" y="162021"/>
                </a:cubicBezTo>
                <a:cubicBezTo>
                  <a:pt x="31873" y="166437"/>
                  <a:pt x="35425" y="169989"/>
                  <a:pt x="39841" y="169989"/>
                </a:cubicBezTo>
                <a:lnTo>
                  <a:pt x="130148" y="169989"/>
                </a:lnTo>
                <a:cubicBezTo>
                  <a:pt x="134564" y="169989"/>
                  <a:pt x="138116" y="166437"/>
                  <a:pt x="138116" y="162021"/>
                </a:cubicBezTo>
                <a:cubicBezTo>
                  <a:pt x="138116" y="157605"/>
                  <a:pt x="134564" y="154053"/>
                  <a:pt x="130148" y="154053"/>
                </a:cubicBezTo>
                <a:lnTo>
                  <a:pt x="106243" y="154053"/>
                </a:lnTo>
                <a:lnTo>
                  <a:pt x="100931" y="138116"/>
                </a:lnTo>
                <a:lnTo>
                  <a:pt x="148741" y="138116"/>
                </a:lnTo>
                <a:cubicBezTo>
                  <a:pt x="160460" y="138116"/>
                  <a:pt x="169989" y="128588"/>
                  <a:pt x="169989" y="116868"/>
                </a:cubicBezTo>
                <a:lnTo>
                  <a:pt x="169989" y="31873"/>
                </a:lnTo>
                <a:cubicBezTo>
                  <a:pt x="169989" y="20153"/>
                  <a:pt x="160460" y="10624"/>
                  <a:pt x="148741" y="10624"/>
                </a:cubicBezTo>
                <a:lnTo>
                  <a:pt x="21249" y="10624"/>
                </a:lnTo>
                <a:close/>
                <a:moveTo>
                  <a:pt x="31873" y="31873"/>
                </a:moveTo>
                <a:lnTo>
                  <a:pt x="138116" y="31873"/>
                </a:lnTo>
                <a:cubicBezTo>
                  <a:pt x="143993" y="31873"/>
                  <a:pt x="148741" y="36621"/>
                  <a:pt x="148741" y="42497"/>
                </a:cubicBezTo>
                <a:lnTo>
                  <a:pt x="148741" y="95619"/>
                </a:lnTo>
                <a:cubicBezTo>
                  <a:pt x="148741" y="101495"/>
                  <a:pt x="143993" y="106243"/>
                  <a:pt x="138116" y="106243"/>
                </a:cubicBezTo>
                <a:lnTo>
                  <a:pt x="31873" y="106243"/>
                </a:lnTo>
                <a:cubicBezTo>
                  <a:pt x="25996" y="106243"/>
                  <a:pt x="21249" y="101495"/>
                  <a:pt x="21249" y="95619"/>
                </a:cubicBezTo>
                <a:lnTo>
                  <a:pt x="21249" y="42497"/>
                </a:lnTo>
                <a:cubicBezTo>
                  <a:pt x="21249" y="36621"/>
                  <a:pt x="25996" y="31873"/>
                  <a:pt x="31873" y="31873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5" name="Text 33"/>
          <p:cNvSpPr/>
          <p:nvPr/>
        </p:nvSpPr>
        <p:spPr>
          <a:xfrm>
            <a:off x="1057710" y="6062947"/>
            <a:ext cx="2332629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Visualization Interface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66631" y="6459588"/>
            <a:ext cx="6733459" cy="245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9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User-friendly display of processed images and analysis results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61330" y="1397689"/>
            <a:ext cx="4249729" cy="4363055"/>
          </a:xfrm>
          <a:custGeom>
            <a:avLst/>
            <a:gdLst/>
            <a:ahLst/>
            <a:cxnLst/>
            <a:rect l="l" t="t" r="r" b="b"/>
            <a:pathLst>
              <a:path w="4249729" h="4363055">
                <a:moveTo>
                  <a:pt x="113340" y="0"/>
                </a:moveTo>
                <a:lnTo>
                  <a:pt x="4136389" y="0"/>
                </a:lnTo>
                <a:cubicBezTo>
                  <a:pt x="4198985" y="0"/>
                  <a:pt x="4249729" y="50744"/>
                  <a:pt x="4249729" y="113340"/>
                </a:cubicBezTo>
                <a:lnTo>
                  <a:pt x="4249729" y="4249715"/>
                </a:lnTo>
                <a:cubicBezTo>
                  <a:pt x="4249729" y="4312311"/>
                  <a:pt x="4198985" y="4363055"/>
                  <a:pt x="4136389" y="4363055"/>
                </a:cubicBezTo>
                <a:lnTo>
                  <a:pt x="113340" y="4363055"/>
                </a:lnTo>
                <a:cubicBezTo>
                  <a:pt x="50744" y="4363055"/>
                  <a:pt x="0" y="4312311"/>
                  <a:pt x="0" y="4249715"/>
                </a:cubicBezTo>
                <a:lnTo>
                  <a:pt x="0" y="113340"/>
                </a:lnTo>
                <a:cubicBezTo>
                  <a:pt x="0" y="50744"/>
                  <a:pt x="50744" y="0"/>
                  <a:pt x="11334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332" dist="944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707710" y="1586565"/>
            <a:ext cx="3956970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Software Workflow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750207" y="2181527"/>
            <a:ext cx="3871975" cy="377754"/>
          </a:xfrm>
          <a:custGeom>
            <a:avLst/>
            <a:gdLst/>
            <a:ahLst/>
            <a:cxnLst/>
            <a:rect l="l" t="t" r="r" b="b"/>
            <a:pathLst>
              <a:path w="3871975" h="377754">
                <a:moveTo>
                  <a:pt x="75551" y="0"/>
                </a:moveTo>
                <a:lnTo>
                  <a:pt x="3796424" y="0"/>
                </a:lnTo>
                <a:cubicBezTo>
                  <a:pt x="3838150" y="0"/>
                  <a:pt x="3871975" y="33825"/>
                  <a:pt x="3871975" y="75551"/>
                </a:cubicBezTo>
                <a:lnTo>
                  <a:pt x="3871975" y="302203"/>
                </a:lnTo>
                <a:cubicBezTo>
                  <a:pt x="3871975" y="343928"/>
                  <a:pt x="3838150" y="377754"/>
                  <a:pt x="3796424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40" name="Text 38"/>
          <p:cNvSpPr/>
          <p:nvPr/>
        </p:nvSpPr>
        <p:spPr>
          <a:xfrm>
            <a:off x="7787983" y="2257078"/>
            <a:ext cx="3796424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Acquisition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624810" y="2634832"/>
            <a:ext cx="127492" cy="169989"/>
          </a:xfrm>
          <a:custGeom>
            <a:avLst/>
            <a:gdLst/>
            <a:ahLst/>
            <a:cxnLst/>
            <a:rect l="l" t="t" r="r" b="b"/>
            <a:pathLst>
              <a:path w="127492" h="169989">
                <a:moveTo>
                  <a:pt x="56243" y="166868"/>
                </a:moveTo>
                <a:cubicBezTo>
                  <a:pt x="60393" y="171018"/>
                  <a:pt x="67132" y="171018"/>
                  <a:pt x="71283" y="166868"/>
                </a:cubicBezTo>
                <a:lnTo>
                  <a:pt x="124404" y="113747"/>
                </a:lnTo>
                <a:cubicBezTo>
                  <a:pt x="128554" y="109597"/>
                  <a:pt x="128554" y="102857"/>
                  <a:pt x="124404" y="98707"/>
                </a:cubicBezTo>
                <a:cubicBezTo>
                  <a:pt x="120254" y="94556"/>
                  <a:pt x="113514" y="94556"/>
                  <a:pt x="109364" y="98707"/>
                </a:cubicBezTo>
                <a:lnTo>
                  <a:pt x="74370" y="133700"/>
                </a:lnTo>
                <a:lnTo>
                  <a:pt x="74370" y="10624"/>
                </a:lnTo>
                <a:cubicBezTo>
                  <a:pt x="74370" y="4748"/>
                  <a:pt x="69623" y="0"/>
                  <a:pt x="63746" y="0"/>
                </a:cubicBezTo>
                <a:cubicBezTo>
                  <a:pt x="57869" y="0"/>
                  <a:pt x="53122" y="4748"/>
                  <a:pt x="53122" y="10624"/>
                </a:cubicBezTo>
                <a:lnTo>
                  <a:pt x="53122" y="133700"/>
                </a:lnTo>
                <a:lnTo>
                  <a:pt x="18128" y="98707"/>
                </a:lnTo>
                <a:cubicBezTo>
                  <a:pt x="13978" y="94556"/>
                  <a:pt x="7238" y="94556"/>
                  <a:pt x="3088" y="98707"/>
                </a:cubicBezTo>
                <a:cubicBezTo>
                  <a:pt x="-1062" y="102857"/>
                  <a:pt x="-1062" y="109597"/>
                  <a:pt x="3088" y="113747"/>
                </a:cubicBezTo>
                <a:lnTo>
                  <a:pt x="56209" y="166868"/>
                </a:ln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42" name="Shape 40"/>
          <p:cNvSpPr/>
          <p:nvPr/>
        </p:nvSpPr>
        <p:spPr>
          <a:xfrm>
            <a:off x="7750207" y="2880372"/>
            <a:ext cx="3871975" cy="377754"/>
          </a:xfrm>
          <a:custGeom>
            <a:avLst/>
            <a:gdLst/>
            <a:ahLst/>
            <a:cxnLst/>
            <a:rect l="l" t="t" r="r" b="b"/>
            <a:pathLst>
              <a:path w="3871975" h="377754">
                <a:moveTo>
                  <a:pt x="75551" y="0"/>
                </a:moveTo>
                <a:lnTo>
                  <a:pt x="3796424" y="0"/>
                </a:lnTo>
                <a:cubicBezTo>
                  <a:pt x="3838150" y="0"/>
                  <a:pt x="3871975" y="33825"/>
                  <a:pt x="3871975" y="75551"/>
                </a:cubicBezTo>
                <a:lnTo>
                  <a:pt x="3871975" y="302203"/>
                </a:lnTo>
                <a:cubicBezTo>
                  <a:pt x="3871975" y="343928"/>
                  <a:pt x="3838150" y="377754"/>
                  <a:pt x="3796424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3" name="Text 41"/>
          <p:cNvSpPr/>
          <p:nvPr/>
        </p:nvSpPr>
        <p:spPr>
          <a:xfrm>
            <a:off x="7787983" y="2955923"/>
            <a:ext cx="3796424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624810" y="3333676"/>
            <a:ext cx="127492" cy="169989"/>
          </a:xfrm>
          <a:custGeom>
            <a:avLst/>
            <a:gdLst/>
            <a:ahLst/>
            <a:cxnLst/>
            <a:rect l="l" t="t" r="r" b="b"/>
            <a:pathLst>
              <a:path w="127492" h="169989">
                <a:moveTo>
                  <a:pt x="56243" y="166868"/>
                </a:moveTo>
                <a:cubicBezTo>
                  <a:pt x="60393" y="171018"/>
                  <a:pt x="67132" y="171018"/>
                  <a:pt x="71283" y="166868"/>
                </a:cubicBezTo>
                <a:lnTo>
                  <a:pt x="124404" y="113747"/>
                </a:lnTo>
                <a:cubicBezTo>
                  <a:pt x="128554" y="109597"/>
                  <a:pt x="128554" y="102857"/>
                  <a:pt x="124404" y="98707"/>
                </a:cubicBezTo>
                <a:cubicBezTo>
                  <a:pt x="120254" y="94556"/>
                  <a:pt x="113514" y="94556"/>
                  <a:pt x="109364" y="98707"/>
                </a:cubicBezTo>
                <a:lnTo>
                  <a:pt x="74370" y="133700"/>
                </a:lnTo>
                <a:lnTo>
                  <a:pt x="74370" y="10624"/>
                </a:lnTo>
                <a:cubicBezTo>
                  <a:pt x="74370" y="4748"/>
                  <a:pt x="69623" y="0"/>
                  <a:pt x="63746" y="0"/>
                </a:cubicBezTo>
                <a:cubicBezTo>
                  <a:pt x="57869" y="0"/>
                  <a:pt x="53122" y="4748"/>
                  <a:pt x="53122" y="10624"/>
                </a:cubicBezTo>
                <a:lnTo>
                  <a:pt x="53122" y="133700"/>
                </a:lnTo>
                <a:lnTo>
                  <a:pt x="18128" y="98707"/>
                </a:lnTo>
                <a:cubicBezTo>
                  <a:pt x="13978" y="94556"/>
                  <a:pt x="7238" y="94556"/>
                  <a:pt x="3088" y="98707"/>
                </a:cubicBezTo>
                <a:cubicBezTo>
                  <a:pt x="-1062" y="102857"/>
                  <a:pt x="-1062" y="109597"/>
                  <a:pt x="3088" y="113747"/>
                </a:cubicBezTo>
                <a:lnTo>
                  <a:pt x="56209" y="166868"/>
                </a:ln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45" name="Shape 43"/>
          <p:cNvSpPr/>
          <p:nvPr/>
        </p:nvSpPr>
        <p:spPr>
          <a:xfrm>
            <a:off x="7750207" y="3579216"/>
            <a:ext cx="3871975" cy="377754"/>
          </a:xfrm>
          <a:custGeom>
            <a:avLst/>
            <a:gdLst/>
            <a:ahLst/>
            <a:cxnLst/>
            <a:rect l="l" t="t" r="r" b="b"/>
            <a:pathLst>
              <a:path w="3871975" h="377754">
                <a:moveTo>
                  <a:pt x="75551" y="0"/>
                </a:moveTo>
                <a:lnTo>
                  <a:pt x="3796424" y="0"/>
                </a:lnTo>
                <a:cubicBezTo>
                  <a:pt x="3838150" y="0"/>
                  <a:pt x="3871975" y="33825"/>
                  <a:pt x="3871975" y="75551"/>
                </a:cubicBezTo>
                <a:lnTo>
                  <a:pt x="3871975" y="302203"/>
                </a:lnTo>
                <a:cubicBezTo>
                  <a:pt x="3871975" y="343928"/>
                  <a:pt x="3838150" y="377754"/>
                  <a:pt x="3796424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46" name="Text 44"/>
          <p:cNvSpPr/>
          <p:nvPr/>
        </p:nvSpPr>
        <p:spPr>
          <a:xfrm>
            <a:off x="7787983" y="3654767"/>
            <a:ext cx="3796424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624810" y="4032521"/>
            <a:ext cx="127492" cy="169989"/>
          </a:xfrm>
          <a:custGeom>
            <a:avLst/>
            <a:gdLst/>
            <a:ahLst/>
            <a:cxnLst/>
            <a:rect l="l" t="t" r="r" b="b"/>
            <a:pathLst>
              <a:path w="127492" h="169989">
                <a:moveTo>
                  <a:pt x="56243" y="166868"/>
                </a:moveTo>
                <a:cubicBezTo>
                  <a:pt x="60393" y="171018"/>
                  <a:pt x="67132" y="171018"/>
                  <a:pt x="71283" y="166868"/>
                </a:cubicBezTo>
                <a:lnTo>
                  <a:pt x="124404" y="113747"/>
                </a:lnTo>
                <a:cubicBezTo>
                  <a:pt x="128554" y="109597"/>
                  <a:pt x="128554" y="102857"/>
                  <a:pt x="124404" y="98707"/>
                </a:cubicBezTo>
                <a:cubicBezTo>
                  <a:pt x="120254" y="94556"/>
                  <a:pt x="113514" y="94556"/>
                  <a:pt x="109364" y="98707"/>
                </a:cubicBezTo>
                <a:lnTo>
                  <a:pt x="74370" y="133700"/>
                </a:lnTo>
                <a:lnTo>
                  <a:pt x="74370" y="10624"/>
                </a:lnTo>
                <a:cubicBezTo>
                  <a:pt x="74370" y="4748"/>
                  <a:pt x="69623" y="0"/>
                  <a:pt x="63746" y="0"/>
                </a:cubicBezTo>
                <a:cubicBezTo>
                  <a:pt x="57869" y="0"/>
                  <a:pt x="53122" y="4748"/>
                  <a:pt x="53122" y="10624"/>
                </a:cubicBezTo>
                <a:lnTo>
                  <a:pt x="53122" y="133700"/>
                </a:lnTo>
                <a:lnTo>
                  <a:pt x="18128" y="98707"/>
                </a:lnTo>
                <a:cubicBezTo>
                  <a:pt x="13978" y="94556"/>
                  <a:pt x="7238" y="94556"/>
                  <a:pt x="3088" y="98707"/>
                </a:cubicBezTo>
                <a:cubicBezTo>
                  <a:pt x="-1062" y="102857"/>
                  <a:pt x="-1062" y="109597"/>
                  <a:pt x="3088" y="113747"/>
                </a:cubicBezTo>
                <a:lnTo>
                  <a:pt x="56209" y="166868"/>
                </a:ln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48" name="Shape 46"/>
          <p:cNvSpPr/>
          <p:nvPr/>
        </p:nvSpPr>
        <p:spPr>
          <a:xfrm>
            <a:off x="7750207" y="4278060"/>
            <a:ext cx="3871975" cy="377754"/>
          </a:xfrm>
          <a:custGeom>
            <a:avLst/>
            <a:gdLst/>
            <a:ahLst/>
            <a:cxnLst/>
            <a:rect l="l" t="t" r="r" b="b"/>
            <a:pathLst>
              <a:path w="3871975" h="377754">
                <a:moveTo>
                  <a:pt x="75551" y="0"/>
                </a:moveTo>
                <a:lnTo>
                  <a:pt x="3796424" y="0"/>
                </a:lnTo>
                <a:cubicBezTo>
                  <a:pt x="3838150" y="0"/>
                  <a:pt x="3871975" y="33825"/>
                  <a:pt x="3871975" y="75551"/>
                </a:cubicBezTo>
                <a:lnTo>
                  <a:pt x="3871975" y="302203"/>
                </a:lnTo>
                <a:cubicBezTo>
                  <a:pt x="3871975" y="343928"/>
                  <a:pt x="3838150" y="377754"/>
                  <a:pt x="3796424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49" name="Text 47"/>
          <p:cNvSpPr/>
          <p:nvPr/>
        </p:nvSpPr>
        <p:spPr>
          <a:xfrm>
            <a:off x="7787983" y="4353611"/>
            <a:ext cx="3796424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Analysis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624810" y="4731365"/>
            <a:ext cx="127492" cy="169989"/>
          </a:xfrm>
          <a:custGeom>
            <a:avLst/>
            <a:gdLst/>
            <a:ahLst/>
            <a:cxnLst/>
            <a:rect l="l" t="t" r="r" b="b"/>
            <a:pathLst>
              <a:path w="127492" h="169989">
                <a:moveTo>
                  <a:pt x="56243" y="166868"/>
                </a:moveTo>
                <a:cubicBezTo>
                  <a:pt x="60393" y="171018"/>
                  <a:pt x="67132" y="171018"/>
                  <a:pt x="71283" y="166868"/>
                </a:cubicBezTo>
                <a:lnTo>
                  <a:pt x="124404" y="113747"/>
                </a:lnTo>
                <a:cubicBezTo>
                  <a:pt x="128554" y="109597"/>
                  <a:pt x="128554" y="102857"/>
                  <a:pt x="124404" y="98707"/>
                </a:cubicBezTo>
                <a:cubicBezTo>
                  <a:pt x="120254" y="94556"/>
                  <a:pt x="113514" y="94556"/>
                  <a:pt x="109364" y="98707"/>
                </a:cubicBezTo>
                <a:lnTo>
                  <a:pt x="74370" y="133700"/>
                </a:lnTo>
                <a:lnTo>
                  <a:pt x="74370" y="10624"/>
                </a:lnTo>
                <a:cubicBezTo>
                  <a:pt x="74370" y="4748"/>
                  <a:pt x="69623" y="0"/>
                  <a:pt x="63746" y="0"/>
                </a:cubicBezTo>
                <a:cubicBezTo>
                  <a:pt x="57869" y="0"/>
                  <a:pt x="53122" y="4748"/>
                  <a:pt x="53122" y="10624"/>
                </a:cubicBezTo>
                <a:lnTo>
                  <a:pt x="53122" y="133700"/>
                </a:lnTo>
                <a:lnTo>
                  <a:pt x="18128" y="98707"/>
                </a:lnTo>
                <a:cubicBezTo>
                  <a:pt x="13978" y="94556"/>
                  <a:pt x="7238" y="94556"/>
                  <a:pt x="3088" y="98707"/>
                </a:cubicBezTo>
                <a:cubicBezTo>
                  <a:pt x="-1062" y="102857"/>
                  <a:pt x="-1062" y="109597"/>
                  <a:pt x="3088" y="113747"/>
                </a:cubicBezTo>
                <a:lnTo>
                  <a:pt x="56209" y="166868"/>
                </a:ln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51" name="Shape 49"/>
          <p:cNvSpPr/>
          <p:nvPr/>
        </p:nvSpPr>
        <p:spPr>
          <a:xfrm>
            <a:off x="7750207" y="4976905"/>
            <a:ext cx="3871975" cy="377754"/>
          </a:xfrm>
          <a:custGeom>
            <a:avLst/>
            <a:gdLst/>
            <a:ahLst/>
            <a:cxnLst/>
            <a:rect l="l" t="t" r="r" b="b"/>
            <a:pathLst>
              <a:path w="3871975" h="377754">
                <a:moveTo>
                  <a:pt x="75551" y="0"/>
                </a:moveTo>
                <a:lnTo>
                  <a:pt x="3796424" y="0"/>
                </a:lnTo>
                <a:cubicBezTo>
                  <a:pt x="3838150" y="0"/>
                  <a:pt x="3871975" y="33825"/>
                  <a:pt x="3871975" y="75551"/>
                </a:cubicBezTo>
                <a:lnTo>
                  <a:pt x="3871975" y="302203"/>
                </a:lnTo>
                <a:cubicBezTo>
                  <a:pt x="3871975" y="343928"/>
                  <a:pt x="3838150" y="377754"/>
                  <a:pt x="3796424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2" name="Text 50"/>
          <p:cNvSpPr/>
          <p:nvPr/>
        </p:nvSpPr>
        <p:spPr>
          <a:xfrm>
            <a:off x="7787983" y="5052455"/>
            <a:ext cx="3796424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Display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561330" y="5874070"/>
            <a:ext cx="4249729" cy="982160"/>
          </a:xfrm>
          <a:custGeom>
            <a:avLst/>
            <a:gdLst/>
            <a:ahLst/>
            <a:cxnLst/>
            <a:rect l="l" t="t" r="r" b="b"/>
            <a:pathLst>
              <a:path w="4249729" h="982160">
                <a:moveTo>
                  <a:pt x="113322" y="0"/>
                </a:moveTo>
                <a:lnTo>
                  <a:pt x="4136407" y="0"/>
                </a:lnTo>
                <a:cubicBezTo>
                  <a:pt x="4198993" y="0"/>
                  <a:pt x="4249729" y="50736"/>
                  <a:pt x="4249729" y="113322"/>
                </a:cubicBezTo>
                <a:lnTo>
                  <a:pt x="4249729" y="868838"/>
                </a:lnTo>
                <a:cubicBezTo>
                  <a:pt x="4249729" y="931424"/>
                  <a:pt x="4198993" y="982160"/>
                  <a:pt x="4136407" y="982160"/>
                </a:cubicBezTo>
                <a:lnTo>
                  <a:pt x="113322" y="982160"/>
                </a:lnTo>
                <a:cubicBezTo>
                  <a:pt x="50778" y="982160"/>
                  <a:pt x="0" y="931382"/>
                  <a:pt x="0" y="868838"/>
                </a:cubicBezTo>
                <a:lnTo>
                  <a:pt x="0" y="113322"/>
                </a:lnTo>
                <a:cubicBezTo>
                  <a:pt x="0" y="50778"/>
                  <a:pt x="50778" y="0"/>
                  <a:pt x="113322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698266" y="6015727"/>
            <a:ext cx="169989" cy="169989"/>
          </a:xfrm>
          <a:custGeom>
            <a:avLst/>
            <a:gdLst/>
            <a:ahLst/>
            <a:cxnLst/>
            <a:rect l="l" t="t" r="r" b="b"/>
            <a:pathLst>
              <a:path w="169989" h="169989">
                <a:moveTo>
                  <a:pt x="94291" y="-432"/>
                </a:moveTo>
                <a:cubicBezTo>
                  <a:pt x="88547" y="-3752"/>
                  <a:pt x="81442" y="-3752"/>
                  <a:pt x="75698" y="-432"/>
                </a:cubicBezTo>
                <a:lnTo>
                  <a:pt x="47743" y="15704"/>
                </a:lnTo>
                <a:cubicBezTo>
                  <a:pt x="41999" y="19024"/>
                  <a:pt x="38447" y="25166"/>
                  <a:pt x="38447" y="31807"/>
                </a:cubicBezTo>
                <a:lnTo>
                  <a:pt x="38447" y="65638"/>
                </a:lnTo>
                <a:lnTo>
                  <a:pt x="9130" y="82571"/>
                </a:lnTo>
                <a:cubicBezTo>
                  <a:pt x="3387" y="85891"/>
                  <a:pt x="-166" y="92033"/>
                  <a:pt x="-166" y="98673"/>
                </a:cubicBezTo>
                <a:lnTo>
                  <a:pt x="-166" y="130978"/>
                </a:lnTo>
                <a:cubicBezTo>
                  <a:pt x="-166" y="137618"/>
                  <a:pt x="3387" y="143760"/>
                  <a:pt x="9130" y="147080"/>
                </a:cubicBezTo>
                <a:lnTo>
                  <a:pt x="37119" y="163216"/>
                </a:lnTo>
                <a:cubicBezTo>
                  <a:pt x="42863" y="166536"/>
                  <a:pt x="49968" y="166536"/>
                  <a:pt x="55711" y="163216"/>
                </a:cubicBezTo>
                <a:lnTo>
                  <a:pt x="85028" y="146284"/>
                </a:lnTo>
                <a:lnTo>
                  <a:pt x="114344" y="163216"/>
                </a:lnTo>
                <a:cubicBezTo>
                  <a:pt x="120088" y="166536"/>
                  <a:pt x="127193" y="166536"/>
                  <a:pt x="132937" y="163216"/>
                </a:cubicBezTo>
                <a:lnTo>
                  <a:pt x="160859" y="147080"/>
                </a:lnTo>
                <a:cubicBezTo>
                  <a:pt x="166603" y="143760"/>
                  <a:pt x="170155" y="137618"/>
                  <a:pt x="170155" y="130978"/>
                </a:cubicBezTo>
                <a:lnTo>
                  <a:pt x="170155" y="98673"/>
                </a:lnTo>
                <a:cubicBezTo>
                  <a:pt x="170155" y="92033"/>
                  <a:pt x="166603" y="85891"/>
                  <a:pt x="160859" y="82571"/>
                </a:cubicBezTo>
                <a:lnTo>
                  <a:pt x="131542" y="65638"/>
                </a:lnTo>
                <a:lnTo>
                  <a:pt x="131542" y="31807"/>
                </a:lnTo>
                <a:cubicBezTo>
                  <a:pt x="131542" y="25166"/>
                  <a:pt x="127990" y="19024"/>
                  <a:pt x="122246" y="15704"/>
                </a:cubicBezTo>
                <a:lnTo>
                  <a:pt x="94291" y="-432"/>
                </a:lnTo>
                <a:close/>
                <a:moveTo>
                  <a:pt x="77026" y="97146"/>
                </a:moveTo>
                <a:lnTo>
                  <a:pt x="77026" y="132505"/>
                </a:lnTo>
                <a:lnTo>
                  <a:pt x="47710" y="149438"/>
                </a:lnTo>
                <a:cubicBezTo>
                  <a:pt x="47311" y="149670"/>
                  <a:pt x="46847" y="149803"/>
                  <a:pt x="46382" y="149803"/>
                </a:cubicBezTo>
                <a:lnTo>
                  <a:pt x="46382" y="114842"/>
                </a:lnTo>
                <a:lnTo>
                  <a:pt x="77026" y="97146"/>
                </a:lnTo>
                <a:close/>
                <a:moveTo>
                  <a:pt x="153853" y="97345"/>
                </a:moveTo>
                <a:cubicBezTo>
                  <a:pt x="154086" y="97744"/>
                  <a:pt x="154219" y="98209"/>
                  <a:pt x="154219" y="98673"/>
                </a:cubicBezTo>
                <a:lnTo>
                  <a:pt x="154219" y="130978"/>
                </a:lnTo>
                <a:cubicBezTo>
                  <a:pt x="154219" y="131941"/>
                  <a:pt x="153721" y="132804"/>
                  <a:pt x="152891" y="133269"/>
                </a:cubicBezTo>
                <a:lnTo>
                  <a:pt x="124902" y="149405"/>
                </a:lnTo>
                <a:cubicBezTo>
                  <a:pt x="124504" y="149637"/>
                  <a:pt x="124039" y="149770"/>
                  <a:pt x="123574" y="149770"/>
                </a:cubicBezTo>
                <a:lnTo>
                  <a:pt x="123574" y="114809"/>
                </a:lnTo>
                <a:lnTo>
                  <a:pt x="153853" y="97345"/>
                </a:lnTo>
                <a:close/>
                <a:moveTo>
                  <a:pt x="115639" y="31807"/>
                </a:moveTo>
                <a:lnTo>
                  <a:pt x="115639" y="65638"/>
                </a:lnTo>
                <a:lnTo>
                  <a:pt x="84995" y="83335"/>
                </a:lnTo>
                <a:lnTo>
                  <a:pt x="84995" y="47975"/>
                </a:lnTo>
                <a:lnTo>
                  <a:pt x="115274" y="30512"/>
                </a:lnTo>
                <a:cubicBezTo>
                  <a:pt x="115506" y="30910"/>
                  <a:pt x="115639" y="31375"/>
                  <a:pt x="115639" y="3184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55" name="Text 53"/>
          <p:cNvSpPr/>
          <p:nvPr/>
        </p:nvSpPr>
        <p:spPr>
          <a:xfrm>
            <a:off x="7962694" y="5987396"/>
            <a:ext cx="1123817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Modular Design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674657" y="6251823"/>
            <a:ext cx="4098627" cy="491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9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architecture follows a modular design for scalability and maintainability.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55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53" dirty="0">
                <a:solidFill>
                  <a:srgbClr val="1ABC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 &amp; Implementation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2581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Framework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76350"/>
            <a:ext cx="7391400" cy="1219200"/>
          </a:xfrm>
          <a:custGeom>
            <a:avLst/>
            <a:gdLst/>
            <a:ahLst/>
            <a:cxnLst/>
            <a:rect l="l" t="t" r="r" b="b"/>
            <a:pathLst>
              <a:path w="7391400" h="1219200">
                <a:moveTo>
                  <a:pt x="38100" y="0"/>
                </a:moveTo>
                <a:lnTo>
                  <a:pt x="7353300" y="0"/>
                </a:lnTo>
                <a:cubicBezTo>
                  <a:pt x="7374328" y="0"/>
                  <a:pt x="7391400" y="17072"/>
                  <a:pt x="7391400" y="38100"/>
                </a:cubicBezTo>
                <a:lnTo>
                  <a:pt x="7391400" y="1104900"/>
                </a:lnTo>
                <a:cubicBezTo>
                  <a:pt x="7391400" y="1167984"/>
                  <a:pt x="7340184" y="1219200"/>
                  <a:pt x="7277100" y="1219200"/>
                </a:cubicBezTo>
                <a:lnTo>
                  <a:pt x="114300" y="1219200"/>
                </a:lnTo>
                <a:cubicBezTo>
                  <a:pt x="51216" y="1219200"/>
                  <a:pt x="0" y="1167984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1000" y="1276350"/>
            <a:ext cx="7391400" cy="38100"/>
          </a:xfrm>
          <a:custGeom>
            <a:avLst/>
            <a:gdLst/>
            <a:ahLst/>
            <a:cxnLst/>
            <a:rect l="l" t="t" r="r" b="b"/>
            <a:pathLst>
              <a:path w="7391400" h="38100">
                <a:moveTo>
                  <a:pt x="38100" y="0"/>
                </a:moveTo>
                <a:lnTo>
                  <a:pt x="7353300" y="0"/>
                </a:lnTo>
                <a:cubicBezTo>
                  <a:pt x="7374328" y="0"/>
                  <a:pt x="7391400" y="17072"/>
                  <a:pt x="7391400" y="38100"/>
                </a:cubicBezTo>
                <a:lnTo>
                  <a:pt x="73914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6756" y="16192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581150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057400"/>
            <a:ext cx="7086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normalization, augmentation, and dataset preparation for model training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2667000"/>
            <a:ext cx="7391400" cy="1219200"/>
          </a:xfrm>
          <a:custGeom>
            <a:avLst/>
            <a:gdLst/>
            <a:ahLst/>
            <a:cxnLst/>
            <a:rect l="l" t="t" r="r" b="b"/>
            <a:pathLst>
              <a:path w="7391400" h="1219200">
                <a:moveTo>
                  <a:pt x="38100" y="0"/>
                </a:moveTo>
                <a:lnTo>
                  <a:pt x="7353300" y="0"/>
                </a:lnTo>
                <a:cubicBezTo>
                  <a:pt x="7374328" y="0"/>
                  <a:pt x="7391400" y="17072"/>
                  <a:pt x="7391400" y="38100"/>
                </a:cubicBezTo>
                <a:lnTo>
                  <a:pt x="7391400" y="1104900"/>
                </a:lnTo>
                <a:cubicBezTo>
                  <a:pt x="7391400" y="1167984"/>
                  <a:pt x="7340184" y="1219200"/>
                  <a:pt x="7277100" y="1219200"/>
                </a:cubicBezTo>
                <a:lnTo>
                  <a:pt x="114300" y="1219200"/>
                </a:lnTo>
                <a:cubicBezTo>
                  <a:pt x="51216" y="1219200"/>
                  <a:pt x="0" y="1167984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1000" y="2667000"/>
            <a:ext cx="7391400" cy="38100"/>
          </a:xfrm>
          <a:custGeom>
            <a:avLst/>
            <a:gdLst/>
            <a:ahLst/>
            <a:cxnLst/>
            <a:rect l="l" t="t" r="r" b="b"/>
            <a:pathLst>
              <a:path w="7391400" h="38100">
                <a:moveTo>
                  <a:pt x="38100" y="0"/>
                </a:moveTo>
                <a:lnTo>
                  <a:pt x="7353300" y="0"/>
                </a:lnTo>
                <a:cubicBezTo>
                  <a:pt x="7374328" y="0"/>
                  <a:pt x="7391400" y="17072"/>
                  <a:pt x="7391400" y="38100"/>
                </a:cubicBezTo>
                <a:lnTo>
                  <a:pt x="73914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4" name="Shape 12"/>
          <p:cNvSpPr/>
          <p:nvPr/>
        </p:nvSpPr>
        <p:spPr>
          <a:xfrm>
            <a:off x="571500" y="2876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92944" y="30099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2971800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Training &amp; Validation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3448050"/>
            <a:ext cx="7086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model development with cross-validation and hyperparameter tuning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4057650"/>
            <a:ext cx="7391400" cy="1219200"/>
          </a:xfrm>
          <a:custGeom>
            <a:avLst/>
            <a:gdLst/>
            <a:ahLst/>
            <a:cxnLst/>
            <a:rect l="l" t="t" r="r" b="b"/>
            <a:pathLst>
              <a:path w="7391400" h="1219200">
                <a:moveTo>
                  <a:pt x="38100" y="0"/>
                </a:moveTo>
                <a:lnTo>
                  <a:pt x="7353300" y="0"/>
                </a:lnTo>
                <a:cubicBezTo>
                  <a:pt x="7374328" y="0"/>
                  <a:pt x="7391400" y="17072"/>
                  <a:pt x="7391400" y="38100"/>
                </a:cubicBezTo>
                <a:lnTo>
                  <a:pt x="7391400" y="1104900"/>
                </a:lnTo>
                <a:cubicBezTo>
                  <a:pt x="7391400" y="1167984"/>
                  <a:pt x="7340184" y="1219200"/>
                  <a:pt x="7277100" y="1219200"/>
                </a:cubicBezTo>
                <a:lnTo>
                  <a:pt x="114300" y="1219200"/>
                </a:lnTo>
                <a:cubicBezTo>
                  <a:pt x="51216" y="1219200"/>
                  <a:pt x="0" y="1167984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1000" y="4057650"/>
            <a:ext cx="7391400" cy="38100"/>
          </a:xfrm>
          <a:custGeom>
            <a:avLst/>
            <a:gdLst/>
            <a:ahLst/>
            <a:cxnLst/>
            <a:rect l="l" t="t" r="r" b="b"/>
            <a:pathLst>
              <a:path w="7391400" h="38100">
                <a:moveTo>
                  <a:pt x="38100" y="0"/>
                </a:moveTo>
                <a:lnTo>
                  <a:pt x="7353300" y="0"/>
                </a:lnTo>
                <a:cubicBezTo>
                  <a:pt x="7374328" y="0"/>
                  <a:pt x="7391400" y="17072"/>
                  <a:pt x="7391400" y="38100"/>
                </a:cubicBezTo>
                <a:lnTo>
                  <a:pt x="73914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0" name="Shape 18"/>
          <p:cNvSpPr/>
          <p:nvPr/>
        </p:nvSpPr>
        <p:spPr>
          <a:xfrm>
            <a:off x="571500" y="426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D6D7E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04850" y="4400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41672"/>
                </a:moveTo>
                <a:cubicBezTo>
                  <a:pt x="72442" y="41672"/>
                  <a:pt x="68461" y="45653"/>
                  <a:pt x="68461" y="50602"/>
                </a:cubicBezTo>
                <a:lnTo>
                  <a:pt x="68461" y="68461"/>
                </a:lnTo>
                <a:lnTo>
                  <a:pt x="50602" y="68461"/>
                </a:lnTo>
                <a:cubicBezTo>
                  <a:pt x="45653" y="68461"/>
                  <a:pt x="41672" y="72442"/>
                  <a:pt x="41672" y="77391"/>
                </a:cubicBezTo>
                <a:cubicBezTo>
                  <a:pt x="41672" y="82339"/>
                  <a:pt x="45653" y="86320"/>
                  <a:pt x="50602" y="86320"/>
                </a:cubicBezTo>
                <a:lnTo>
                  <a:pt x="68461" y="86320"/>
                </a:lnTo>
                <a:lnTo>
                  <a:pt x="68461" y="104180"/>
                </a:lnTo>
                <a:cubicBezTo>
                  <a:pt x="68461" y="109128"/>
                  <a:pt x="72442" y="113109"/>
                  <a:pt x="77391" y="113109"/>
                </a:cubicBezTo>
                <a:cubicBezTo>
                  <a:pt x="82339" y="113109"/>
                  <a:pt x="86320" y="109128"/>
                  <a:pt x="86320" y="104180"/>
                </a:cubicBezTo>
                <a:lnTo>
                  <a:pt x="86320" y="86320"/>
                </a:lnTo>
                <a:lnTo>
                  <a:pt x="104180" y="86320"/>
                </a:lnTo>
                <a:cubicBezTo>
                  <a:pt x="109128" y="86320"/>
                  <a:pt x="113109" y="82339"/>
                  <a:pt x="113109" y="77391"/>
                </a:cubicBezTo>
                <a:cubicBezTo>
                  <a:pt x="113109" y="72442"/>
                  <a:pt x="109128" y="68461"/>
                  <a:pt x="104180" y="68461"/>
                </a:cubicBezTo>
                <a:lnTo>
                  <a:pt x="86320" y="68461"/>
                </a:lnTo>
                <a:lnTo>
                  <a:pt x="86320" y="50602"/>
                </a:lnTo>
                <a:cubicBezTo>
                  <a:pt x="86320" y="45653"/>
                  <a:pt x="82339" y="41672"/>
                  <a:pt x="77391" y="41672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4362450"/>
            <a:ext cx="2790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Detection / Classification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" y="4838700"/>
            <a:ext cx="7086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identification and categorization of microscopic structures and cells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" y="5448300"/>
            <a:ext cx="7391400" cy="1219200"/>
          </a:xfrm>
          <a:custGeom>
            <a:avLst/>
            <a:gdLst/>
            <a:ahLst/>
            <a:cxnLst/>
            <a:rect l="l" t="t" r="r" b="b"/>
            <a:pathLst>
              <a:path w="7391400" h="1219200">
                <a:moveTo>
                  <a:pt x="38100" y="0"/>
                </a:moveTo>
                <a:lnTo>
                  <a:pt x="7353300" y="0"/>
                </a:lnTo>
                <a:cubicBezTo>
                  <a:pt x="7374328" y="0"/>
                  <a:pt x="7391400" y="17072"/>
                  <a:pt x="7391400" y="38100"/>
                </a:cubicBezTo>
                <a:lnTo>
                  <a:pt x="7391400" y="1104900"/>
                </a:lnTo>
                <a:cubicBezTo>
                  <a:pt x="7391400" y="1167984"/>
                  <a:pt x="7340184" y="1219200"/>
                  <a:pt x="7277100" y="1219200"/>
                </a:cubicBezTo>
                <a:lnTo>
                  <a:pt x="114300" y="1219200"/>
                </a:lnTo>
                <a:cubicBezTo>
                  <a:pt x="51216" y="1219200"/>
                  <a:pt x="0" y="1167984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1000" y="5448300"/>
            <a:ext cx="7391400" cy="38100"/>
          </a:xfrm>
          <a:custGeom>
            <a:avLst/>
            <a:gdLst/>
            <a:ahLst/>
            <a:cxnLst/>
            <a:rect l="l" t="t" r="r" b="b"/>
            <a:pathLst>
              <a:path w="7391400" h="38100">
                <a:moveTo>
                  <a:pt x="38100" y="0"/>
                </a:moveTo>
                <a:lnTo>
                  <a:pt x="7353300" y="0"/>
                </a:lnTo>
                <a:cubicBezTo>
                  <a:pt x="7374328" y="0"/>
                  <a:pt x="7391400" y="17072"/>
                  <a:pt x="7391400" y="38100"/>
                </a:cubicBezTo>
                <a:lnTo>
                  <a:pt x="73914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6" name="Shape 24"/>
          <p:cNvSpPr/>
          <p:nvPr/>
        </p:nvSpPr>
        <p:spPr>
          <a:xfrm>
            <a:off x="571500" y="5657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04850" y="5791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5753100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Evaluation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1500" y="6229350"/>
            <a:ext cx="7086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assessment, confusion matrix analysis, and model optimization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001000" y="1257300"/>
            <a:ext cx="3810000" cy="3790950"/>
          </a:xfrm>
          <a:custGeom>
            <a:avLst/>
            <a:gdLst/>
            <a:ahLst/>
            <a:cxnLst/>
            <a:rect l="l" t="t" r="r" b="b"/>
            <a:pathLst>
              <a:path w="3810000" h="3790950">
                <a:moveTo>
                  <a:pt x="114297" y="0"/>
                </a:moveTo>
                <a:lnTo>
                  <a:pt x="3695703" y="0"/>
                </a:lnTo>
                <a:cubicBezTo>
                  <a:pt x="3758785" y="0"/>
                  <a:pt x="3810000" y="51215"/>
                  <a:pt x="3810000" y="114297"/>
                </a:cubicBezTo>
                <a:lnTo>
                  <a:pt x="3810000" y="3676653"/>
                </a:lnTo>
                <a:cubicBezTo>
                  <a:pt x="3810000" y="3739735"/>
                  <a:pt x="3758785" y="3790950"/>
                  <a:pt x="3695703" y="3790950"/>
                </a:cubicBezTo>
                <a:lnTo>
                  <a:pt x="114297" y="3790950"/>
                </a:lnTo>
                <a:cubicBezTo>
                  <a:pt x="51215" y="3790950"/>
                  <a:pt x="0" y="3739735"/>
                  <a:pt x="0" y="36766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001000" y="5200650"/>
            <a:ext cx="3810000" cy="1466850"/>
          </a:xfrm>
          <a:custGeom>
            <a:avLst/>
            <a:gdLst/>
            <a:ahLst/>
            <a:cxnLst/>
            <a:rect l="l" t="t" r="r" b="b"/>
            <a:pathLst>
              <a:path w="3810000" h="1466850">
                <a:moveTo>
                  <a:pt x="114297" y="0"/>
                </a:moveTo>
                <a:lnTo>
                  <a:pt x="3695703" y="0"/>
                </a:lnTo>
                <a:cubicBezTo>
                  <a:pt x="3758828" y="0"/>
                  <a:pt x="3810000" y="51172"/>
                  <a:pt x="3810000" y="114297"/>
                </a:cubicBezTo>
                <a:lnTo>
                  <a:pt x="3810000" y="1352553"/>
                </a:lnTo>
                <a:cubicBezTo>
                  <a:pt x="3810000" y="1415678"/>
                  <a:pt x="3758828" y="1466850"/>
                  <a:pt x="3695703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3" name="Shape 30"/>
          <p:cNvSpPr/>
          <p:nvPr/>
        </p:nvSpPr>
        <p:spPr>
          <a:xfrm>
            <a:off x="8148638" y="54292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34" name="Text 31"/>
          <p:cNvSpPr/>
          <p:nvPr/>
        </p:nvSpPr>
        <p:spPr>
          <a:xfrm>
            <a:off x="8454033" y="5391150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Enhancement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454033" y="5734050"/>
            <a:ext cx="3238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AI module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enhances detection accuracy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manual intervention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enabling faster and more reliable analysis.</a:t>
            </a:r>
            <a:endParaRPr lang="en-US" sz="1600" dirty="0"/>
          </a:p>
        </p:txBody>
      </p:sp>
      <p:pic>
        <p:nvPicPr>
          <p:cNvPr id="37" name="صورة 36">
            <a:extLst>
              <a:ext uri="{FF2B5EF4-FFF2-40B4-BE49-F238E27FC236}">
                <a16:creationId xmlns:a16="http://schemas.microsoft.com/office/drawing/2014/main" id="{B5E4AC51-A534-13D6-C7E9-A52B04171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725" y="1434353"/>
            <a:ext cx="3379775" cy="34693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55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53" dirty="0">
                <a:solidFill>
                  <a:srgbClr val="1ABC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Discussion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3343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Experimental Results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0668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Experimental results showed significant improvements across key performance metrics: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524000"/>
            <a:ext cx="3714750" cy="2543175"/>
          </a:xfrm>
          <a:custGeom>
            <a:avLst/>
            <a:gdLst/>
            <a:ahLst/>
            <a:cxnLst/>
            <a:rect l="l" t="t" r="r" b="b"/>
            <a:pathLst>
              <a:path w="3714750" h="2543175">
                <a:moveTo>
                  <a:pt x="114290" y="0"/>
                </a:moveTo>
                <a:lnTo>
                  <a:pt x="3600460" y="0"/>
                </a:lnTo>
                <a:cubicBezTo>
                  <a:pt x="3663580" y="0"/>
                  <a:pt x="3714750" y="51170"/>
                  <a:pt x="3714750" y="114290"/>
                </a:cubicBezTo>
                <a:lnTo>
                  <a:pt x="3714750" y="2428885"/>
                </a:lnTo>
                <a:cubicBezTo>
                  <a:pt x="3714750" y="2492005"/>
                  <a:pt x="3663580" y="2543175"/>
                  <a:pt x="3600460" y="2543175"/>
                </a:cubicBezTo>
                <a:lnTo>
                  <a:pt x="114290" y="2543175"/>
                </a:lnTo>
                <a:cubicBezTo>
                  <a:pt x="51170" y="2543175"/>
                  <a:pt x="0" y="2492005"/>
                  <a:pt x="0" y="242888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205204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220444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2166342"/>
            <a:ext cx="2076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Accuracy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699742"/>
            <a:ext cx="33432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measurement precision through automated calibration and digital analysis algorithms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48150" y="1524000"/>
            <a:ext cx="3714750" cy="2543175"/>
          </a:xfrm>
          <a:custGeom>
            <a:avLst/>
            <a:gdLst/>
            <a:ahLst/>
            <a:cxnLst/>
            <a:rect l="l" t="t" r="r" b="b"/>
            <a:pathLst>
              <a:path w="3714750" h="2543175">
                <a:moveTo>
                  <a:pt x="114290" y="0"/>
                </a:moveTo>
                <a:lnTo>
                  <a:pt x="3600460" y="0"/>
                </a:lnTo>
                <a:cubicBezTo>
                  <a:pt x="3663580" y="0"/>
                  <a:pt x="3714750" y="51170"/>
                  <a:pt x="3714750" y="114290"/>
                </a:cubicBezTo>
                <a:lnTo>
                  <a:pt x="3714750" y="2428885"/>
                </a:lnTo>
                <a:cubicBezTo>
                  <a:pt x="3714750" y="2492005"/>
                  <a:pt x="3663580" y="2543175"/>
                  <a:pt x="3600460" y="2543175"/>
                </a:cubicBezTo>
                <a:lnTo>
                  <a:pt x="114290" y="2543175"/>
                </a:lnTo>
                <a:cubicBezTo>
                  <a:pt x="51170" y="2543175"/>
                  <a:pt x="0" y="2492005"/>
                  <a:pt x="0" y="242888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3" name="Shape 11"/>
          <p:cNvSpPr/>
          <p:nvPr/>
        </p:nvSpPr>
        <p:spPr>
          <a:xfrm>
            <a:off x="4476750" y="205204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600575" y="220444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60722" y="57150"/>
                </a:moveTo>
                <a:cubicBezTo>
                  <a:pt x="60722" y="27579"/>
                  <a:pt x="84729" y="3572"/>
                  <a:pt x="114300" y="3572"/>
                </a:cubicBezTo>
                <a:cubicBezTo>
                  <a:pt x="143871" y="3572"/>
                  <a:pt x="167878" y="27579"/>
                  <a:pt x="167878" y="57150"/>
                </a:cubicBezTo>
                <a:cubicBezTo>
                  <a:pt x="167878" y="86721"/>
                  <a:pt x="143871" y="110728"/>
                  <a:pt x="114300" y="110728"/>
                </a:cubicBezTo>
                <a:cubicBezTo>
                  <a:pt x="84729" y="110728"/>
                  <a:pt x="60722" y="86721"/>
                  <a:pt x="60722" y="57150"/>
                </a:cubicBezTo>
                <a:close/>
                <a:moveTo>
                  <a:pt x="21431" y="215339"/>
                </a:moveTo>
                <a:cubicBezTo>
                  <a:pt x="21431" y="171361"/>
                  <a:pt x="57061" y="135731"/>
                  <a:pt x="101039" y="135731"/>
                </a:cubicBezTo>
                <a:lnTo>
                  <a:pt x="127561" y="135731"/>
                </a:lnTo>
                <a:cubicBezTo>
                  <a:pt x="171539" y="135731"/>
                  <a:pt x="207169" y="171361"/>
                  <a:pt x="207169" y="215339"/>
                </a:cubicBezTo>
                <a:cubicBezTo>
                  <a:pt x="207169" y="222662"/>
                  <a:pt x="201231" y="228600"/>
                  <a:pt x="193908" y="228600"/>
                </a:cubicBezTo>
                <a:lnTo>
                  <a:pt x="34692" y="228600"/>
                </a:lnTo>
                <a:cubicBezTo>
                  <a:pt x="27369" y="228600"/>
                  <a:pt x="21431" y="222662"/>
                  <a:pt x="21431" y="215339"/>
                </a:cubicBezTo>
                <a:close/>
                <a:moveTo>
                  <a:pt x="273427" y="59248"/>
                </a:moveTo>
                <a:lnTo>
                  <a:pt x="237708" y="116398"/>
                </a:lnTo>
                <a:cubicBezTo>
                  <a:pt x="235833" y="119390"/>
                  <a:pt x="232618" y="121265"/>
                  <a:pt x="229091" y="121444"/>
                </a:cubicBezTo>
                <a:cubicBezTo>
                  <a:pt x="225564" y="121622"/>
                  <a:pt x="222171" y="120015"/>
                  <a:pt x="220072" y="117157"/>
                </a:cubicBezTo>
                <a:lnTo>
                  <a:pt x="198641" y="88582"/>
                </a:lnTo>
                <a:cubicBezTo>
                  <a:pt x="195069" y="83850"/>
                  <a:pt x="196051" y="77152"/>
                  <a:pt x="200784" y="73581"/>
                </a:cubicBezTo>
                <a:cubicBezTo>
                  <a:pt x="205517" y="70009"/>
                  <a:pt x="212214" y="70991"/>
                  <a:pt x="215786" y="75724"/>
                </a:cubicBezTo>
                <a:lnTo>
                  <a:pt x="227841" y="91797"/>
                </a:lnTo>
                <a:lnTo>
                  <a:pt x="255255" y="47908"/>
                </a:lnTo>
                <a:cubicBezTo>
                  <a:pt x="258381" y="42907"/>
                  <a:pt x="264988" y="41344"/>
                  <a:pt x="270034" y="44514"/>
                </a:cubicBezTo>
                <a:cubicBezTo>
                  <a:pt x="275079" y="47685"/>
                  <a:pt x="276597" y="54248"/>
                  <a:pt x="273427" y="5929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124450" y="2166342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Human Error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76750" y="2699742"/>
            <a:ext cx="33432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Minimized subjective interpretation through standardized automated analysis procedures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4216003"/>
            <a:ext cx="3714750" cy="2257425"/>
          </a:xfrm>
          <a:custGeom>
            <a:avLst/>
            <a:gdLst/>
            <a:ahLst/>
            <a:cxnLst/>
            <a:rect l="l" t="t" r="r" b="b"/>
            <a:pathLst>
              <a:path w="3714750" h="2257425">
                <a:moveTo>
                  <a:pt x="114293" y="0"/>
                </a:moveTo>
                <a:lnTo>
                  <a:pt x="3600457" y="0"/>
                </a:lnTo>
                <a:cubicBezTo>
                  <a:pt x="3663537" y="0"/>
                  <a:pt x="3714750" y="51213"/>
                  <a:pt x="3714750" y="114293"/>
                </a:cubicBezTo>
                <a:lnTo>
                  <a:pt x="3714750" y="2143132"/>
                </a:lnTo>
                <a:cubicBezTo>
                  <a:pt x="3714750" y="2206212"/>
                  <a:pt x="3663537" y="2257425"/>
                  <a:pt x="3600457" y="2257425"/>
                </a:cubicBezTo>
                <a:lnTo>
                  <a:pt x="114293" y="2257425"/>
                </a:lnTo>
                <a:cubicBezTo>
                  <a:pt x="51213" y="2257425"/>
                  <a:pt x="0" y="2206212"/>
                  <a:pt x="0" y="2143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474404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489644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257300" y="4858345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Processing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5391745"/>
            <a:ext cx="33432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Significantly reduced analysis time compared to manual examination methods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48150" y="4216003"/>
            <a:ext cx="3714750" cy="2257425"/>
          </a:xfrm>
          <a:custGeom>
            <a:avLst/>
            <a:gdLst/>
            <a:ahLst/>
            <a:cxnLst/>
            <a:rect l="l" t="t" r="r" b="b"/>
            <a:pathLst>
              <a:path w="3714750" h="2257425">
                <a:moveTo>
                  <a:pt x="114293" y="0"/>
                </a:moveTo>
                <a:lnTo>
                  <a:pt x="3600457" y="0"/>
                </a:lnTo>
                <a:cubicBezTo>
                  <a:pt x="3663537" y="0"/>
                  <a:pt x="3714750" y="51213"/>
                  <a:pt x="3714750" y="114293"/>
                </a:cubicBezTo>
                <a:lnTo>
                  <a:pt x="3714750" y="2143132"/>
                </a:lnTo>
                <a:cubicBezTo>
                  <a:pt x="3714750" y="2206212"/>
                  <a:pt x="3663537" y="2257425"/>
                  <a:pt x="3600457" y="2257425"/>
                </a:cubicBezTo>
                <a:lnTo>
                  <a:pt x="114293" y="2257425"/>
                </a:lnTo>
                <a:cubicBezTo>
                  <a:pt x="51213" y="2257425"/>
                  <a:pt x="0" y="2206212"/>
                  <a:pt x="0" y="2143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3" name="Shape 21"/>
          <p:cNvSpPr/>
          <p:nvPr/>
        </p:nvSpPr>
        <p:spPr>
          <a:xfrm>
            <a:off x="4476750" y="474404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29150" y="489644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124450" y="4858345"/>
            <a:ext cx="2152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Stable &amp; Repeatable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76750" y="5391745"/>
            <a:ext cx="33432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outputs across multiple testing sessions and different operators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91500" y="1524000"/>
            <a:ext cx="3619500" cy="3333750"/>
          </a:xfrm>
          <a:custGeom>
            <a:avLst/>
            <a:gdLst/>
            <a:ahLst/>
            <a:cxnLst/>
            <a:rect l="l" t="t" r="r" b="b"/>
            <a:pathLst>
              <a:path w="3619500" h="3333750">
                <a:moveTo>
                  <a:pt x="114314" y="0"/>
                </a:moveTo>
                <a:lnTo>
                  <a:pt x="3505186" y="0"/>
                </a:lnTo>
                <a:cubicBezTo>
                  <a:pt x="3568320" y="0"/>
                  <a:pt x="3619500" y="51180"/>
                  <a:pt x="3619500" y="114314"/>
                </a:cubicBezTo>
                <a:lnTo>
                  <a:pt x="3619500" y="3219436"/>
                </a:lnTo>
                <a:cubicBezTo>
                  <a:pt x="3619500" y="3282570"/>
                  <a:pt x="3568320" y="3333750"/>
                  <a:pt x="3505186" y="3333750"/>
                </a:cubicBezTo>
                <a:lnTo>
                  <a:pt x="114314" y="3333750"/>
                </a:lnTo>
                <a:cubicBezTo>
                  <a:pt x="51180" y="3333750"/>
                  <a:pt x="0" y="3282570"/>
                  <a:pt x="0" y="3219436"/>
                </a:cubicBezTo>
                <a:lnTo>
                  <a:pt x="0" y="114314"/>
                </a:lnTo>
                <a:cubicBezTo>
                  <a:pt x="0" y="51180"/>
                  <a:pt x="51180" y="0"/>
                  <a:pt x="11431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191500" y="5010150"/>
            <a:ext cx="3619500" cy="1466850"/>
          </a:xfrm>
          <a:custGeom>
            <a:avLst/>
            <a:gdLst/>
            <a:ahLst/>
            <a:cxnLst/>
            <a:rect l="l" t="t" r="r" b="b"/>
            <a:pathLst>
              <a:path w="3619500" h="1466850">
                <a:moveTo>
                  <a:pt x="114297" y="0"/>
                </a:moveTo>
                <a:lnTo>
                  <a:pt x="3505203" y="0"/>
                </a:lnTo>
                <a:cubicBezTo>
                  <a:pt x="3568328" y="0"/>
                  <a:pt x="3619500" y="51172"/>
                  <a:pt x="3619500" y="114297"/>
                </a:cubicBezTo>
                <a:lnTo>
                  <a:pt x="3619500" y="1352553"/>
                </a:lnTo>
                <a:cubicBezTo>
                  <a:pt x="3619500" y="1415678"/>
                  <a:pt x="3568328" y="1466850"/>
                  <a:pt x="3505203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0" name="Shape 27"/>
          <p:cNvSpPr/>
          <p:nvPr/>
        </p:nvSpPr>
        <p:spPr>
          <a:xfrm>
            <a:off x="8362950" y="5238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31" name="Text 28"/>
          <p:cNvSpPr/>
          <p:nvPr/>
        </p:nvSpPr>
        <p:spPr>
          <a:xfrm>
            <a:off x="8644533" y="5200650"/>
            <a:ext cx="3057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Validation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644533" y="5543550"/>
            <a:ext cx="3048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system demonstrated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performance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within the tested laboratory environment.</a:t>
            </a:r>
            <a:endParaRPr lang="en-US" sz="1600" dirty="0"/>
          </a:p>
        </p:txBody>
      </p:sp>
      <p:pic>
        <p:nvPicPr>
          <p:cNvPr id="34" name="صورة 33">
            <a:extLst>
              <a:ext uri="{FF2B5EF4-FFF2-40B4-BE49-F238E27FC236}">
                <a16:creationId xmlns:a16="http://schemas.microsoft.com/office/drawing/2014/main" id="{2ADB3AAD-69C6-AB03-9B27-8573F1C63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771" y="1664626"/>
            <a:ext cx="3370762" cy="2988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9587" y="5524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4288" y="0"/>
                </a:moveTo>
                <a:cubicBezTo>
                  <a:pt x="22190" y="0"/>
                  <a:pt x="28575" y="6385"/>
                  <a:pt x="28575" y="14288"/>
                </a:cubicBezTo>
                <a:lnTo>
                  <a:pt x="28575" y="21431"/>
                </a:lnTo>
                <a:lnTo>
                  <a:pt x="59382" y="13752"/>
                </a:lnTo>
                <a:cubicBezTo>
                  <a:pt x="76393" y="9510"/>
                  <a:pt x="94342" y="11475"/>
                  <a:pt x="110058" y="19333"/>
                </a:cubicBezTo>
                <a:cubicBezTo>
                  <a:pt x="130731" y="29691"/>
                  <a:pt x="155064" y="29691"/>
                  <a:pt x="175736" y="19333"/>
                </a:cubicBezTo>
                <a:lnTo>
                  <a:pt x="180023" y="17190"/>
                </a:lnTo>
                <a:cubicBezTo>
                  <a:pt x="189220" y="12546"/>
                  <a:pt x="200025" y="19243"/>
                  <a:pt x="200025" y="29513"/>
                </a:cubicBezTo>
                <a:lnTo>
                  <a:pt x="200025" y="154394"/>
                </a:lnTo>
                <a:cubicBezTo>
                  <a:pt x="200025" y="160333"/>
                  <a:pt x="196319" y="165690"/>
                  <a:pt x="190738" y="167789"/>
                </a:cubicBezTo>
                <a:lnTo>
                  <a:pt x="175245" y="173593"/>
                </a:lnTo>
                <a:cubicBezTo>
                  <a:pt x="154618" y="181317"/>
                  <a:pt x="131668" y="180112"/>
                  <a:pt x="111978" y="170289"/>
                </a:cubicBezTo>
                <a:cubicBezTo>
                  <a:pt x="95057" y="161806"/>
                  <a:pt x="75634" y="159707"/>
                  <a:pt x="57284" y="164306"/>
                </a:cubicBezTo>
                <a:lnTo>
                  <a:pt x="28575" y="171450"/>
                </a:lnTo>
                <a:lnTo>
                  <a:pt x="28575" y="214313"/>
                </a:lnTo>
                <a:cubicBezTo>
                  <a:pt x="28575" y="222215"/>
                  <a:pt x="22190" y="228600"/>
                  <a:pt x="14288" y="228600"/>
                </a:cubicBezTo>
                <a:cubicBezTo>
                  <a:pt x="6385" y="228600"/>
                  <a:pt x="0" y="222215"/>
                  <a:pt x="0" y="214313"/>
                </a:cubicBezTo>
                <a:lnTo>
                  <a:pt x="0" y="14288"/>
                </a:lnTo>
                <a:cubicBezTo>
                  <a:pt x="0" y="6385"/>
                  <a:pt x="6385" y="0"/>
                  <a:pt x="14288" y="0"/>
                </a:cubicBezTo>
                <a:close/>
                <a:moveTo>
                  <a:pt x="28575" y="83537"/>
                </a:moveTo>
                <a:lnTo>
                  <a:pt x="57150" y="77331"/>
                </a:lnTo>
                <a:lnTo>
                  <a:pt x="57150" y="106576"/>
                </a:lnTo>
                <a:lnTo>
                  <a:pt x="28575" y="112782"/>
                </a:lnTo>
                <a:lnTo>
                  <a:pt x="28575" y="142027"/>
                </a:lnTo>
                <a:lnTo>
                  <a:pt x="50363" y="136580"/>
                </a:lnTo>
                <a:cubicBezTo>
                  <a:pt x="52641" y="135999"/>
                  <a:pt x="54873" y="135508"/>
                  <a:pt x="57150" y="135106"/>
                </a:cubicBezTo>
                <a:lnTo>
                  <a:pt x="57150" y="106576"/>
                </a:lnTo>
                <a:lnTo>
                  <a:pt x="74518" y="102825"/>
                </a:lnTo>
                <a:cubicBezTo>
                  <a:pt x="78224" y="102022"/>
                  <a:pt x="81975" y="101709"/>
                  <a:pt x="85725" y="101888"/>
                </a:cubicBezTo>
                <a:lnTo>
                  <a:pt x="85725" y="73313"/>
                </a:lnTo>
                <a:cubicBezTo>
                  <a:pt x="91797" y="73491"/>
                  <a:pt x="97869" y="74474"/>
                  <a:pt x="103763" y="76170"/>
                </a:cubicBezTo>
                <a:lnTo>
                  <a:pt x="114300" y="79251"/>
                </a:lnTo>
                <a:lnTo>
                  <a:pt x="114300" y="109031"/>
                </a:lnTo>
                <a:lnTo>
                  <a:pt x="95682" y="103540"/>
                </a:lnTo>
                <a:cubicBezTo>
                  <a:pt x="92422" y="102602"/>
                  <a:pt x="89074" y="102022"/>
                  <a:pt x="85725" y="101843"/>
                </a:cubicBezTo>
                <a:lnTo>
                  <a:pt x="85725" y="133722"/>
                </a:lnTo>
                <a:cubicBezTo>
                  <a:pt x="95458" y="134570"/>
                  <a:pt x="105058" y="136714"/>
                  <a:pt x="114300" y="140151"/>
                </a:cubicBezTo>
                <a:lnTo>
                  <a:pt x="114300" y="108987"/>
                </a:lnTo>
                <a:lnTo>
                  <a:pt x="124435" y="111978"/>
                </a:lnTo>
                <a:cubicBezTo>
                  <a:pt x="130463" y="113764"/>
                  <a:pt x="136624" y="114836"/>
                  <a:pt x="142875" y="115282"/>
                </a:cubicBezTo>
                <a:lnTo>
                  <a:pt x="142875" y="86618"/>
                </a:lnTo>
                <a:cubicBezTo>
                  <a:pt x="139392" y="86261"/>
                  <a:pt x="135910" y="85591"/>
                  <a:pt x="132517" y="84609"/>
                </a:cubicBezTo>
                <a:lnTo>
                  <a:pt x="114300" y="79251"/>
                </a:lnTo>
                <a:lnTo>
                  <a:pt x="114300" y="51569"/>
                </a:lnTo>
                <a:cubicBezTo>
                  <a:pt x="108496" y="49872"/>
                  <a:pt x="102781" y="47640"/>
                  <a:pt x="97244" y="44872"/>
                </a:cubicBezTo>
                <a:cubicBezTo>
                  <a:pt x="93583" y="43041"/>
                  <a:pt x="89699" y="41746"/>
                  <a:pt x="85725" y="40943"/>
                </a:cubicBezTo>
                <a:lnTo>
                  <a:pt x="85725" y="73268"/>
                </a:lnTo>
                <a:cubicBezTo>
                  <a:pt x="79921" y="73089"/>
                  <a:pt x="74116" y="73625"/>
                  <a:pt x="68446" y="74875"/>
                </a:cubicBezTo>
                <a:lnTo>
                  <a:pt x="57150" y="77331"/>
                </a:lnTo>
                <a:lnTo>
                  <a:pt x="57150" y="43755"/>
                </a:lnTo>
                <a:lnTo>
                  <a:pt x="28575" y="50899"/>
                </a:lnTo>
                <a:lnTo>
                  <a:pt x="28575" y="83537"/>
                </a:lnTo>
                <a:close/>
                <a:moveTo>
                  <a:pt x="142875" y="149885"/>
                </a:moveTo>
                <a:cubicBezTo>
                  <a:pt x="150376" y="150555"/>
                  <a:pt x="158011" y="149572"/>
                  <a:pt x="165199" y="146849"/>
                </a:cubicBezTo>
                <a:lnTo>
                  <a:pt x="171450" y="144527"/>
                </a:lnTo>
                <a:lnTo>
                  <a:pt x="171450" y="112514"/>
                </a:lnTo>
                <a:lnTo>
                  <a:pt x="167923" y="113318"/>
                </a:lnTo>
                <a:cubicBezTo>
                  <a:pt x="159707" y="115238"/>
                  <a:pt x="151269" y="115863"/>
                  <a:pt x="142875" y="115327"/>
                </a:cubicBezTo>
                <a:lnTo>
                  <a:pt x="142875" y="149885"/>
                </a:lnTo>
                <a:close/>
                <a:moveTo>
                  <a:pt x="171450" y="83180"/>
                </a:moveTo>
                <a:lnTo>
                  <a:pt x="171450" y="51569"/>
                </a:lnTo>
                <a:cubicBezTo>
                  <a:pt x="162118" y="54292"/>
                  <a:pt x="152519" y="55632"/>
                  <a:pt x="142875" y="55632"/>
                </a:cubicBezTo>
                <a:lnTo>
                  <a:pt x="142875" y="86618"/>
                </a:lnTo>
                <a:cubicBezTo>
                  <a:pt x="149081" y="87243"/>
                  <a:pt x="155377" y="86841"/>
                  <a:pt x="161493" y="85457"/>
                </a:cubicBezTo>
                <a:lnTo>
                  <a:pt x="171450" y="83135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53" dirty="0">
                <a:solidFill>
                  <a:srgbClr val="1ABC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300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Conclusion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57300"/>
            <a:ext cx="11430000" cy="1390650"/>
          </a:xfrm>
          <a:custGeom>
            <a:avLst/>
            <a:gdLst/>
            <a:ahLst/>
            <a:cxnLst/>
            <a:rect l="l" t="t" r="r" b="b"/>
            <a:pathLst>
              <a:path w="11430000" h="1390650">
                <a:moveTo>
                  <a:pt x="114298" y="0"/>
                </a:moveTo>
                <a:lnTo>
                  <a:pt x="11315702" y="0"/>
                </a:lnTo>
                <a:cubicBezTo>
                  <a:pt x="11378827" y="0"/>
                  <a:pt x="11430000" y="51173"/>
                  <a:pt x="11430000" y="114298"/>
                </a:cubicBezTo>
                <a:lnTo>
                  <a:pt x="11430000" y="1276352"/>
                </a:lnTo>
                <a:cubicBezTo>
                  <a:pt x="11430000" y="1339477"/>
                  <a:pt x="11378827" y="1390650"/>
                  <a:pt x="11315702" y="1390650"/>
                </a:cubicBezTo>
                <a:lnTo>
                  <a:pt x="114298" y="1390650"/>
                </a:lnTo>
                <a:cubicBezTo>
                  <a:pt x="51173" y="1390650"/>
                  <a:pt x="0" y="1339477"/>
                  <a:pt x="0" y="127635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65008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8" name="Shape 6"/>
          <p:cNvSpPr/>
          <p:nvPr/>
        </p:nvSpPr>
        <p:spPr>
          <a:xfrm>
            <a:off x="773906" y="181201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485900"/>
            <a:ext cx="1032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Successful Integration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866779"/>
            <a:ext cx="102965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Smart Digital Microscopic System successfully integrates </a:t>
            </a: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imaging</a:t>
            </a: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processing</a:t>
            </a: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artificial intelligence</a:t>
            </a: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a unified platform.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1000" y="2843092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system enhances: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3281242"/>
            <a:ext cx="2743200" cy="2028825"/>
          </a:xfrm>
          <a:custGeom>
            <a:avLst/>
            <a:gdLst/>
            <a:ahLst/>
            <a:cxnLst/>
            <a:rect l="l" t="t" r="r" b="b"/>
            <a:pathLst>
              <a:path w="2743200" h="2028825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914521"/>
                </a:lnTo>
                <a:cubicBezTo>
                  <a:pt x="2743200" y="1977649"/>
                  <a:pt x="2692024" y="2028825"/>
                  <a:pt x="2628896" y="2028825"/>
                </a:cubicBezTo>
                <a:lnTo>
                  <a:pt x="114304" y="2028825"/>
                </a:lnTo>
                <a:cubicBezTo>
                  <a:pt x="51176" y="2028825"/>
                  <a:pt x="0" y="1977649"/>
                  <a:pt x="0" y="191452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1000" y="3281242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349079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38300" y="368129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6" name="Text 14"/>
          <p:cNvSpPr/>
          <p:nvPr/>
        </p:nvSpPr>
        <p:spPr>
          <a:xfrm>
            <a:off x="1306830" y="4214692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3400" y="4557592"/>
            <a:ext cx="24384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Precise measurements and consistent analysis results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76600" y="3281242"/>
            <a:ext cx="2743200" cy="2028825"/>
          </a:xfrm>
          <a:custGeom>
            <a:avLst/>
            <a:gdLst/>
            <a:ahLst/>
            <a:cxnLst/>
            <a:rect l="l" t="t" r="r" b="b"/>
            <a:pathLst>
              <a:path w="2743200" h="2028825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914521"/>
                </a:lnTo>
                <a:cubicBezTo>
                  <a:pt x="2743200" y="1977649"/>
                  <a:pt x="2692024" y="2028825"/>
                  <a:pt x="2628896" y="2028825"/>
                </a:cubicBezTo>
                <a:lnTo>
                  <a:pt x="114304" y="2028825"/>
                </a:lnTo>
                <a:cubicBezTo>
                  <a:pt x="51176" y="2028825"/>
                  <a:pt x="0" y="1977649"/>
                  <a:pt x="0" y="191452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76600" y="3281242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0" name="Shape 18"/>
          <p:cNvSpPr/>
          <p:nvPr/>
        </p:nvSpPr>
        <p:spPr>
          <a:xfrm>
            <a:off x="4343400" y="349079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33900" y="368129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2" name="Text 20"/>
          <p:cNvSpPr/>
          <p:nvPr/>
        </p:nvSpPr>
        <p:spPr>
          <a:xfrm>
            <a:off x="4177903" y="4214692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29000" y="4557592"/>
            <a:ext cx="24384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processing and reduced analysis time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2200" y="3281242"/>
            <a:ext cx="2743200" cy="2028825"/>
          </a:xfrm>
          <a:custGeom>
            <a:avLst/>
            <a:gdLst/>
            <a:ahLst/>
            <a:cxnLst/>
            <a:rect l="l" t="t" r="r" b="b"/>
            <a:pathLst>
              <a:path w="2743200" h="2028825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914521"/>
                </a:lnTo>
                <a:cubicBezTo>
                  <a:pt x="2743200" y="1977649"/>
                  <a:pt x="2692024" y="2028825"/>
                  <a:pt x="2628896" y="2028825"/>
                </a:cubicBezTo>
                <a:lnTo>
                  <a:pt x="114304" y="2028825"/>
                </a:lnTo>
                <a:cubicBezTo>
                  <a:pt x="51176" y="2028825"/>
                  <a:pt x="0" y="1977649"/>
                  <a:pt x="0" y="191452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3281242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6" name="Shape 24"/>
          <p:cNvSpPr/>
          <p:nvPr/>
        </p:nvSpPr>
        <p:spPr>
          <a:xfrm>
            <a:off x="7239000" y="349079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D6D7E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400925" y="368129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8" name="Text 26"/>
          <p:cNvSpPr/>
          <p:nvPr/>
        </p:nvSpPr>
        <p:spPr>
          <a:xfrm>
            <a:off x="7005042" y="4214692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24600" y="4557592"/>
            <a:ext cx="24384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manual intervention and human error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067800" y="3281242"/>
            <a:ext cx="2743200" cy="2028825"/>
          </a:xfrm>
          <a:custGeom>
            <a:avLst/>
            <a:gdLst/>
            <a:ahLst/>
            <a:cxnLst/>
            <a:rect l="l" t="t" r="r" b="b"/>
            <a:pathLst>
              <a:path w="2743200" h="2028825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914521"/>
                </a:lnTo>
                <a:cubicBezTo>
                  <a:pt x="2743200" y="1977649"/>
                  <a:pt x="2692024" y="2028825"/>
                  <a:pt x="2628896" y="2028825"/>
                </a:cubicBezTo>
                <a:lnTo>
                  <a:pt x="114304" y="2028825"/>
                </a:lnTo>
                <a:cubicBezTo>
                  <a:pt x="51176" y="2028825"/>
                  <a:pt x="0" y="1977649"/>
                  <a:pt x="0" y="191452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067800" y="3281242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34600" y="349079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339388" y="368129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34" name="Text 32"/>
          <p:cNvSpPr/>
          <p:nvPr/>
        </p:nvSpPr>
        <p:spPr>
          <a:xfrm>
            <a:off x="9619417" y="4214692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Management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20200" y="4557592"/>
            <a:ext cx="24384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storage and easy retrieval of analysis results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00050" y="5538788"/>
            <a:ext cx="11410950" cy="942975"/>
          </a:xfrm>
          <a:custGeom>
            <a:avLst/>
            <a:gdLst/>
            <a:ahLst/>
            <a:cxnLst/>
            <a:rect l="l" t="t" r="r" b="b"/>
            <a:pathLst>
              <a:path w="11410950" h="942975">
                <a:moveTo>
                  <a:pt x="38100" y="0"/>
                </a:moveTo>
                <a:lnTo>
                  <a:pt x="11296652" y="0"/>
                </a:lnTo>
                <a:cubicBezTo>
                  <a:pt x="11359735" y="0"/>
                  <a:pt x="11410950" y="51215"/>
                  <a:pt x="11410950" y="114298"/>
                </a:cubicBezTo>
                <a:lnTo>
                  <a:pt x="11410950" y="828677"/>
                </a:lnTo>
                <a:cubicBezTo>
                  <a:pt x="11410950" y="891760"/>
                  <a:pt x="11359735" y="942975"/>
                  <a:pt x="11296652" y="942975"/>
                </a:cubicBezTo>
                <a:lnTo>
                  <a:pt x="38100" y="942975"/>
                </a:lnTo>
                <a:cubicBezTo>
                  <a:pt x="17072" y="942975"/>
                  <a:pt x="0" y="925903"/>
                  <a:pt x="0" y="904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00050" y="5538788"/>
            <a:ext cx="38100" cy="942975"/>
          </a:xfrm>
          <a:custGeom>
            <a:avLst/>
            <a:gdLst/>
            <a:ahLst/>
            <a:cxnLst/>
            <a:rect l="l" t="t" r="r" b="b"/>
            <a:pathLst>
              <a:path w="38100" h="942975">
                <a:moveTo>
                  <a:pt x="38100" y="0"/>
                </a:moveTo>
                <a:lnTo>
                  <a:pt x="38100" y="0"/>
                </a:lnTo>
                <a:lnTo>
                  <a:pt x="38100" y="942975"/>
                </a:lnTo>
                <a:lnTo>
                  <a:pt x="38100" y="942975"/>
                </a:lnTo>
                <a:cubicBezTo>
                  <a:pt x="17072" y="942975"/>
                  <a:pt x="0" y="925903"/>
                  <a:pt x="0" y="904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938" y="5893594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39" name="Text 37"/>
          <p:cNvSpPr/>
          <p:nvPr/>
        </p:nvSpPr>
        <p:spPr>
          <a:xfrm>
            <a:off x="965359" y="5729288"/>
            <a:ext cx="107442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represents a practical step toward intelligent laboratory automation,</a:t>
            </a:r>
            <a:r>
              <a:rPr lang="en-US" sz="13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demonstrating the potential of AI-enhanced microscopy in modern research and diagnostic settings.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55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53" dirty="0">
                <a:solidFill>
                  <a:srgbClr val="1ABC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2047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0668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improvements may include: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524000"/>
            <a:ext cx="3695700" cy="1895475"/>
          </a:xfrm>
          <a:custGeom>
            <a:avLst/>
            <a:gdLst/>
            <a:ahLst/>
            <a:cxnLst/>
            <a:rect l="l" t="t" r="r" b="b"/>
            <a:pathLst>
              <a:path w="3695700" h="1895475">
                <a:moveTo>
                  <a:pt x="38100" y="0"/>
                </a:moveTo>
                <a:lnTo>
                  <a:pt x="3581403" y="0"/>
                </a:lnTo>
                <a:cubicBezTo>
                  <a:pt x="3644485" y="0"/>
                  <a:pt x="3695700" y="51215"/>
                  <a:pt x="3695700" y="114297"/>
                </a:cubicBezTo>
                <a:lnTo>
                  <a:pt x="3695700" y="1781178"/>
                </a:lnTo>
                <a:cubicBezTo>
                  <a:pt x="3695700" y="1844260"/>
                  <a:pt x="3644485" y="1895475"/>
                  <a:pt x="3581403" y="1895475"/>
                </a:cubicBezTo>
                <a:lnTo>
                  <a:pt x="38100" y="1895475"/>
                </a:lnTo>
                <a:cubicBezTo>
                  <a:pt x="17072" y="1895475"/>
                  <a:pt x="0" y="1878403"/>
                  <a:pt x="0" y="1857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0050" y="1524000"/>
            <a:ext cx="38100" cy="1895475"/>
          </a:xfrm>
          <a:custGeom>
            <a:avLst/>
            <a:gdLst/>
            <a:ahLst/>
            <a:cxnLst/>
            <a:rect l="l" t="t" r="r" b="b"/>
            <a:pathLst>
              <a:path w="38100" h="1895475">
                <a:moveTo>
                  <a:pt x="38100" y="0"/>
                </a:moveTo>
                <a:lnTo>
                  <a:pt x="38100" y="0"/>
                </a:lnTo>
                <a:lnTo>
                  <a:pt x="38100" y="1895475"/>
                </a:lnTo>
                <a:lnTo>
                  <a:pt x="38100" y="1895475"/>
                </a:lnTo>
                <a:cubicBezTo>
                  <a:pt x="17072" y="1895475"/>
                  <a:pt x="0" y="1878403"/>
                  <a:pt x="0" y="1857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54856" y="1847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180975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 AI Dataset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286000"/>
            <a:ext cx="337185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 training data diversity to improve model generalization and accuracy across different sample types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67200" y="1524000"/>
            <a:ext cx="3695700" cy="1895475"/>
          </a:xfrm>
          <a:custGeom>
            <a:avLst/>
            <a:gdLst/>
            <a:ahLst/>
            <a:cxnLst/>
            <a:rect l="l" t="t" r="r" b="b"/>
            <a:pathLst>
              <a:path w="3695700" h="1895475">
                <a:moveTo>
                  <a:pt x="38100" y="0"/>
                </a:moveTo>
                <a:lnTo>
                  <a:pt x="3581403" y="0"/>
                </a:lnTo>
                <a:cubicBezTo>
                  <a:pt x="3644485" y="0"/>
                  <a:pt x="3695700" y="51215"/>
                  <a:pt x="3695700" y="114297"/>
                </a:cubicBezTo>
                <a:lnTo>
                  <a:pt x="3695700" y="1781178"/>
                </a:lnTo>
                <a:cubicBezTo>
                  <a:pt x="3695700" y="1844260"/>
                  <a:pt x="3644485" y="1895475"/>
                  <a:pt x="3581403" y="1895475"/>
                </a:cubicBezTo>
                <a:lnTo>
                  <a:pt x="38100" y="1895475"/>
                </a:lnTo>
                <a:cubicBezTo>
                  <a:pt x="17072" y="1895475"/>
                  <a:pt x="0" y="1878403"/>
                  <a:pt x="0" y="1857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67200" y="1524000"/>
            <a:ext cx="38100" cy="1895475"/>
          </a:xfrm>
          <a:custGeom>
            <a:avLst/>
            <a:gdLst/>
            <a:ahLst/>
            <a:cxnLst/>
            <a:rect l="l" t="t" r="r" b="b"/>
            <a:pathLst>
              <a:path w="38100" h="1895475">
                <a:moveTo>
                  <a:pt x="38100" y="0"/>
                </a:moveTo>
                <a:lnTo>
                  <a:pt x="38100" y="0"/>
                </a:lnTo>
                <a:lnTo>
                  <a:pt x="38100" y="1895475"/>
                </a:lnTo>
                <a:lnTo>
                  <a:pt x="38100" y="1895475"/>
                </a:lnTo>
                <a:cubicBezTo>
                  <a:pt x="17072" y="1895475"/>
                  <a:pt x="0" y="1878403"/>
                  <a:pt x="0" y="1857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675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610100" y="1847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7" name="Text 15"/>
          <p:cNvSpPr/>
          <p:nvPr/>
        </p:nvSpPr>
        <p:spPr>
          <a:xfrm>
            <a:off x="5048250" y="1809750"/>
            <a:ext cx="2200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Deep Learning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76750" y="2286000"/>
            <a:ext cx="337185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state-of-the-art neural network architectures for enhanced detection and classification capabilities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3568666"/>
            <a:ext cx="3695700" cy="1647825"/>
          </a:xfrm>
          <a:custGeom>
            <a:avLst/>
            <a:gdLst/>
            <a:ahLst/>
            <a:cxnLst/>
            <a:rect l="l" t="t" r="r" b="b"/>
            <a:pathLst>
              <a:path w="3695700" h="1647825">
                <a:moveTo>
                  <a:pt x="38100" y="0"/>
                </a:moveTo>
                <a:lnTo>
                  <a:pt x="3581407" y="0"/>
                </a:lnTo>
                <a:cubicBezTo>
                  <a:pt x="3644487" y="0"/>
                  <a:pt x="3695700" y="51213"/>
                  <a:pt x="3695700" y="114293"/>
                </a:cubicBezTo>
                <a:lnTo>
                  <a:pt x="3695700" y="1533532"/>
                </a:lnTo>
                <a:cubicBezTo>
                  <a:pt x="3695700" y="1596612"/>
                  <a:pt x="3644487" y="1647825"/>
                  <a:pt x="3581407" y="1647825"/>
                </a:cubicBez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0050" y="3568666"/>
            <a:ext cx="38100" cy="1647825"/>
          </a:xfrm>
          <a:custGeom>
            <a:avLst/>
            <a:gdLst/>
            <a:ahLst/>
            <a:cxnLst/>
            <a:rect l="l" t="t" r="r" b="b"/>
            <a:pathLst>
              <a:path w="38100" h="1647825">
                <a:moveTo>
                  <a:pt x="38100" y="0"/>
                </a:moveTo>
                <a:lnTo>
                  <a:pt x="38100" y="0"/>
                </a:lnTo>
                <a:lnTo>
                  <a:pt x="38100" y="1647825"/>
                </a:ln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600" y="375916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D6D7E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54856" y="3892516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3" name="Text 21"/>
          <p:cNvSpPr/>
          <p:nvPr/>
        </p:nvSpPr>
        <p:spPr>
          <a:xfrm>
            <a:off x="1181100" y="3854416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Scanning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" y="4330666"/>
            <a:ext cx="337185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motorized stage control for automated sample scanning and whole-slide imaging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67200" y="3568666"/>
            <a:ext cx="3695700" cy="1647825"/>
          </a:xfrm>
          <a:custGeom>
            <a:avLst/>
            <a:gdLst/>
            <a:ahLst/>
            <a:cxnLst/>
            <a:rect l="l" t="t" r="r" b="b"/>
            <a:pathLst>
              <a:path w="3695700" h="1647825">
                <a:moveTo>
                  <a:pt x="38100" y="0"/>
                </a:moveTo>
                <a:lnTo>
                  <a:pt x="3581407" y="0"/>
                </a:lnTo>
                <a:cubicBezTo>
                  <a:pt x="3644487" y="0"/>
                  <a:pt x="3695700" y="51213"/>
                  <a:pt x="3695700" y="114293"/>
                </a:cubicBezTo>
                <a:lnTo>
                  <a:pt x="3695700" y="1533532"/>
                </a:lnTo>
                <a:cubicBezTo>
                  <a:pt x="3695700" y="1596612"/>
                  <a:pt x="3644487" y="1647825"/>
                  <a:pt x="3581407" y="1647825"/>
                </a:cubicBez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67200" y="3568666"/>
            <a:ext cx="38100" cy="1647825"/>
          </a:xfrm>
          <a:custGeom>
            <a:avLst/>
            <a:gdLst/>
            <a:ahLst/>
            <a:cxnLst/>
            <a:rect l="l" t="t" r="r" b="b"/>
            <a:pathLst>
              <a:path w="38100" h="1647825">
                <a:moveTo>
                  <a:pt x="38100" y="0"/>
                </a:moveTo>
                <a:lnTo>
                  <a:pt x="38100" y="0"/>
                </a:lnTo>
                <a:lnTo>
                  <a:pt x="38100" y="1647825"/>
                </a:ln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7" name="Shape 25"/>
          <p:cNvSpPr/>
          <p:nvPr/>
        </p:nvSpPr>
        <p:spPr>
          <a:xfrm>
            <a:off x="4476750" y="375916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598194" y="3892516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9" name="Text 27"/>
          <p:cNvSpPr/>
          <p:nvPr/>
        </p:nvSpPr>
        <p:spPr>
          <a:xfrm>
            <a:off x="5048250" y="3854416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Integration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76750" y="4330666"/>
            <a:ext cx="337185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remote access, data sharing, and collaborative analysis through cloud connectivity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00050" y="5365672"/>
            <a:ext cx="7562850" cy="1400175"/>
          </a:xfrm>
          <a:custGeom>
            <a:avLst/>
            <a:gdLst/>
            <a:ahLst/>
            <a:cxnLst/>
            <a:rect l="l" t="t" r="r" b="b"/>
            <a:pathLst>
              <a:path w="7562850" h="1400175">
                <a:moveTo>
                  <a:pt x="38100" y="0"/>
                </a:moveTo>
                <a:lnTo>
                  <a:pt x="7448554" y="0"/>
                </a:lnTo>
                <a:cubicBezTo>
                  <a:pt x="7511636" y="0"/>
                  <a:pt x="7562850" y="51214"/>
                  <a:pt x="7562850" y="114296"/>
                </a:cubicBezTo>
                <a:lnTo>
                  <a:pt x="7562850" y="1285879"/>
                </a:lnTo>
                <a:cubicBezTo>
                  <a:pt x="7562850" y="1348961"/>
                  <a:pt x="7511636" y="1400175"/>
                  <a:pt x="7448554" y="1400175"/>
                </a:cubicBezTo>
                <a:lnTo>
                  <a:pt x="38100" y="1400175"/>
                </a:lnTo>
                <a:cubicBezTo>
                  <a:pt x="17072" y="1400175"/>
                  <a:pt x="0" y="1383103"/>
                  <a:pt x="0" y="1362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00050" y="5365672"/>
            <a:ext cx="38100" cy="1400175"/>
          </a:xfrm>
          <a:custGeom>
            <a:avLst/>
            <a:gdLst/>
            <a:ahLst/>
            <a:cxnLst/>
            <a:rect l="l" t="t" r="r" b="b"/>
            <a:pathLst>
              <a:path w="38100" h="1400175">
                <a:moveTo>
                  <a:pt x="38100" y="0"/>
                </a:moveTo>
                <a:lnTo>
                  <a:pt x="38100" y="0"/>
                </a:lnTo>
                <a:lnTo>
                  <a:pt x="38100" y="1400175"/>
                </a:lnTo>
                <a:lnTo>
                  <a:pt x="38100" y="1400175"/>
                </a:lnTo>
                <a:cubicBezTo>
                  <a:pt x="17072" y="1400175"/>
                  <a:pt x="0" y="1383103"/>
                  <a:pt x="0" y="1362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600" y="555617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42950" y="568952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5476" y="24110"/>
                </a:moveTo>
                <a:lnTo>
                  <a:pt x="51606" y="35719"/>
                </a:lnTo>
                <a:lnTo>
                  <a:pt x="23812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66688" y="178594"/>
                </a:lnTo>
                <a:cubicBezTo>
                  <a:pt x="179822" y="178594"/>
                  <a:pt x="190500" y="167915"/>
                  <a:pt x="190500" y="154781"/>
                </a:cubicBezTo>
                <a:lnTo>
                  <a:pt x="190500" y="59531"/>
                </a:lnTo>
                <a:cubicBezTo>
                  <a:pt x="190500" y="46397"/>
                  <a:pt x="179822" y="35719"/>
                  <a:pt x="166688" y="35719"/>
                </a:cubicBezTo>
                <a:lnTo>
                  <a:pt x="138894" y="35719"/>
                </a:lnTo>
                <a:lnTo>
                  <a:pt x="135024" y="24110"/>
                </a:lnTo>
                <a:cubicBezTo>
                  <a:pt x="132606" y="16818"/>
                  <a:pt x="125797" y="11906"/>
                  <a:pt x="118095" y="11906"/>
                </a:cubicBezTo>
                <a:lnTo>
                  <a:pt x="72405" y="11906"/>
                </a:lnTo>
                <a:cubicBezTo>
                  <a:pt x="64703" y="11906"/>
                  <a:pt x="57894" y="16818"/>
                  <a:pt x="55476" y="24110"/>
                </a:cubicBezTo>
                <a:close/>
                <a:moveTo>
                  <a:pt x="95250" y="71438"/>
                </a:moveTo>
                <a:cubicBezTo>
                  <a:pt x="114964" y="71438"/>
                  <a:pt x="130969" y="87443"/>
                  <a:pt x="130969" y="107156"/>
                </a:cubicBezTo>
                <a:cubicBezTo>
                  <a:pt x="130969" y="126870"/>
                  <a:pt x="114964" y="142875"/>
                  <a:pt x="95250" y="142875"/>
                </a:cubicBezTo>
                <a:cubicBezTo>
                  <a:pt x="75536" y="142875"/>
                  <a:pt x="59531" y="126870"/>
                  <a:pt x="59531" y="107156"/>
                </a:cubicBezTo>
                <a:cubicBezTo>
                  <a:pt x="59531" y="87443"/>
                  <a:pt x="75536" y="71438"/>
                  <a:pt x="95250" y="71438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5" name="Text 33"/>
          <p:cNvSpPr/>
          <p:nvPr/>
        </p:nvSpPr>
        <p:spPr>
          <a:xfrm>
            <a:off x="1181100" y="5651422"/>
            <a:ext cx="230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Resolution Sensors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09600" y="6127672"/>
            <a:ext cx="723900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Upgrade to higher resolution imaging sensors for capturing finer details and sub-cellular structures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91500" y="1524000"/>
            <a:ext cx="3619500" cy="3619500"/>
          </a:xfrm>
          <a:custGeom>
            <a:avLst/>
            <a:gdLst/>
            <a:ahLst/>
            <a:cxnLst/>
            <a:rect l="l" t="t" r="r" b="b"/>
            <a:pathLst>
              <a:path w="3619500" h="3619500">
                <a:moveTo>
                  <a:pt x="114304" y="0"/>
                </a:moveTo>
                <a:lnTo>
                  <a:pt x="3505196" y="0"/>
                </a:lnTo>
                <a:cubicBezTo>
                  <a:pt x="3568324" y="0"/>
                  <a:pt x="3619500" y="51176"/>
                  <a:pt x="3619500" y="114304"/>
                </a:cubicBezTo>
                <a:lnTo>
                  <a:pt x="3619500" y="3505196"/>
                </a:lnTo>
                <a:cubicBezTo>
                  <a:pt x="3619500" y="3568324"/>
                  <a:pt x="3568324" y="3619500"/>
                  <a:pt x="3505196" y="3619500"/>
                </a:cubicBezTo>
                <a:lnTo>
                  <a:pt x="114304" y="3619500"/>
                </a:lnTo>
                <a:cubicBezTo>
                  <a:pt x="51176" y="3619500"/>
                  <a:pt x="0" y="3568324"/>
                  <a:pt x="0" y="35051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38" name="Image 0" descr="https://kimi-web-img.moonshot.cn/img/img.medicalexpo.com/04ec2f1367ff29104022091c4d9b31be2f76fff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91500" y="1524000"/>
            <a:ext cx="3619500" cy="3619500"/>
          </a:xfrm>
          <a:prstGeom prst="roundRect">
            <a:avLst>
              <a:gd name="adj" fmla="val 3158"/>
            </a:avLst>
          </a:prstGeom>
        </p:spPr>
      </p:pic>
      <p:sp>
        <p:nvSpPr>
          <p:cNvPr id="39" name="Shape 36"/>
          <p:cNvSpPr/>
          <p:nvPr/>
        </p:nvSpPr>
        <p:spPr>
          <a:xfrm>
            <a:off x="8191500" y="5295900"/>
            <a:ext cx="3619500" cy="1466850"/>
          </a:xfrm>
          <a:custGeom>
            <a:avLst/>
            <a:gdLst/>
            <a:ahLst/>
            <a:cxnLst/>
            <a:rect l="l" t="t" r="r" b="b"/>
            <a:pathLst>
              <a:path w="3619500" h="1466850">
                <a:moveTo>
                  <a:pt x="114297" y="0"/>
                </a:moveTo>
                <a:lnTo>
                  <a:pt x="3505203" y="0"/>
                </a:lnTo>
                <a:cubicBezTo>
                  <a:pt x="3568328" y="0"/>
                  <a:pt x="3619500" y="51172"/>
                  <a:pt x="3619500" y="114297"/>
                </a:cubicBezTo>
                <a:lnTo>
                  <a:pt x="3619500" y="1352553"/>
                </a:lnTo>
                <a:cubicBezTo>
                  <a:pt x="3619500" y="1415678"/>
                  <a:pt x="3568328" y="1466850"/>
                  <a:pt x="3505203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40" name="Shape 37"/>
          <p:cNvSpPr/>
          <p:nvPr/>
        </p:nvSpPr>
        <p:spPr>
          <a:xfrm>
            <a:off x="8386763" y="55245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9846" y="6474"/>
                </a:moveTo>
                <a:cubicBezTo>
                  <a:pt x="75195" y="1823"/>
                  <a:pt x="67642" y="1823"/>
                  <a:pt x="62992" y="6474"/>
                </a:cubicBezTo>
                <a:lnTo>
                  <a:pt x="3460" y="66005"/>
                </a:lnTo>
                <a:cubicBezTo>
                  <a:pt x="-1191" y="70656"/>
                  <a:pt x="-1191" y="78209"/>
                  <a:pt x="3460" y="82860"/>
                </a:cubicBezTo>
                <a:cubicBezTo>
                  <a:pt x="8111" y="87511"/>
                  <a:pt x="15664" y="87511"/>
                  <a:pt x="20315" y="82860"/>
                </a:cubicBezTo>
                <a:lnTo>
                  <a:pt x="59531" y="43644"/>
                </a:lnTo>
                <a:lnTo>
                  <a:pt x="59531" y="181570"/>
                </a:lnTo>
                <a:cubicBezTo>
                  <a:pt x="59531" y="188156"/>
                  <a:pt x="64852" y="193477"/>
                  <a:pt x="71438" y="193477"/>
                </a:cubicBezTo>
                <a:cubicBezTo>
                  <a:pt x="78023" y="193477"/>
                  <a:pt x="83344" y="188156"/>
                  <a:pt x="83344" y="181570"/>
                </a:cubicBezTo>
                <a:lnTo>
                  <a:pt x="83344" y="43644"/>
                </a:lnTo>
                <a:lnTo>
                  <a:pt x="122560" y="82860"/>
                </a:lnTo>
                <a:cubicBezTo>
                  <a:pt x="127211" y="87511"/>
                  <a:pt x="134764" y="87511"/>
                  <a:pt x="139415" y="82860"/>
                </a:cubicBezTo>
                <a:cubicBezTo>
                  <a:pt x="144066" y="78209"/>
                  <a:pt x="144066" y="70656"/>
                  <a:pt x="139415" y="66005"/>
                </a:cubicBezTo>
                <a:lnTo>
                  <a:pt x="79883" y="647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8"/>
          <p:cNvSpPr/>
          <p:nvPr/>
        </p:nvSpPr>
        <p:spPr>
          <a:xfrm>
            <a:off x="8644533" y="5486400"/>
            <a:ext cx="3057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Improvement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8644533" y="5829300"/>
            <a:ext cx="3048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enhancements will further advance the system's capabilities and practical applications.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quarespace-cdn.com/eb2e719e08addc4a2a95e5a8da1ed899de5b5c38.jpg"/>
          <p:cNvPicPr>
            <a:picLocks noChangeAspect="1"/>
          </p:cNvPicPr>
          <p:nvPr/>
        </p:nvPicPr>
        <p:blipFill>
          <a:blip r:embed="rId3">
            <a:alphaModFix amt="15000"/>
          </a:blip>
          <a:srcRect t="7904" b="790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95000"/>
                </a:srgbClr>
              </a:gs>
              <a:gs pos="50000">
                <a:srgbClr val="2C3E50">
                  <a:alpha val="90000"/>
                </a:srgbClr>
              </a:gs>
              <a:gs pos="100000">
                <a:srgbClr val="1ABC9C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57850" y="1259207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solidFill>
            <a:srgbClr val="1ABC9C">
              <a:alpha val="20000"/>
            </a:srgbClr>
          </a:solidFill>
          <a:ln w="50800">
            <a:solidFill>
              <a:srgbClr val="1ABC9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95975" y="1468757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88263" y="62597"/>
                </a:moveTo>
                <a:cubicBezTo>
                  <a:pt x="401032" y="71884"/>
                  <a:pt x="403890" y="89743"/>
                  <a:pt x="394603" y="102513"/>
                </a:cubicBezTo>
                <a:lnTo>
                  <a:pt x="166003" y="416838"/>
                </a:lnTo>
                <a:cubicBezTo>
                  <a:pt x="161092" y="423624"/>
                  <a:pt x="153501" y="427821"/>
                  <a:pt x="145107" y="428536"/>
                </a:cubicBezTo>
                <a:cubicBezTo>
                  <a:pt x="136714" y="429250"/>
                  <a:pt x="128588" y="426125"/>
                  <a:pt x="122694" y="420231"/>
                </a:cubicBezTo>
                <a:lnTo>
                  <a:pt x="8394" y="305931"/>
                </a:lnTo>
                <a:cubicBezTo>
                  <a:pt x="-2768" y="294769"/>
                  <a:pt x="-2768" y="276642"/>
                  <a:pt x="8394" y="265480"/>
                </a:cubicBezTo>
                <a:cubicBezTo>
                  <a:pt x="19556" y="254318"/>
                  <a:pt x="37683" y="254318"/>
                  <a:pt x="48845" y="265480"/>
                </a:cubicBezTo>
                <a:lnTo>
                  <a:pt x="139482" y="356116"/>
                </a:lnTo>
                <a:lnTo>
                  <a:pt x="348436" y="68848"/>
                </a:lnTo>
                <a:cubicBezTo>
                  <a:pt x="357723" y="56078"/>
                  <a:pt x="375583" y="53221"/>
                  <a:pt x="388352" y="62508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6" name="Text 3"/>
          <p:cNvSpPr/>
          <p:nvPr/>
        </p:nvSpPr>
        <p:spPr>
          <a:xfrm>
            <a:off x="4528661" y="2383157"/>
            <a:ext cx="31337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CF0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3107057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8" name="Text 5"/>
          <p:cNvSpPr/>
          <p:nvPr/>
        </p:nvSpPr>
        <p:spPr>
          <a:xfrm>
            <a:off x="4614386" y="3373757"/>
            <a:ext cx="2962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ECF0F1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 for your attention.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623911" y="3754636"/>
            <a:ext cx="2943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CF0F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welcome your questions.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434358" y="4329946"/>
            <a:ext cx="5322570" cy="1864229"/>
          </a:xfrm>
          <a:custGeom>
            <a:avLst/>
            <a:gdLst/>
            <a:ahLst/>
            <a:cxnLst/>
            <a:rect l="l" t="t" r="r" b="b"/>
            <a:pathLst>
              <a:path w="5322570" h="1864229">
                <a:moveTo>
                  <a:pt x="152394" y="0"/>
                </a:moveTo>
                <a:lnTo>
                  <a:pt x="5170176" y="0"/>
                </a:lnTo>
                <a:cubicBezTo>
                  <a:pt x="5254341" y="0"/>
                  <a:pt x="5322570" y="99064"/>
                  <a:pt x="5322570" y="221265"/>
                </a:cubicBezTo>
                <a:lnTo>
                  <a:pt x="5322570" y="1642963"/>
                </a:lnTo>
                <a:cubicBezTo>
                  <a:pt x="5322570" y="1765165"/>
                  <a:pt x="5254341" y="1864229"/>
                  <a:pt x="5170176" y="1864229"/>
                </a:cubicBezTo>
                <a:lnTo>
                  <a:pt x="152394" y="1864229"/>
                </a:lnTo>
                <a:cubicBezTo>
                  <a:pt x="68229" y="1864229"/>
                  <a:pt x="0" y="1765165"/>
                  <a:pt x="0" y="1642963"/>
                </a:cubicBezTo>
                <a:lnTo>
                  <a:pt x="0" y="221265"/>
                </a:lnTo>
                <a:cubicBezTo>
                  <a:pt x="0" y="99146"/>
                  <a:pt x="68286" y="0"/>
                  <a:pt x="15239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24099" y="4562354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2" name="Text 9"/>
          <p:cNvSpPr/>
          <p:nvPr/>
        </p:nvSpPr>
        <p:spPr>
          <a:xfrm>
            <a:off x="3633430" y="4924304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CF0F1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548541" y="5114804"/>
            <a:ext cx="1708305" cy="885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CF0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Zahed, Bashar, Ayman , Ahmed ,Anwar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973366" y="4562354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138410"/>
                </a:moveTo>
                <a:cubicBezTo>
                  <a:pt x="88052" y="138410"/>
                  <a:pt x="58043" y="108401"/>
                  <a:pt x="58043" y="71438"/>
                </a:cubicBezTo>
                <a:cubicBezTo>
                  <a:pt x="58043" y="34474"/>
                  <a:pt x="88052" y="4465"/>
                  <a:pt x="125016" y="4465"/>
                </a:cubicBezTo>
                <a:cubicBezTo>
                  <a:pt x="161979" y="4465"/>
                  <a:pt x="191988" y="34474"/>
                  <a:pt x="191988" y="71437"/>
                </a:cubicBezTo>
                <a:cubicBezTo>
                  <a:pt x="191988" y="108401"/>
                  <a:pt x="161979" y="138410"/>
                  <a:pt x="125016" y="138410"/>
                </a:cubicBezTo>
                <a:close/>
                <a:moveTo>
                  <a:pt x="107993" y="169664"/>
                </a:moveTo>
                <a:lnTo>
                  <a:pt x="142038" y="169664"/>
                </a:lnTo>
                <a:cubicBezTo>
                  <a:pt x="147451" y="169664"/>
                  <a:pt x="151805" y="174017"/>
                  <a:pt x="151805" y="179431"/>
                </a:cubicBezTo>
                <a:cubicBezTo>
                  <a:pt x="151805" y="181775"/>
                  <a:pt x="150968" y="184007"/>
                  <a:pt x="149461" y="185793"/>
                </a:cubicBezTo>
                <a:lnTo>
                  <a:pt x="134169" y="203653"/>
                </a:lnTo>
                <a:lnTo>
                  <a:pt x="151470" y="267891"/>
                </a:lnTo>
                <a:lnTo>
                  <a:pt x="151805" y="267891"/>
                </a:lnTo>
                <a:lnTo>
                  <a:pt x="171115" y="190593"/>
                </a:lnTo>
                <a:cubicBezTo>
                  <a:pt x="172343" y="185738"/>
                  <a:pt x="177310" y="182780"/>
                  <a:pt x="181998" y="184565"/>
                </a:cubicBezTo>
                <a:cubicBezTo>
                  <a:pt x="216545" y="197737"/>
                  <a:pt x="241102" y="231223"/>
                  <a:pt x="241102" y="270402"/>
                </a:cubicBezTo>
                <a:cubicBezTo>
                  <a:pt x="241102" y="278829"/>
                  <a:pt x="234237" y="285694"/>
                  <a:pt x="225809" y="285694"/>
                </a:cubicBezTo>
                <a:lnTo>
                  <a:pt x="24222" y="285750"/>
                </a:lnTo>
                <a:cubicBezTo>
                  <a:pt x="15794" y="285750"/>
                  <a:pt x="8930" y="278885"/>
                  <a:pt x="8930" y="270458"/>
                </a:cubicBezTo>
                <a:cubicBezTo>
                  <a:pt x="8930" y="231279"/>
                  <a:pt x="33486" y="197793"/>
                  <a:pt x="68033" y="184621"/>
                </a:cubicBezTo>
                <a:cubicBezTo>
                  <a:pt x="72721" y="182835"/>
                  <a:pt x="77688" y="185793"/>
                  <a:pt x="78916" y="190649"/>
                </a:cubicBezTo>
                <a:lnTo>
                  <a:pt x="98227" y="267946"/>
                </a:lnTo>
                <a:lnTo>
                  <a:pt x="98561" y="267946"/>
                </a:lnTo>
                <a:lnTo>
                  <a:pt x="115863" y="203708"/>
                </a:lnTo>
                <a:lnTo>
                  <a:pt x="100571" y="185849"/>
                </a:lnTo>
                <a:cubicBezTo>
                  <a:pt x="99064" y="184063"/>
                  <a:pt x="98227" y="181831"/>
                  <a:pt x="98227" y="179487"/>
                </a:cubicBezTo>
                <a:cubicBezTo>
                  <a:pt x="98227" y="174073"/>
                  <a:pt x="102580" y="169720"/>
                  <a:pt x="107993" y="16972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5" name="Text 12"/>
          <p:cNvSpPr/>
          <p:nvPr/>
        </p:nvSpPr>
        <p:spPr>
          <a:xfrm>
            <a:off x="5329118" y="4924304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CF0F1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24475" y="5443252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CF0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Dr. Awadh AL-Kubati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69054" y="4562354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71438" y="0"/>
                </a:moveTo>
                <a:cubicBezTo>
                  <a:pt x="81316" y="0"/>
                  <a:pt x="89297" y="7981"/>
                  <a:pt x="89297" y="17859"/>
                </a:cubicBezTo>
                <a:lnTo>
                  <a:pt x="89297" y="35719"/>
                </a:lnTo>
                <a:lnTo>
                  <a:pt x="160734" y="35719"/>
                </a:lnTo>
                <a:lnTo>
                  <a:pt x="160734" y="17859"/>
                </a:lnTo>
                <a:cubicBezTo>
                  <a:pt x="160734" y="7981"/>
                  <a:pt x="168715" y="0"/>
                  <a:pt x="178594" y="0"/>
                </a:cubicBezTo>
                <a:cubicBezTo>
                  <a:pt x="188472" y="0"/>
                  <a:pt x="196453" y="7981"/>
                  <a:pt x="196453" y="17859"/>
                </a:cubicBezTo>
                <a:lnTo>
                  <a:pt x="196453" y="35719"/>
                </a:lnTo>
                <a:lnTo>
                  <a:pt x="214313" y="35719"/>
                </a:lnTo>
                <a:cubicBezTo>
                  <a:pt x="234014" y="35719"/>
                  <a:pt x="250031" y="51736"/>
                  <a:pt x="250031" y="71438"/>
                </a:cubicBez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71438"/>
                </a:lnTo>
                <a:cubicBezTo>
                  <a:pt x="0" y="51736"/>
                  <a:pt x="16018" y="35719"/>
                  <a:pt x="35719" y="35719"/>
                </a:cubicBezTo>
                <a:lnTo>
                  <a:pt x="53578" y="35719"/>
                </a:lnTo>
                <a:lnTo>
                  <a:pt x="53578" y="17859"/>
                </a:lnTo>
                <a:cubicBezTo>
                  <a:pt x="53578" y="7981"/>
                  <a:pt x="61559" y="0"/>
                  <a:pt x="71438" y="0"/>
                </a:cubicBezTo>
                <a:close/>
                <a:moveTo>
                  <a:pt x="35719" y="133945"/>
                </a:moveTo>
                <a:lnTo>
                  <a:pt x="35719" y="151805"/>
                </a:lnTo>
                <a:cubicBezTo>
                  <a:pt x="35719" y="156716"/>
                  <a:pt x="39737" y="160734"/>
                  <a:pt x="44648" y="160734"/>
                </a:cubicBezTo>
                <a:lnTo>
                  <a:pt x="62508" y="160734"/>
                </a:lnTo>
                <a:cubicBezTo>
                  <a:pt x="67419" y="160734"/>
                  <a:pt x="71438" y="156716"/>
                  <a:pt x="71438" y="151805"/>
                </a:cubicBezTo>
                <a:lnTo>
                  <a:pt x="71438" y="133945"/>
                </a:lnTo>
                <a:cubicBezTo>
                  <a:pt x="71438" y="129034"/>
                  <a:pt x="67419" y="125016"/>
                  <a:pt x="62508" y="125016"/>
                </a:cubicBezTo>
                <a:lnTo>
                  <a:pt x="44648" y="125016"/>
                </a:lnTo>
                <a:cubicBezTo>
                  <a:pt x="39737" y="125016"/>
                  <a:pt x="35719" y="129034"/>
                  <a:pt x="35719" y="133945"/>
                </a:cubicBezTo>
                <a:close/>
                <a:moveTo>
                  <a:pt x="107156" y="133945"/>
                </a:moveTo>
                <a:lnTo>
                  <a:pt x="107156" y="151805"/>
                </a:lnTo>
                <a:cubicBezTo>
                  <a:pt x="107156" y="156716"/>
                  <a:pt x="111175" y="160734"/>
                  <a:pt x="116086" y="160734"/>
                </a:cubicBezTo>
                <a:lnTo>
                  <a:pt x="133945" y="160734"/>
                </a:lnTo>
                <a:cubicBezTo>
                  <a:pt x="138857" y="160734"/>
                  <a:pt x="142875" y="156716"/>
                  <a:pt x="142875" y="151805"/>
                </a:cubicBezTo>
                <a:lnTo>
                  <a:pt x="142875" y="133945"/>
                </a:lnTo>
                <a:cubicBezTo>
                  <a:pt x="142875" y="129034"/>
                  <a:pt x="138857" y="125016"/>
                  <a:pt x="133945" y="125016"/>
                </a:cubicBezTo>
                <a:lnTo>
                  <a:pt x="116086" y="125016"/>
                </a:lnTo>
                <a:cubicBezTo>
                  <a:pt x="111175" y="125016"/>
                  <a:pt x="107156" y="129034"/>
                  <a:pt x="107156" y="133945"/>
                </a:cubicBezTo>
                <a:close/>
                <a:moveTo>
                  <a:pt x="187523" y="125016"/>
                </a:moveTo>
                <a:cubicBezTo>
                  <a:pt x="182612" y="125016"/>
                  <a:pt x="178594" y="129034"/>
                  <a:pt x="178594" y="133945"/>
                </a:cubicBezTo>
                <a:lnTo>
                  <a:pt x="178594" y="151805"/>
                </a:lnTo>
                <a:cubicBezTo>
                  <a:pt x="178594" y="156716"/>
                  <a:pt x="182612" y="160734"/>
                  <a:pt x="187523" y="160734"/>
                </a:cubicBezTo>
                <a:lnTo>
                  <a:pt x="205383" y="160734"/>
                </a:lnTo>
                <a:cubicBezTo>
                  <a:pt x="210294" y="160734"/>
                  <a:pt x="214313" y="156716"/>
                  <a:pt x="214313" y="151805"/>
                </a:cubicBezTo>
                <a:lnTo>
                  <a:pt x="214313" y="133945"/>
                </a:lnTo>
                <a:cubicBezTo>
                  <a:pt x="214313" y="129034"/>
                  <a:pt x="210294" y="125016"/>
                  <a:pt x="205383" y="125016"/>
                </a:cubicBezTo>
                <a:lnTo>
                  <a:pt x="187523" y="125016"/>
                </a:lnTo>
                <a:close/>
                <a:moveTo>
                  <a:pt x="35719" y="205383"/>
                </a:move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62508" y="232172"/>
                </a:lnTo>
                <a:cubicBezTo>
                  <a:pt x="67419" y="232172"/>
                  <a:pt x="71438" y="228154"/>
                  <a:pt x="71438" y="223242"/>
                </a:cubicBezTo>
                <a:lnTo>
                  <a:pt x="71438" y="205383"/>
                </a:lnTo>
                <a:cubicBezTo>
                  <a:pt x="71438" y="200471"/>
                  <a:pt x="67419" y="196453"/>
                  <a:pt x="62508" y="196453"/>
                </a:cubicBezTo>
                <a:lnTo>
                  <a:pt x="44648" y="196453"/>
                </a:lnTo>
                <a:cubicBezTo>
                  <a:pt x="39737" y="196453"/>
                  <a:pt x="35719" y="200471"/>
                  <a:pt x="35719" y="205383"/>
                </a:cubicBezTo>
                <a:close/>
                <a:moveTo>
                  <a:pt x="116086" y="196453"/>
                </a:moveTo>
                <a:cubicBezTo>
                  <a:pt x="111175" y="196453"/>
                  <a:pt x="107156" y="200471"/>
                  <a:pt x="107156" y="205383"/>
                </a:cubicBezTo>
                <a:lnTo>
                  <a:pt x="107156" y="223242"/>
                </a:lnTo>
                <a:cubicBezTo>
                  <a:pt x="107156" y="228154"/>
                  <a:pt x="111175" y="232172"/>
                  <a:pt x="116086" y="232172"/>
                </a:cubicBezTo>
                <a:lnTo>
                  <a:pt x="133945" y="232172"/>
                </a:lnTo>
                <a:cubicBezTo>
                  <a:pt x="138857" y="232172"/>
                  <a:pt x="142875" y="228154"/>
                  <a:pt x="142875" y="223242"/>
                </a:cubicBezTo>
                <a:lnTo>
                  <a:pt x="142875" y="205383"/>
                </a:lnTo>
                <a:cubicBezTo>
                  <a:pt x="142875" y="200471"/>
                  <a:pt x="138857" y="196453"/>
                  <a:pt x="133945" y="196453"/>
                </a:cubicBezTo>
                <a:lnTo>
                  <a:pt x="116086" y="196453"/>
                </a:lnTo>
                <a:close/>
                <a:moveTo>
                  <a:pt x="178594" y="205383"/>
                </a:moveTo>
                <a:lnTo>
                  <a:pt x="178594" y="223242"/>
                </a:lnTo>
                <a:cubicBezTo>
                  <a:pt x="178594" y="228154"/>
                  <a:pt x="182612" y="232172"/>
                  <a:pt x="187523" y="232172"/>
                </a:cubicBezTo>
                <a:lnTo>
                  <a:pt x="205383" y="232172"/>
                </a:lnTo>
                <a:cubicBezTo>
                  <a:pt x="210294" y="232172"/>
                  <a:pt x="214313" y="228154"/>
                  <a:pt x="214313" y="223242"/>
                </a:cubicBezTo>
                <a:lnTo>
                  <a:pt x="214313" y="205383"/>
                </a:lnTo>
                <a:cubicBezTo>
                  <a:pt x="214313" y="200471"/>
                  <a:pt x="210294" y="196453"/>
                  <a:pt x="205383" y="196453"/>
                </a:cubicBezTo>
                <a:lnTo>
                  <a:pt x="187523" y="196453"/>
                </a:lnTo>
                <a:cubicBezTo>
                  <a:pt x="182612" y="196453"/>
                  <a:pt x="178594" y="200471"/>
                  <a:pt x="178594" y="205383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8" name="Text 15"/>
          <p:cNvSpPr/>
          <p:nvPr/>
        </p:nvSpPr>
        <p:spPr>
          <a:xfrm>
            <a:off x="7024807" y="4924304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CF0F1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022545" y="5557552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CF0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2026–2025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4465</TotalTime>
  <Words>1478</Words>
  <Application>Microsoft Office PowerPoint</Application>
  <PresentationFormat>شاشة عريضة</PresentationFormat>
  <Paragraphs>268</Paragraphs>
  <Slides>18</Slides>
  <Notes>18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22" baseType="lpstr">
      <vt:lpstr>Quattrocento Sans</vt:lpstr>
      <vt:lpstr>Liter</vt:lpstr>
      <vt:lpstr>Arial</vt:lpstr>
      <vt:lpstr>Custom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Digital Microscopic System</dc:title>
  <dc:subject>Smart Digital Microscopic System</dc:subject>
  <dc:creator>Kimi</dc:creator>
  <cp:lastModifiedBy>ذي يزن المنصوب</cp:lastModifiedBy>
  <cp:revision>11</cp:revision>
  <dcterms:created xsi:type="dcterms:W3CDTF">2026-02-14T00:42:38Z</dcterms:created>
  <dcterms:modified xsi:type="dcterms:W3CDTF">2026-02-18T20:42:02Z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{"Label":"Smart Digital Microscopic System","ContentProducer":"001191110108MACG2KBH8F10000","ProduceID":"19c5992d-53f2-8cfa-8000-00008db43ba6","ReservedCode1":"","ContentPropagator":"001191110108MACG2KBH8F20000","PropagateID":"19c5992d-53f2-8cfa-8000-00008db43ba6","ReservedCode2":""}</vt:lpwstr>
  </property>
</Properties>
</file>