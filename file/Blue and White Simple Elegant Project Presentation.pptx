
<file path=[Content_Types].xml><?xml version="1.0" encoding="utf-8"?>
<Types xmlns="http://schemas.openxmlformats.org/package/2006/content-types">
  <Default Extension="fntdata" ContentType="application/x-fontdata"/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embedTrueTypeFonts="1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</p:sldIdLst>
  <p:sldSz cx="18288000" cy="10287000"/>
  <p:notesSz cx="6858000" cy="9144000"/>
  <p:embeddedFontLst>
    <p:embeddedFont>
      <p:font typeface="DIN Next" panose="020B0604020202020204" charset="0"/>
      <p:regular r:id="rId12"/>
    </p:embeddedFont>
    <p:embeddedFont>
      <p:font typeface="DIN Next Bold" panose="020B0604020202020204" charset="0"/>
      <p:regular r:id="rId13"/>
    </p:embeddedFont>
    <p:embeddedFont>
      <p:font typeface="Liter" panose="020B0604020202020204" charset="0"/>
      <p:regular r:id="rId14"/>
    </p:embeddedFont>
    <p:embeddedFont>
      <p:font typeface="Quattrocento Sans" panose="020F0502020204030204" pitchFamily="34" charset="0"/>
      <p:regular r:id="rId15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>
        <p:scale>
          <a:sx n="75" d="100"/>
          <a:sy n="75" d="100"/>
        </p:scale>
        <p:origin x="-461" y="43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font" Target="fonts/font2.fntdata"/><Relationship Id="rId18" Type="http://schemas.openxmlformats.org/officeDocument/2006/relationships/theme" Target="theme/theme1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font" Target="fonts/font1.fntdata"/><Relationship Id="rId17" Type="http://schemas.openxmlformats.org/officeDocument/2006/relationships/viewProps" Target="viewProps.xml"/><Relationship Id="rId2" Type="http://schemas.openxmlformats.org/officeDocument/2006/relationships/slide" Target="slides/slide1.xml"/><Relationship Id="rId16" Type="http://schemas.openxmlformats.org/officeDocument/2006/relationships/presProps" Target="pres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font" Target="fonts/font4.fntdata"/><Relationship Id="rId10" Type="http://schemas.openxmlformats.org/officeDocument/2006/relationships/slide" Target="slides/slide9.xml"/><Relationship Id="rId19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font" Target="fonts/font3.fntdata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2/15/2026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5" Type="http://schemas.openxmlformats.org/officeDocument/2006/relationships/image" Target="../media/image4.png"/><Relationship Id="rId4" Type="http://schemas.openxmlformats.org/officeDocument/2006/relationships/image" Target="../media/image3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8.svg"/><Relationship Id="rId5" Type="http://schemas.openxmlformats.org/officeDocument/2006/relationships/image" Target="../media/image7.png"/><Relationship Id="rId4" Type="http://schemas.openxmlformats.org/officeDocument/2006/relationships/image" Target="../media/image5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5.sv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5.sv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6.svg"/><Relationship Id="rId3" Type="http://schemas.openxmlformats.org/officeDocument/2006/relationships/image" Target="../media/image4.png"/><Relationship Id="rId7" Type="http://schemas.openxmlformats.org/officeDocument/2006/relationships/image" Target="../media/image15.png"/><Relationship Id="rId12" Type="http://schemas.openxmlformats.org/officeDocument/2006/relationships/image" Target="../media/image20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11" Type="http://schemas.openxmlformats.org/officeDocument/2006/relationships/image" Target="../media/image19.png"/><Relationship Id="rId5" Type="http://schemas.openxmlformats.org/officeDocument/2006/relationships/image" Target="../media/image13.png"/><Relationship Id="rId10" Type="http://schemas.openxmlformats.org/officeDocument/2006/relationships/image" Target="../media/image18.svg"/><Relationship Id="rId4" Type="http://schemas.openxmlformats.org/officeDocument/2006/relationships/image" Target="../media/image5.svg"/><Relationship Id="rId9" Type="http://schemas.openxmlformats.org/officeDocument/2006/relationships/image" Target="../media/image17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24.svg"/><Relationship Id="rId3" Type="http://schemas.openxmlformats.org/officeDocument/2006/relationships/image" Target="../media/image4.png"/><Relationship Id="rId7" Type="http://schemas.openxmlformats.org/officeDocument/2006/relationships/image" Target="../media/image23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22.svg"/><Relationship Id="rId5" Type="http://schemas.openxmlformats.org/officeDocument/2006/relationships/image" Target="../media/image21.png"/><Relationship Id="rId4" Type="http://schemas.openxmlformats.org/officeDocument/2006/relationships/image" Target="../media/image5.sv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5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0.svg"/><Relationship Id="rId5" Type="http://schemas.openxmlformats.org/officeDocument/2006/relationships/image" Target="../media/image9.png"/><Relationship Id="rId4" Type="http://schemas.openxmlformats.org/officeDocument/2006/relationships/image" Target="../media/image5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7" Type="http://schemas.openxmlformats.org/officeDocument/2006/relationships/image" Target="../media/image26.png"/><Relationship Id="rId2" Type="http://schemas.openxmlformats.org/officeDocument/2006/relationships/image" Target="../media/image6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2.svg"/><Relationship Id="rId5" Type="http://schemas.openxmlformats.org/officeDocument/2006/relationships/image" Target="../media/image11.png"/><Relationship Id="rId4" Type="http://schemas.openxmlformats.org/officeDocument/2006/relationships/image" Target="../media/image5.svg"/></Relationships>
</file>

<file path=ppt/slides/_rels/slide9.xml.rels><?xml version="1.0" encoding="UTF-8" standalone="yes"?>
<Relationships xmlns="http://schemas.openxmlformats.org/package/2006/relationships"><Relationship Id="rId8" Type="http://schemas.openxmlformats.org/officeDocument/2006/relationships/image" Target="../media/image28.jpeg"/><Relationship Id="rId3" Type="http://schemas.openxmlformats.org/officeDocument/2006/relationships/image" Target="../media/image4.png"/><Relationship Id="rId7" Type="http://schemas.openxmlformats.org/officeDocument/2006/relationships/image" Target="../media/image27.jpe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4.svg"/><Relationship Id="rId5" Type="http://schemas.openxmlformats.org/officeDocument/2006/relationships/image" Target="../media/image13.png"/><Relationship Id="rId10" Type="http://schemas.openxmlformats.org/officeDocument/2006/relationships/image" Target="../media/image30.jpeg"/><Relationship Id="rId4" Type="http://schemas.openxmlformats.org/officeDocument/2006/relationships/image" Target="../media/image5.svg"/><Relationship Id="rId9" Type="http://schemas.openxmlformats.org/officeDocument/2006/relationships/image" Target="../media/image29.jpe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2.svg"/><Relationship Id="rId13" Type="http://schemas.openxmlformats.org/officeDocument/2006/relationships/image" Target="../media/image37.png"/><Relationship Id="rId3" Type="http://schemas.openxmlformats.org/officeDocument/2006/relationships/image" Target="../media/image2.png"/><Relationship Id="rId7" Type="http://schemas.openxmlformats.org/officeDocument/2006/relationships/image" Target="../media/image31.png"/><Relationship Id="rId12" Type="http://schemas.openxmlformats.org/officeDocument/2006/relationships/image" Target="../media/image36.svg"/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5.svg"/><Relationship Id="rId11" Type="http://schemas.openxmlformats.org/officeDocument/2006/relationships/image" Target="../media/image35.png"/><Relationship Id="rId5" Type="http://schemas.openxmlformats.org/officeDocument/2006/relationships/image" Target="../media/image4.png"/><Relationship Id="rId10" Type="http://schemas.openxmlformats.org/officeDocument/2006/relationships/image" Target="../media/image34.svg"/><Relationship Id="rId4" Type="http://schemas.openxmlformats.org/officeDocument/2006/relationships/image" Target="../media/image3.svg"/><Relationship Id="rId9" Type="http://schemas.openxmlformats.org/officeDocument/2006/relationships/image" Target="../media/image33.png"/><Relationship Id="rId14" Type="http://schemas.openxmlformats.org/officeDocument/2006/relationships/image" Target="../media/image38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231" t="-19061" r="-11075" b="-17820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350080" y="9092685"/>
            <a:ext cx="9961255" cy="1344769"/>
          </a:xfrm>
          <a:custGeom>
            <a:avLst/>
            <a:gdLst/>
            <a:ahLst/>
            <a:cxnLst/>
            <a:rect l="l" t="t" r="r" b="b"/>
            <a:pathLst>
              <a:path w="9961255" h="1344769">
                <a:moveTo>
                  <a:pt x="9961255" y="0"/>
                </a:moveTo>
                <a:lnTo>
                  <a:pt x="0" y="0"/>
                </a:lnTo>
                <a:lnTo>
                  <a:pt x="0" y="1344769"/>
                </a:lnTo>
                <a:lnTo>
                  <a:pt x="9961255" y="1344769"/>
                </a:lnTo>
                <a:lnTo>
                  <a:pt x="9961255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1459798" y="615331"/>
            <a:ext cx="4114800" cy="826739"/>
          </a:xfrm>
          <a:custGeom>
            <a:avLst/>
            <a:gdLst/>
            <a:ahLst/>
            <a:cxnLst/>
            <a:rect l="l" t="t" r="r" b="b"/>
            <a:pathLst>
              <a:path w="4114800" h="826739">
                <a:moveTo>
                  <a:pt x="4114800" y="0"/>
                </a:moveTo>
                <a:lnTo>
                  <a:pt x="0" y="0"/>
                </a:lnTo>
                <a:lnTo>
                  <a:pt x="0" y="826738"/>
                </a:lnTo>
                <a:lnTo>
                  <a:pt x="4114800" y="826738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397714"/>
            </a:stretch>
          </a:blipFill>
        </p:spPr>
      </p:sp>
      <p:sp>
        <p:nvSpPr>
          <p:cNvPr id="5" name="TextBox 5"/>
          <p:cNvSpPr txBox="1"/>
          <p:nvPr/>
        </p:nvSpPr>
        <p:spPr>
          <a:xfrm>
            <a:off x="914400" y="2237641"/>
            <a:ext cx="15296832" cy="1477328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rtl="1"/>
            <a:r>
              <a:rPr lang="en-US" sz="9600" b="1" dirty="0">
                <a:solidFill>
                  <a:srgbClr val="3D5871"/>
                </a:solidFill>
                <a:latin typeface="DIN Next Bold"/>
              </a:rPr>
              <a:t>Smart Digital Microscopic</a:t>
            </a:r>
            <a:endParaRPr lang="ar-YE" sz="9600" b="1" dirty="0">
              <a:solidFill>
                <a:srgbClr val="3D5871"/>
              </a:solidFill>
              <a:latin typeface="DIN Next Bold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304800" y="4730116"/>
            <a:ext cx="10648217" cy="4212115"/>
          </a:xfrm>
          <a:prstGeom prst="rect">
            <a:avLst/>
          </a:prstGeom>
        </p:spPr>
        <p:txBody>
          <a:bodyPr wrap="square" lIns="0" tIns="0" rIns="0" bIns="0" rtlCol="0" anchor="t">
            <a:spAutoFit/>
          </a:bodyPr>
          <a:lstStyle/>
          <a:p>
            <a:pPr algn="ctr">
              <a:lnSpc>
                <a:spcPts val="4719"/>
              </a:lnSpc>
            </a:pPr>
            <a:r>
              <a:rPr lang="en-US" sz="3999" dirty="0">
                <a:solidFill>
                  <a:srgbClr val="55676D"/>
                </a:solidFill>
                <a:latin typeface="DIN Next"/>
              </a:rPr>
              <a:t>Prepared by: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55676D"/>
                </a:solidFill>
                <a:latin typeface="DIN Next"/>
              </a:rPr>
              <a:t>Zahed Abdo Ghaleb Abdullah</a:t>
            </a:r>
            <a:endParaRPr lang="ar-YE" sz="3200" dirty="0">
              <a:solidFill>
                <a:srgbClr val="55676D"/>
              </a:solidFill>
              <a:latin typeface="DIN Next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55676D"/>
                </a:solidFill>
                <a:latin typeface="DIN Next"/>
              </a:rPr>
              <a:t>Ayman Ahsan Hammoud Mane</a:t>
            </a:r>
            <a:endParaRPr lang="ar-YE" sz="3200" dirty="0">
              <a:solidFill>
                <a:srgbClr val="55676D"/>
              </a:solidFill>
              <a:latin typeface="DIN Next"/>
            </a:endParaRP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55676D"/>
                </a:solidFill>
                <a:latin typeface="DIN Next"/>
              </a:rPr>
              <a:t>Anwar Ibrahim Rajeh Saleh Al-Montaser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55676D"/>
                </a:solidFill>
                <a:latin typeface="DIN Next"/>
              </a:rPr>
              <a:t>Bashar Munawwar Hassan Saleh Wajih Al-Din</a:t>
            </a:r>
          </a:p>
          <a:p>
            <a:pPr marL="457200" indent="-4572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3200" dirty="0">
                <a:solidFill>
                  <a:srgbClr val="55676D"/>
                </a:solidFill>
                <a:latin typeface="DIN Next"/>
              </a:rPr>
              <a:t>Anwar Ibrahim Rajeh Saleh Al-Montaser</a:t>
            </a:r>
            <a:endParaRPr lang="ar-YE" sz="3200" dirty="0">
              <a:solidFill>
                <a:srgbClr val="55676D"/>
              </a:solidFill>
              <a:latin typeface="DIN Next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l="-24093" r="-12737" b="-55683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615331"/>
            <a:ext cx="4114800" cy="826739"/>
          </a:xfrm>
          <a:custGeom>
            <a:avLst/>
            <a:gdLst/>
            <a:ahLst/>
            <a:cxnLst/>
            <a:rect l="l" t="t" r="r" b="b"/>
            <a:pathLst>
              <a:path w="4114800" h="826739">
                <a:moveTo>
                  <a:pt x="0" y="0"/>
                </a:moveTo>
                <a:lnTo>
                  <a:pt x="4114800" y="0"/>
                </a:lnTo>
                <a:lnTo>
                  <a:pt x="4114800" y="826738"/>
                </a:lnTo>
                <a:lnTo>
                  <a:pt x="0" y="8267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397714"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-287477" y="8340853"/>
            <a:ext cx="19375671" cy="2421959"/>
          </a:xfrm>
          <a:custGeom>
            <a:avLst/>
            <a:gdLst/>
            <a:ahLst/>
            <a:cxnLst/>
            <a:rect l="l" t="t" r="r" b="b"/>
            <a:pathLst>
              <a:path w="19375671" h="2421959">
                <a:moveTo>
                  <a:pt x="19375671" y="0"/>
                </a:moveTo>
                <a:lnTo>
                  <a:pt x="0" y="0"/>
                </a:lnTo>
                <a:lnTo>
                  <a:pt x="0" y="2421959"/>
                </a:lnTo>
                <a:lnTo>
                  <a:pt x="19375671" y="2421959"/>
                </a:lnTo>
                <a:lnTo>
                  <a:pt x="19375671" y="0"/>
                </a:lnTo>
                <a:close/>
              </a:path>
            </a:pathLst>
          </a:custGeom>
          <a:blipFill>
            <a:blip r:embed="rId5">
              <a:alphaModFix amt="77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5" name="TextBox 5"/>
          <p:cNvSpPr txBox="1"/>
          <p:nvPr/>
        </p:nvSpPr>
        <p:spPr>
          <a:xfrm>
            <a:off x="1676400" y="3901735"/>
            <a:ext cx="10437088" cy="493724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marL="647700" lvl="1" indent="-323850">
              <a:lnSpc>
                <a:spcPts val="3540"/>
              </a:lnSpc>
              <a:buFont typeface="Arial"/>
              <a:buChar char="•"/>
            </a:pPr>
            <a:r>
              <a:rPr lang="en-US" sz="3000" dirty="0">
                <a:solidFill>
                  <a:srgbClr val="55676D"/>
                </a:solidFill>
                <a:latin typeface="DIN Next"/>
              </a:rPr>
              <a:t>The Smart Digital Microscopic System is designed to integrate traditional optical microscopy with modern digital imaging and artificial intelligence technologies.</a:t>
            </a:r>
          </a:p>
          <a:p>
            <a:pPr algn="l">
              <a:lnSpc>
                <a:spcPts val="3540"/>
              </a:lnSpc>
            </a:pPr>
            <a:endParaRPr lang="en-US" sz="3000" dirty="0">
              <a:solidFill>
                <a:srgbClr val="55676D"/>
              </a:solidFill>
              <a:latin typeface="DIN Next"/>
              <a:ea typeface="DIN Next"/>
              <a:cs typeface="DIN Next"/>
              <a:sym typeface="DIN Next"/>
            </a:endParaRPr>
          </a:p>
          <a:p>
            <a:pPr marL="647700" lvl="1" indent="-323850">
              <a:lnSpc>
                <a:spcPts val="3540"/>
              </a:lnSpc>
              <a:buFont typeface="Arial"/>
              <a:buChar char="•"/>
            </a:pPr>
            <a:r>
              <a:rPr lang="en-US" sz="3000" dirty="0">
                <a:solidFill>
                  <a:srgbClr val="55676D"/>
                </a:solidFill>
                <a:latin typeface="DIN Next"/>
              </a:rPr>
              <a:t>The system enables automated image acquisition , enhancement , measurement , and intelligent analysis of microscopic samples.</a:t>
            </a:r>
          </a:p>
          <a:p>
            <a:pPr marL="647700" lvl="1" indent="-323850">
              <a:lnSpc>
                <a:spcPts val="3540"/>
              </a:lnSpc>
              <a:buFont typeface="Arial"/>
              <a:buChar char="•"/>
            </a:pPr>
            <a:endParaRPr lang="en-US" sz="3000" dirty="0">
              <a:solidFill>
                <a:srgbClr val="55676D"/>
              </a:solidFill>
              <a:latin typeface="DIN Next"/>
            </a:endParaRPr>
          </a:p>
          <a:p>
            <a:pPr marL="647700" lvl="1" indent="-323850">
              <a:lnSpc>
                <a:spcPts val="3540"/>
              </a:lnSpc>
              <a:buFont typeface="Arial"/>
              <a:buChar char="•"/>
            </a:pPr>
            <a:r>
              <a:rPr lang="en-US" sz="3000" dirty="0">
                <a:solidFill>
                  <a:srgbClr val="55676D"/>
                </a:solidFill>
                <a:latin typeface="DIN Next"/>
              </a:rPr>
              <a:t>It aims to improve accuracy, efficiency, and reliability in laboratory and medical environments.</a:t>
            </a:r>
          </a:p>
          <a:p>
            <a:pPr marL="647700" lvl="1" indent="-323850">
              <a:lnSpc>
                <a:spcPts val="3540"/>
              </a:lnSpc>
              <a:buFont typeface="Arial"/>
              <a:buChar char="•"/>
            </a:pPr>
            <a:endParaRPr lang="en-US" sz="3000" dirty="0">
              <a:solidFill>
                <a:srgbClr val="55676D"/>
              </a:solidFill>
              <a:latin typeface="DIN Next"/>
            </a:endParaRPr>
          </a:p>
        </p:txBody>
      </p:sp>
      <p:sp>
        <p:nvSpPr>
          <p:cNvPr id="6" name="TextBox 6"/>
          <p:cNvSpPr txBox="1"/>
          <p:nvPr/>
        </p:nvSpPr>
        <p:spPr>
          <a:xfrm>
            <a:off x="2090867" y="1994040"/>
            <a:ext cx="8146027" cy="1363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9440"/>
              </a:lnSpc>
            </a:pPr>
            <a:r>
              <a:rPr lang="en-US" sz="8000" b="1">
                <a:solidFill>
                  <a:srgbClr val="3D5871"/>
                </a:solidFill>
                <a:latin typeface="DIN Next Bold"/>
                <a:ea typeface="DIN Next Bold"/>
                <a:cs typeface="DIN Next Bold"/>
                <a:sym typeface="DIN Next Bold"/>
              </a:rPr>
              <a:t>Introduction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-72698" y="5715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0473" r="-31580" b="-19235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3508779" y="615331"/>
            <a:ext cx="4114800" cy="826739"/>
          </a:xfrm>
          <a:custGeom>
            <a:avLst/>
            <a:gdLst/>
            <a:ahLst/>
            <a:cxnLst/>
            <a:rect l="l" t="t" r="r" b="b"/>
            <a:pathLst>
              <a:path w="4114800" h="826739">
                <a:moveTo>
                  <a:pt x="4114800" y="0"/>
                </a:moveTo>
                <a:lnTo>
                  <a:pt x="0" y="0"/>
                </a:lnTo>
                <a:lnTo>
                  <a:pt x="0" y="826738"/>
                </a:lnTo>
                <a:lnTo>
                  <a:pt x="4114800" y="826738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397714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72698" y="8069580"/>
            <a:ext cx="12382805" cy="2863000"/>
            <a:chOff x="0" y="0"/>
            <a:chExt cx="16510407" cy="3817333"/>
          </a:xfrm>
        </p:grpSpPr>
        <p:sp>
          <p:nvSpPr>
            <p:cNvPr id="5" name="Freeform 5"/>
            <p:cNvSpPr/>
            <p:nvPr/>
          </p:nvSpPr>
          <p:spPr>
            <a:xfrm flipH="1">
              <a:off x="0" y="0"/>
              <a:ext cx="9753600" cy="3169920"/>
            </a:xfrm>
            <a:custGeom>
              <a:avLst/>
              <a:gdLst/>
              <a:ahLst/>
              <a:cxnLst/>
              <a:rect l="l" t="t" r="r" b="b"/>
              <a:pathLst>
                <a:path w="9753600" h="3169920">
                  <a:moveTo>
                    <a:pt x="9753600" y="0"/>
                  </a:moveTo>
                  <a:lnTo>
                    <a:pt x="0" y="0"/>
                  </a:lnTo>
                  <a:lnTo>
                    <a:pt x="0" y="3169920"/>
                  </a:lnTo>
                  <a:lnTo>
                    <a:pt x="9753600" y="3169920"/>
                  </a:lnTo>
                  <a:lnTo>
                    <a:pt x="9753600" y="0"/>
                  </a:lnTo>
                  <a:close/>
                </a:path>
              </a:pathLst>
            </a:custGeom>
            <a:blipFill>
              <a:blip r:embed="rId5">
                <a:alphaModFix amt="77000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grpSp>
          <p:nvGrpSpPr>
            <p:cNvPr id="6" name="Group 6"/>
            <p:cNvGrpSpPr/>
            <p:nvPr/>
          </p:nvGrpSpPr>
          <p:grpSpPr>
            <a:xfrm>
              <a:off x="3909747" y="2687938"/>
              <a:ext cx="12600659" cy="1129395"/>
              <a:chOff x="0" y="0"/>
              <a:chExt cx="4507680" cy="404023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507680" cy="404023"/>
              </a:xfrm>
              <a:custGeom>
                <a:avLst/>
                <a:gdLst/>
                <a:ahLst/>
                <a:cxnLst/>
                <a:rect l="l" t="t" r="r" b="b"/>
                <a:pathLst>
                  <a:path w="4507680" h="404023">
                    <a:moveTo>
                      <a:pt x="203200" y="0"/>
                    </a:moveTo>
                    <a:lnTo>
                      <a:pt x="4507680" y="0"/>
                    </a:lnTo>
                    <a:lnTo>
                      <a:pt x="4304480" y="404023"/>
                    </a:lnTo>
                    <a:lnTo>
                      <a:pt x="0" y="40402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3D5871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01600" y="-38100"/>
                <a:ext cx="4304480" cy="44212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9" name="TextBox 9"/>
          <p:cNvSpPr txBox="1"/>
          <p:nvPr/>
        </p:nvSpPr>
        <p:spPr>
          <a:xfrm>
            <a:off x="4779222" y="425971"/>
            <a:ext cx="11118197" cy="1205458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40"/>
              </a:lnSpc>
            </a:pPr>
            <a:r>
              <a:rPr lang="en-US" sz="8000" b="1" dirty="0">
                <a:solidFill>
                  <a:srgbClr val="3D5871"/>
                </a:solidFill>
                <a:latin typeface="DIN Next Bold"/>
              </a:rPr>
              <a:t>Problem Statement</a:t>
            </a:r>
          </a:p>
        </p:txBody>
      </p:sp>
      <p:sp>
        <p:nvSpPr>
          <p:cNvPr id="13" name="Shape 7">
            <a:extLst>
              <a:ext uri="{FF2B5EF4-FFF2-40B4-BE49-F238E27FC236}">
                <a16:creationId xmlns:a16="http://schemas.microsoft.com/office/drawing/2014/main" id="{AB0B9D3E-49B7-6AD7-2024-D67CDC8FCC41}"/>
              </a:ext>
            </a:extLst>
          </p:cNvPr>
          <p:cNvSpPr/>
          <p:nvPr/>
        </p:nvSpPr>
        <p:spPr>
          <a:xfrm>
            <a:off x="3676650" y="1579512"/>
            <a:ext cx="626532" cy="592188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/>
        </p:spPr>
      </p:sp>
      <p:sp>
        <p:nvSpPr>
          <p:cNvPr id="14" name="Shape 8">
            <a:extLst>
              <a:ext uri="{FF2B5EF4-FFF2-40B4-BE49-F238E27FC236}">
                <a16:creationId xmlns:a16="http://schemas.microsoft.com/office/drawing/2014/main" id="{8A519638-A0EC-405A-CB15-41E1390461AE}"/>
              </a:ext>
            </a:extLst>
          </p:cNvPr>
          <p:cNvSpPr/>
          <p:nvPr/>
        </p:nvSpPr>
        <p:spPr>
          <a:xfrm>
            <a:off x="3762375" y="1693546"/>
            <a:ext cx="504825" cy="373380"/>
          </a:xfrm>
          <a:custGeom>
            <a:avLst/>
            <a:gdLst/>
            <a:ahLst/>
            <a:cxnLst/>
            <a:rect l="l" t="t" r="r" b="b"/>
            <a:pathLst>
              <a:path w="214313" h="171450">
                <a:moveTo>
                  <a:pt x="45675" y="42863"/>
                </a:moveTo>
                <a:cubicBezTo>
                  <a:pt x="45675" y="28506"/>
                  <a:pt x="53334" y="15241"/>
                  <a:pt x="65767" y="8062"/>
                </a:cubicBezTo>
                <a:cubicBezTo>
                  <a:pt x="78200" y="884"/>
                  <a:pt x="93518" y="884"/>
                  <a:pt x="105951" y="8062"/>
                </a:cubicBezTo>
                <a:cubicBezTo>
                  <a:pt x="118384" y="15241"/>
                  <a:pt x="126043" y="28506"/>
                  <a:pt x="126043" y="42863"/>
                </a:cubicBezTo>
                <a:cubicBezTo>
                  <a:pt x="126043" y="65040"/>
                  <a:pt x="108037" y="83046"/>
                  <a:pt x="85859" y="83046"/>
                </a:cubicBezTo>
                <a:cubicBezTo>
                  <a:pt x="63681" y="83046"/>
                  <a:pt x="45675" y="65040"/>
                  <a:pt x="45675" y="42863"/>
                </a:cubicBezTo>
                <a:close/>
                <a:moveTo>
                  <a:pt x="16207" y="161505"/>
                </a:moveTo>
                <a:cubicBezTo>
                  <a:pt x="16207" y="128521"/>
                  <a:pt x="42929" y="101798"/>
                  <a:pt x="75914" y="101798"/>
                </a:cubicBezTo>
                <a:lnTo>
                  <a:pt x="95804" y="101798"/>
                </a:lnTo>
                <a:cubicBezTo>
                  <a:pt x="128788" y="101798"/>
                  <a:pt x="155511" y="128521"/>
                  <a:pt x="155511" y="161505"/>
                </a:cubicBezTo>
                <a:cubicBezTo>
                  <a:pt x="155511" y="166996"/>
                  <a:pt x="151057" y="171450"/>
                  <a:pt x="145565" y="171450"/>
                </a:cubicBezTo>
                <a:lnTo>
                  <a:pt x="26153" y="171450"/>
                </a:lnTo>
                <a:cubicBezTo>
                  <a:pt x="20661" y="171450"/>
                  <a:pt x="16207" y="166996"/>
                  <a:pt x="16207" y="161505"/>
                </a:cubicBezTo>
                <a:close/>
                <a:moveTo>
                  <a:pt x="205037" y="41557"/>
                </a:moveTo>
                <a:cubicBezTo>
                  <a:pt x="208185" y="44704"/>
                  <a:pt x="208185" y="49794"/>
                  <a:pt x="205037" y="52908"/>
                </a:cubicBezTo>
                <a:lnTo>
                  <a:pt x="193685" y="64260"/>
                </a:lnTo>
                <a:lnTo>
                  <a:pt x="205037" y="75612"/>
                </a:lnTo>
                <a:cubicBezTo>
                  <a:pt x="208185" y="78760"/>
                  <a:pt x="208185" y="83850"/>
                  <a:pt x="205037" y="86964"/>
                </a:cubicBezTo>
                <a:cubicBezTo>
                  <a:pt x="201889" y="90078"/>
                  <a:pt x="196799" y="90112"/>
                  <a:pt x="193685" y="86964"/>
                </a:cubicBezTo>
                <a:lnTo>
                  <a:pt x="182333" y="75612"/>
                </a:lnTo>
                <a:lnTo>
                  <a:pt x="170981" y="86964"/>
                </a:lnTo>
                <a:cubicBezTo>
                  <a:pt x="167833" y="90112"/>
                  <a:pt x="162744" y="90112"/>
                  <a:pt x="159629" y="86964"/>
                </a:cubicBezTo>
                <a:cubicBezTo>
                  <a:pt x="156515" y="83816"/>
                  <a:pt x="156482" y="78726"/>
                  <a:pt x="159629" y="75612"/>
                </a:cubicBezTo>
                <a:lnTo>
                  <a:pt x="170981" y="64260"/>
                </a:lnTo>
                <a:lnTo>
                  <a:pt x="159629" y="52908"/>
                </a:lnTo>
                <a:cubicBezTo>
                  <a:pt x="156482" y="49761"/>
                  <a:pt x="156482" y="44671"/>
                  <a:pt x="159629" y="41557"/>
                </a:cubicBezTo>
                <a:cubicBezTo>
                  <a:pt x="162777" y="38442"/>
                  <a:pt x="167867" y="38409"/>
                  <a:pt x="170981" y="41557"/>
                </a:cubicBezTo>
                <a:lnTo>
                  <a:pt x="182333" y="52908"/>
                </a:lnTo>
                <a:lnTo>
                  <a:pt x="193685" y="41557"/>
                </a:lnTo>
                <a:cubicBezTo>
                  <a:pt x="196833" y="38409"/>
                  <a:pt x="201923" y="38409"/>
                  <a:pt x="205037" y="41557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15" name="Text 9">
            <a:extLst>
              <a:ext uri="{FF2B5EF4-FFF2-40B4-BE49-F238E27FC236}">
                <a16:creationId xmlns:a16="http://schemas.microsoft.com/office/drawing/2014/main" id="{1A0C8960-1E89-39C6-73D7-073BB8BA26BF}"/>
              </a:ext>
            </a:extLst>
          </p:cNvPr>
          <p:cNvSpPr/>
          <p:nvPr/>
        </p:nvSpPr>
        <p:spPr>
          <a:xfrm>
            <a:off x="4488907" y="1690372"/>
            <a:ext cx="3070552" cy="3810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dirty="0">
                <a:solidFill>
                  <a:srgbClr val="55676D"/>
                </a:solidFill>
                <a:latin typeface="DIN Next"/>
              </a:rPr>
              <a:t>Human</a:t>
            </a:r>
            <a:r>
              <a:rPr lang="en-US" sz="16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3000" dirty="0">
                <a:solidFill>
                  <a:srgbClr val="55676D"/>
                </a:solidFill>
                <a:latin typeface="DIN Next"/>
              </a:rPr>
              <a:t>Error</a:t>
            </a:r>
          </a:p>
        </p:txBody>
      </p:sp>
      <p:sp>
        <p:nvSpPr>
          <p:cNvPr id="16" name="Text 10">
            <a:extLst>
              <a:ext uri="{FF2B5EF4-FFF2-40B4-BE49-F238E27FC236}">
                <a16:creationId xmlns:a16="http://schemas.microsoft.com/office/drawing/2014/main" id="{32CD52CD-57B4-3D2F-8421-8B5F1D7EBCFE}"/>
              </a:ext>
            </a:extLst>
          </p:cNvPr>
          <p:cNvSpPr/>
          <p:nvPr/>
        </p:nvSpPr>
        <p:spPr>
          <a:xfrm>
            <a:off x="3676650" y="2286000"/>
            <a:ext cx="11639550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just">
              <a:lnSpc>
                <a:spcPts val="3540"/>
              </a:lnSpc>
            </a:pPr>
            <a:r>
              <a:rPr lang="en-US" sz="3000" dirty="0">
                <a:solidFill>
                  <a:srgbClr val="55676D"/>
                </a:solidFill>
                <a:latin typeface="DIN Next"/>
              </a:rPr>
              <a:t>Subjective interpretation varies between observers, leading to inconsistent diagnostic outcomes and potential misclassification of critical samples.</a:t>
            </a:r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48D22289-B086-AD36-0668-AD9AD5534FE4}"/>
              </a:ext>
            </a:extLst>
          </p:cNvPr>
          <p:cNvSpPr/>
          <p:nvPr/>
        </p:nvSpPr>
        <p:spPr>
          <a:xfrm>
            <a:off x="3505200" y="3848100"/>
            <a:ext cx="685800" cy="57912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5D6D7E">
              <a:alpha val="10196"/>
            </a:srgbClr>
          </a:solidFill>
          <a:ln/>
        </p:spPr>
      </p:sp>
      <p:sp>
        <p:nvSpPr>
          <p:cNvPr id="18" name="Shape 14">
            <a:extLst>
              <a:ext uri="{FF2B5EF4-FFF2-40B4-BE49-F238E27FC236}">
                <a16:creationId xmlns:a16="http://schemas.microsoft.com/office/drawing/2014/main" id="{A5A15DFF-D124-8457-7E11-FED1F1DCFEEA}"/>
              </a:ext>
            </a:extLst>
          </p:cNvPr>
          <p:cNvSpPr/>
          <p:nvPr/>
        </p:nvSpPr>
        <p:spPr>
          <a:xfrm>
            <a:off x="3601640" y="4011931"/>
            <a:ext cx="513159" cy="310514"/>
          </a:xfrm>
          <a:custGeom>
            <a:avLst/>
            <a:gdLst/>
            <a:ahLst/>
            <a:cxnLst/>
            <a:rect l="l" t="t" r="r" b="b"/>
            <a:pathLst>
              <a:path w="192881" h="171450">
                <a:moveTo>
                  <a:pt x="70020" y="172856"/>
                </a:moveTo>
                <a:cubicBezTo>
                  <a:pt x="63758" y="179118"/>
                  <a:pt x="53578" y="179118"/>
                  <a:pt x="47283" y="172856"/>
                </a:cubicBezTo>
                <a:lnTo>
                  <a:pt x="9410" y="134983"/>
                </a:lnTo>
                <a:cubicBezTo>
                  <a:pt x="3148" y="128721"/>
                  <a:pt x="3148" y="118542"/>
                  <a:pt x="9410" y="112246"/>
                </a:cubicBezTo>
                <a:lnTo>
                  <a:pt x="15102" y="106553"/>
                </a:lnTo>
                <a:lnTo>
                  <a:pt x="39715" y="131166"/>
                </a:lnTo>
                <a:cubicBezTo>
                  <a:pt x="42863" y="134314"/>
                  <a:pt x="47952" y="134314"/>
                  <a:pt x="51067" y="131166"/>
                </a:cubicBezTo>
                <a:cubicBezTo>
                  <a:pt x="54181" y="128018"/>
                  <a:pt x="54214" y="122928"/>
                  <a:pt x="51067" y="119814"/>
                </a:cubicBezTo>
                <a:lnTo>
                  <a:pt x="26454" y="95202"/>
                </a:lnTo>
                <a:lnTo>
                  <a:pt x="37806" y="83850"/>
                </a:lnTo>
                <a:lnTo>
                  <a:pt x="54851" y="100894"/>
                </a:lnTo>
                <a:cubicBezTo>
                  <a:pt x="57998" y="104042"/>
                  <a:pt x="63088" y="104042"/>
                  <a:pt x="66202" y="100894"/>
                </a:cubicBezTo>
                <a:cubicBezTo>
                  <a:pt x="69317" y="97747"/>
                  <a:pt x="69350" y="92657"/>
                  <a:pt x="66202" y="89542"/>
                </a:cubicBezTo>
                <a:lnTo>
                  <a:pt x="49158" y="72498"/>
                </a:lnTo>
                <a:lnTo>
                  <a:pt x="60510" y="61146"/>
                </a:lnTo>
                <a:lnTo>
                  <a:pt x="85122" y="85758"/>
                </a:lnTo>
                <a:cubicBezTo>
                  <a:pt x="88270" y="88906"/>
                  <a:pt x="93360" y="88906"/>
                  <a:pt x="96474" y="85758"/>
                </a:cubicBezTo>
                <a:cubicBezTo>
                  <a:pt x="99588" y="82611"/>
                  <a:pt x="99622" y="77521"/>
                  <a:pt x="96474" y="74407"/>
                </a:cubicBezTo>
                <a:lnTo>
                  <a:pt x="71862" y="49794"/>
                </a:lnTo>
                <a:lnTo>
                  <a:pt x="83214" y="38442"/>
                </a:lnTo>
                <a:lnTo>
                  <a:pt x="100258" y="55487"/>
                </a:lnTo>
                <a:cubicBezTo>
                  <a:pt x="103406" y="58635"/>
                  <a:pt x="108496" y="58635"/>
                  <a:pt x="111610" y="55487"/>
                </a:cubicBezTo>
                <a:cubicBezTo>
                  <a:pt x="114724" y="52339"/>
                  <a:pt x="114758" y="47249"/>
                  <a:pt x="111610" y="44135"/>
                </a:cubicBezTo>
                <a:lnTo>
                  <a:pt x="94565" y="27090"/>
                </a:lnTo>
                <a:lnTo>
                  <a:pt x="105917" y="15739"/>
                </a:lnTo>
                <a:lnTo>
                  <a:pt x="130530" y="40351"/>
                </a:lnTo>
                <a:cubicBezTo>
                  <a:pt x="133677" y="43499"/>
                  <a:pt x="138767" y="43499"/>
                  <a:pt x="141882" y="40351"/>
                </a:cubicBezTo>
                <a:cubicBezTo>
                  <a:pt x="144996" y="37203"/>
                  <a:pt x="145029" y="32113"/>
                  <a:pt x="141882" y="28999"/>
                </a:cubicBezTo>
                <a:lnTo>
                  <a:pt x="117269" y="4387"/>
                </a:lnTo>
                <a:lnTo>
                  <a:pt x="122962" y="-1306"/>
                </a:lnTo>
                <a:cubicBezTo>
                  <a:pt x="129224" y="-7568"/>
                  <a:pt x="139404" y="-7568"/>
                  <a:pt x="145699" y="-1306"/>
                </a:cubicBezTo>
                <a:lnTo>
                  <a:pt x="183673" y="36467"/>
                </a:lnTo>
                <a:cubicBezTo>
                  <a:pt x="189934" y="42729"/>
                  <a:pt x="189934" y="52908"/>
                  <a:pt x="183673" y="59204"/>
                </a:cubicBezTo>
                <a:lnTo>
                  <a:pt x="70020" y="172856"/>
                </a:lnTo>
                <a:close/>
              </a:path>
            </a:pathLst>
          </a:custGeom>
          <a:solidFill>
            <a:srgbClr val="5D6D7E"/>
          </a:solidFill>
          <a:ln/>
        </p:spPr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0CA3FDBE-D2BF-8AE9-2942-4A881F3DC9B7}"/>
              </a:ext>
            </a:extLst>
          </p:cNvPr>
          <p:cNvSpPr/>
          <p:nvPr/>
        </p:nvSpPr>
        <p:spPr>
          <a:xfrm>
            <a:off x="4362450" y="3936326"/>
            <a:ext cx="4076700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dirty="0">
                <a:solidFill>
                  <a:srgbClr val="55676D"/>
                </a:solidFill>
                <a:latin typeface="DIN Next"/>
              </a:rPr>
              <a:t>Inconsistent</a:t>
            </a:r>
            <a:r>
              <a:rPr lang="en-US" sz="16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3000" dirty="0">
                <a:solidFill>
                  <a:srgbClr val="55676D"/>
                </a:solidFill>
                <a:latin typeface="DIN Next"/>
              </a:rPr>
              <a:t>Results</a:t>
            </a:r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E34FFF2D-039F-B67B-07A6-5AB4422A378D}"/>
              </a:ext>
            </a:extLst>
          </p:cNvPr>
          <p:cNvSpPr/>
          <p:nvPr/>
        </p:nvSpPr>
        <p:spPr>
          <a:xfrm>
            <a:off x="3505200" y="4381500"/>
            <a:ext cx="12192000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3000" dirty="0">
                <a:solidFill>
                  <a:srgbClr val="55676D"/>
                </a:solidFill>
                <a:latin typeface="DIN Next"/>
              </a:rPr>
              <a:t>Measurement accuracy depends on operator skill and experience, resulting in variable precision across different users and sessions.</a:t>
            </a:r>
          </a:p>
        </p:txBody>
      </p:sp>
      <p:sp>
        <p:nvSpPr>
          <p:cNvPr id="21" name="Shape 25">
            <a:extLst>
              <a:ext uri="{FF2B5EF4-FFF2-40B4-BE49-F238E27FC236}">
                <a16:creationId xmlns:a16="http://schemas.microsoft.com/office/drawing/2014/main" id="{5FB9FF66-2FB2-86D2-4994-7AEFDC17E1B4}"/>
              </a:ext>
            </a:extLst>
          </p:cNvPr>
          <p:cNvSpPr/>
          <p:nvPr/>
        </p:nvSpPr>
        <p:spPr>
          <a:xfrm>
            <a:off x="3124200" y="6854244"/>
            <a:ext cx="668260" cy="727656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2C3E50">
              <a:alpha val="10196"/>
            </a:srgbClr>
          </a:solidFill>
          <a:ln/>
        </p:spPr>
      </p:sp>
      <p:sp>
        <p:nvSpPr>
          <p:cNvPr id="22" name="Shape 26">
            <a:extLst>
              <a:ext uri="{FF2B5EF4-FFF2-40B4-BE49-F238E27FC236}">
                <a16:creationId xmlns:a16="http://schemas.microsoft.com/office/drawing/2014/main" id="{AE317795-E028-795B-E7CC-E6221140F4D9}"/>
              </a:ext>
            </a:extLst>
          </p:cNvPr>
          <p:cNvSpPr/>
          <p:nvPr/>
        </p:nvSpPr>
        <p:spPr>
          <a:xfrm>
            <a:off x="3276134" y="7003630"/>
            <a:ext cx="359568" cy="420790"/>
          </a:xfrm>
          <a:custGeom>
            <a:avLst/>
            <a:gdLst/>
            <a:ahLst/>
            <a:cxnLst/>
            <a:rect l="l" t="t" r="r" b="b"/>
            <a:pathLst>
              <a:path w="150019" h="171450">
                <a:moveTo>
                  <a:pt x="150019" y="68915"/>
                </a:moveTo>
                <a:cubicBezTo>
                  <a:pt x="145063" y="72197"/>
                  <a:pt x="139370" y="74842"/>
                  <a:pt x="133443" y="76952"/>
                </a:cubicBezTo>
                <a:cubicBezTo>
                  <a:pt x="117704" y="82577"/>
                  <a:pt x="97043" y="85725"/>
                  <a:pt x="75009" y="85725"/>
                </a:cubicBezTo>
                <a:cubicBezTo>
                  <a:pt x="52975" y="85725"/>
                  <a:pt x="32281" y="82544"/>
                  <a:pt x="16576" y="76952"/>
                </a:cubicBezTo>
                <a:cubicBezTo>
                  <a:pt x="10682" y="74842"/>
                  <a:pt x="4956" y="72197"/>
                  <a:pt x="0" y="68915"/>
                </a:cubicBezTo>
                <a:lnTo>
                  <a:pt x="0" y="96441"/>
                </a:lnTo>
                <a:cubicBezTo>
                  <a:pt x="0" y="111242"/>
                  <a:pt x="33587" y="123230"/>
                  <a:pt x="75009" y="123230"/>
                </a:cubicBezTo>
                <a:cubicBezTo>
                  <a:pt x="116432" y="123230"/>
                  <a:pt x="150019" y="111242"/>
                  <a:pt x="150019" y="96441"/>
                </a:cubicBezTo>
                <a:lnTo>
                  <a:pt x="150019" y="68915"/>
                </a:lnTo>
                <a:close/>
                <a:moveTo>
                  <a:pt x="150019" y="42863"/>
                </a:moveTo>
                <a:lnTo>
                  <a:pt x="150019" y="26789"/>
                </a:lnTo>
                <a:cubicBezTo>
                  <a:pt x="150019" y="11988"/>
                  <a:pt x="116432" y="0"/>
                  <a:pt x="75009" y="0"/>
                </a:cubicBezTo>
                <a:cubicBezTo>
                  <a:pt x="33587" y="0"/>
                  <a:pt x="0" y="11988"/>
                  <a:pt x="0" y="26789"/>
                </a:cubicBezTo>
                <a:lnTo>
                  <a:pt x="0" y="42863"/>
                </a:lnTo>
                <a:cubicBezTo>
                  <a:pt x="0" y="57663"/>
                  <a:pt x="33587" y="69652"/>
                  <a:pt x="75009" y="69652"/>
                </a:cubicBezTo>
                <a:cubicBezTo>
                  <a:pt x="116432" y="69652"/>
                  <a:pt x="150019" y="57663"/>
                  <a:pt x="150019" y="42863"/>
                </a:cubicBezTo>
                <a:close/>
                <a:moveTo>
                  <a:pt x="133443" y="130530"/>
                </a:moveTo>
                <a:cubicBezTo>
                  <a:pt x="117738" y="136122"/>
                  <a:pt x="97077" y="139303"/>
                  <a:pt x="75009" y="139303"/>
                </a:cubicBezTo>
                <a:cubicBezTo>
                  <a:pt x="52942" y="139303"/>
                  <a:pt x="32281" y="136122"/>
                  <a:pt x="16576" y="130530"/>
                </a:cubicBezTo>
                <a:cubicBezTo>
                  <a:pt x="10682" y="128420"/>
                  <a:pt x="4956" y="125775"/>
                  <a:pt x="0" y="122493"/>
                </a:cubicBezTo>
                <a:lnTo>
                  <a:pt x="0" y="144661"/>
                </a:lnTo>
                <a:cubicBezTo>
                  <a:pt x="0" y="159462"/>
                  <a:pt x="33587" y="171450"/>
                  <a:pt x="75009" y="171450"/>
                </a:cubicBezTo>
                <a:cubicBezTo>
                  <a:pt x="116432" y="171450"/>
                  <a:pt x="150019" y="159462"/>
                  <a:pt x="150019" y="144661"/>
                </a:cubicBezTo>
                <a:lnTo>
                  <a:pt x="150019" y="122493"/>
                </a:lnTo>
                <a:cubicBezTo>
                  <a:pt x="145063" y="125775"/>
                  <a:pt x="139370" y="128420"/>
                  <a:pt x="133443" y="130530"/>
                </a:cubicBezTo>
                <a:close/>
              </a:path>
            </a:pathLst>
          </a:custGeom>
          <a:solidFill>
            <a:srgbClr val="2C3E50"/>
          </a:solidFill>
          <a:ln/>
        </p:spPr>
      </p:sp>
      <p:sp>
        <p:nvSpPr>
          <p:cNvPr id="23" name="Text 27">
            <a:extLst>
              <a:ext uri="{FF2B5EF4-FFF2-40B4-BE49-F238E27FC236}">
                <a16:creationId xmlns:a16="http://schemas.microsoft.com/office/drawing/2014/main" id="{2CDC3270-F8DB-074A-7686-D180E68E8504}"/>
              </a:ext>
            </a:extLst>
          </p:cNvPr>
          <p:cNvSpPr/>
          <p:nvPr/>
        </p:nvSpPr>
        <p:spPr>
          <a:xfrm>
            <a:off x="3984836" y="7149680"/>
            <a:ext cx="3009901" cy="280035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3000" dirty="0">
                <a:solidFill>
                  <a:srgbClr val="55676D"/>
                </a:solidFill>
                <a:latin typeface="DIN Next"/>
              </a:rPr>
              <a:t>Data</a:t>
            </a:r>
            <a:r>
              <a:rPr lang="en-US" sz="16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 </a:t>
            </a:r>
            <a:r>
              <a:rPr lang="en-US" sz="3000" dirty="0">
                <a:solidFill>
                  <a:srgbClr val="55676D"/>
                </a:solidFill>
                <a:latin typeface="DIN Next"/>
              </a:rPr>
              <a:t>Management</a:t>
            </a:r>
          </a:p>
        </p:txBody>
      </p:sp>
      <p:sp>
        <p:nvSpPr>
          <p:cNvPr id="24" name="Text 28">
            <a:extLst>
              <a:ext uri="{FF2B5EF4-FFF2-40B4-BE49-F238E27FC236}">
                <a16:creationId xmlns:a16="http://schemas.microsoft.com/office/drawing/2014/main" id="{5CB73FB3-EDC4-7FA0-3EF9-EA38D922838F}"/>
              </a:ext>
            </a:extLst>
          </p:cNvPr>
          <p:cNvSpPr/>
          <p:nvPr/>
        </p:nvSpPr>
        <p:spPr>
          <a:xfrm>
            <a:off x="3124200" y="7696200"/>
            <a:ext cx="8153400" cy="1790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3000" dirty="0">
                <a:solidFill>
                  <a:srgbClr val="55676D"/>
                </a:solidFill>
                <a:latin typeface="DIN Next"/>
              </a:rPr>
              <a:t>Difficulty in storing, retrieving, and comparing historical data hinders longitudinal studies and quality control processes.</a:t>
            </a:r>
          </a:p>
        </p:txBody>
      </p:sp>
      <p:sp>
        <p:nvSpPr>
          <p:cNvPr id="25" name="Shape 19">
            <a:extLst>
              <a:ext uri="{FF2B5EF4-FFF2-40B4-BE49-F238E27FC236}">
                <a16:creationId xmlns:a16="http://schemas.microsoft.com/office/drawing/2014/main" id="{67965887-527A-6FF9-EE40-BB4F841362BC}"/>
              </a:ext>
            </a:extLst>
          </p:cNvPr>
          <p:cNvSpPr/>
          <p:nvPr/>
        </p:nvSpPr>
        <p:spPr>
          <a:xfrm>
            <a:off x="8248650" y="7200900"/>
            <a:ext cx="381000" cy="381000"/>
          </a:xfrm>
          <a:custGeom>
            <a:avLst/>
            <a:gdLst/>
            <a:ahLst/>
            <a:cxnLst/>
            <a:rect l="l" t="t" r="r" b="b"/>
            <a:pathLst>
              <a:path w="381000" h="381000">
                <a:moveTo>
                  <a:pt x="76200" y="0"/>
                </a:moveTo>
                <a:lnTo>
                  <a:pt x="304800" y="0"/>
                </a:lnTo>
                <a:cubicBezTo>
                  <a:pt x="346856" y="0"/>
                  <a:pt x="381000" y="34144"/>
                  <a:pt x="381000" y="76200"/>
                </a:cubicBezTo>
                <a:lnTo>
                  <a:pt x="381000" y="304800"/>
                </a:lnTo>
                <a:cubicBezTo>
                  <a:pt x="381000" y="346856"/>
                  <a:pt x="346856" y="381000"/>
                  <a:pt x="304800" y="381000"/>
                </a:cubicBezTo>
                <a:lnTo>
                  <a:pt x="76200" y="381000"/>
                </a:lnTo>
                <a:cubicBezTo>
                  <a:pt x="34144" y="381000"/>
                  <a:pt x="0" y="346856"/>
                  <a:pt x="0" y="304800"/>
                </a:cubicBezTo>
                <a:lnTo>
                  <a:pt x="0" y="76200"/>
                </a:lnTo>
                <a:cubicBezTo>
                  <a:pt x="0" y="34144"/>
                  <a:pt x="34144" y="0"/>
                  <a:pt x="76200" y="0"/>
                </a:cubicBezTo>
                <a:close/>
              </a:path>
            </a:pathLst>
          </a:custGeom>
          <a:solidFill>
            <a:srgbClr val="1ABC9C">
              <a:alpha val="10196"/>
            </a:srgbClr>
          </a:solidFill>
          <a:ln/>
        </p:spPr>
      </p:sp>
      <p:sp>
        <p:nvSpPr>
          <p:cNvPr id="26" name="Shape 20">
            <a:extLst>
              <a:ext uri="{FF2B5EF4-FFF2-40B4-BE49-F238E27FC236}">
                <a16:creationId xmlns:a16="http://schemas.microsoft.com/office/drawing/2014/main" id="{773A65A2-2654-92C5-5D52-420E5669F5D6}"/>
              </a:ext>
            </a:extLst>
          </p:cNvPr>
          <p:cNvSpPr/>
          <p:nvPr/>
        </p:nvSpPr>
        <p:spPr>
          <a:xfrm>
            <a:off x="8355806" y="7305675"/>
            <a:ext cx="171450" cy="171450"/>
          </a:xfrm>
          <a:custGeom>
            <a:avLst/>
            <a:gdLst/>
            <a:ahLst/>
            <a:cxnLst/>
            <a:rect l="l" t="t" r="r" b="b"/>
            <a:pathLst>
              <a:path w="171450" h="171450">
                <a:moveTo>
                  <a:pt x="85725" y="0"/>
                </a:moveTo>
                <a:cubicBezTo>
                  <a:pt x="133038" y="0"/>
                  <a:pt x="171450" y="38412"/>
                  <a:pt x="171450" y="85725"/>
                </a:cubicBezTo>
                <a:cubicBezTo>
                  <a:pt x="171450" y="133038"/>
                  <a:pt x="133038" y="171450"/>
                  <a:pt x="85725" y="171450"/>
                </a:cubicBezTo>
                <a:cubicBezTo>
                  <a:pt x="38412" y="171450"/>
                  <a:pt x="0" y="133038"/>
                  <a:pt x="0" y="85725"/>
                </a:cubicBezTo>
                <a:cubicBezTo>
                  <a:pt x="0" y="38412"/>
                  <a:pt x="38412" y="0"/>
                  <a:pt x="85725" y="0"/>
                </a:cubicBezTo>
                <a:close/>
                <a:moveTo>
                  <a:pt x="77688" y="40184"/>
                </a:moveTo>
                <a:lnTo>
                  <a:pt x="77688" y="85725"/>
                </a:lnTo>
                <a:cubicBezTo>
                  <a:pt x="77688" y="88404"/>
                  <a:pt x="79028" y="90915"/>
                  <a:pt x="81271" y="92422"/>
                </a:cubicBezTo>
                <a:lnTo>
                  <a:pt x="113418" y="113854"/>
                </a:lnTo>
                <a:cubicBezTo>
                  <a:pt x="117102" y="116332"/>
                  <a:pt x="122091" y="115327"/>
                  <a:pt x="124569" y="111610"/>
                </a:cubicBezTo>
                <a:cubicBezTo>
                  <a:pt x="127047" y="107893"/>
                  <a:pt x="126043" y="102937"/>
                  <a:pt x="122326" y="100459"/>
                </a:cubicBezTo>
                <a:lnTo>
                  <a:pt x="93762" y="81439"/>
                </a:lnTo>
                <a:lnTo>
                  <a:pt x="93762" y="40184"/>
                </a:lnTo>
                <a:cubicBezTo>
                  <a:pt x="93762" y="35730"/>
                  <a:pt x="90179" y="32147"/>
                  <a:pt x="85725" y="32147"/>
                </a:cubicBezTo>
                <a:cubicBezTo>
                  <a:pt x="81271" y="32147"/>
                  <a:pt x="77688" y="35730"/>
                  <a:pt x="77688" y="40184"/>
                </a:cubicBezTo>
                <a:close/>
              </a:path>
            </a:pathLst>
          </a:custGeom>
          <a:solidFill>
            <a:srgbClr val="1ABC9C"/>
          </a:solidFill>
          <a:ln/>
        </p:spPr>
      </p:sp>
      <p:sp>
        <p:nvSpPr>
          <p:cNvPr id="27" name="Text 21">
            <a:extLst>
              <a:ext uri="{FF2B5EF4-FFF2-40B4-BE49-F238E27FC236}">
                <a16:creationId xmlns:a16="http://schemas.microsoft.com/office/drawing/2014/main" id="{426C2F5D-A093-7EC7-B3F1-767D5D60DB65}"/>
              </a:ext>
            </a:extLst>
          </p:cNvPr>
          <p:cNvSpPr/>
          <p:nvPr/>
        </p:nvSpPr>
        <p:spPr>
          <a:xfrm>
            <a:off x="8743950" y="7258050"/>
            <a:ext cx="1925171" cy="32385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20000"/>
              </a:lnSpc>
            </a:pPr>
            <a:r>
              <a:rPr lang="en-US" sz="1600" b="1" dirty="0">
                <a:solidFill>
                  <a:srgbClr val="2C3E50"/>
                </a:solidFill>
                <a:latin typeface="Liter" pitchFamily="34" charset="0"/>
                <a:ea typeface="Liter" pitchFamily="34" charset="-122"/>
                <a:cs typeface="Liter" pitchFamily="34" charset="-120"/>
              </a:rPr>
              <a:t>Time-Consuming</a:t>
            </a:r>
            <a:endParaRPr lang="en-US" dirty="0"/>
          </a:p>
        </p:txBody>
      </p:sp>
      <p:sp>
        <p:nvSpPr>
          <p:cNvPr id="28" name="Text 22">
            <a:extLst>
              <a:ext uri="{FF2B5EF4-FFF2-40B4-BE49-F238E27FC236}">
                <a16:creationId xmlns:a16="http://schemas.microsoft.com/office/drawing/2014/main" id="{62AC947D-5A29-5847-A577-C26549B7BB3C}"/>
              </a:ext>
            </a:extLst>
          </p:cNvPr>
          <p:cNvSpPr/>
          <p:nvPr/>
        </p:nvSpPr>
        <p:spPr>
          <a:xfrm>
            <a:off x="8248650" y="7696200"/>
            <a:ext cx="3333750" cy="14097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algn="l">
              <a:lnSpc>
                <a:spcPct val="140000"/>
              </a:lnSpc>
            </a:pPr>
            <a:r>
              <a:rPr lang="en-US" sz="1400" dirty="0">
                <a:solidFill>
                  <a:srgbClr val="5D6D7E"/>
                </a:solidFill>
                <a:latin typeface="Quattrocento Sans" pitchFamily="34" charset="0"/>
                <a:ea typeface="Quattrocento Sans" pitchFamily="34" charset="-122"/>
                <a:cs typeface="Quattrocento Sans" pitchFamily="34" charset="-120"/>
              </a:rPr>
              <a:t>Manual analysis requires significant time investment, limiting throughput and creating bottlenecks in high-demand laboratory environments.</a:t>
            </a:r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8333" t="-23232" r="-2272" b="-36746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615331"/>
            <a:ext cx="4114800" cy="826739"/>
          </a:xfrm>
          <a:custGeom>
            <a:avLst/>
            <a:gdLst/>
            <a:ahLst/>
            <a:cxnLst/>
            <a:rect l="l" t="t" r="r" b="b"/>
            <a:pathLst>
              <a:path w="4114800" h="826739">
                <a:moveTo>
                  <a:pt x="0" y="0"/>
                </a:moveTo>
                <a:lnTo>
                  <a:pt x="4114800" y="0"/>
                </a:lnTo>
                <a:lnTo>
                  <a:pt x="4114800" y="826738"/>
                </a:lnTo>
                <a:lnTo>
                  <a:pt x="0" y="8267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397714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344383" y="1823304"/>
            <a:ext cx="9569672" cy="1363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40"/>
              </a:lnSpc>
            </a:pPr>
            <a:r>
              <a:rPr lang="en-US" sz="8000" b="1">
                <a:solidFill>
                  <a:srgbClr val="3D5871"/>
                </a:solidFill>
                <a:latin typeface="DIN Next Bold"/>
                <a:ea typeface="DIN Next Bold"/>
                <a:cs typeface="DIN Next Bold"/>
                <a:sym typeface="DIN Next Bold"/>
              </a:rPr>
              <a:t>Proposed Solution</a:t>
            </a:r>
          </a:p>
        </p:txBody>
      </p:sp>
      <p:sp>
        <p:nvSpPr>
          <p:cNvPr id="5" name="TextBox 5"/>
          <p:cNvSpPr txBox="1"/>
          <p:nvPr/>
        </p:nvSpPr>
        <p:spPr>
          <a:xfrm>
            <a:off x="5302763" y="3612410"/>
            <a:ext cx="9519548" cy="1197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8"/>
              </a:lnSpc>
            </a:pPr>
            <a:r>
              <a:rPr lang="en-US" sz="2600">
                <a:solidFill>
                  <a:srgbClr val="55676D"/>
                </a:solidFill>
                <a:latin typeface="DIN Next"/>
                <a:ea typeface="DIN Next"/>
                <a:cs typeface="DIN Next"/>
                <a:sym typeface="DIN Next"/>
              </a:rPr>
              <a:t>Lorem ipsum dolor sit amet, consectetur adipiscing elit. Quisque non elit mauris. Cras euismod, metus ac finibus finibus, felis dui suscipit purus, a maximus leo ligula at dolor. </a:t>
            </a:r>
          </a:p>
        </p:txBody>
      </p:sp>
      <p:sp>
        <p:nvSpPr>
          <p:cNvPr id="6" name="TextBox 6"/>
          <p:cNvSpPr txBox="1"/>
          <p:nvPr/>
        </p:nvSpPr>
        <p:spPr>
          <a:xfrm>
            <a:off x="5302763" y="5188454"/>
            <a:ext cx="9519548" cy="1197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8"/>
              </a:lnSpc>
            </a:pPr>
            <a:r>
              <a:rPr lang="en-US" sz="2600">
                <a:solidFill>
                  <a:srgbClr val="55676D"/>
                </a:solidFill>
                <a:latin typeface="DIN Next"/>
                <a:ea typeface="DIN Next"/>
                <a:cs typeface="DIN Next"/>
                <a:sym typeface="DIN Next"/>
              </a:rPr>
              <a:t>Lorem ipsum dolor sit amet, consectetur adipiscing elit. Quisque non elit mauris. Cras euismod, metus ac finibus finibus, felis dui suscipit purus, a maximus leo ligula at dolor. </a:t>
            </a:r>
          </a:p>
        </p:txBody>
      </p:sp>
      <p:sp>
        <p:nvSpPr>
          <p:cNvPr id="7" name="TextBox 7"/>
          <p:cNvSpPr txBox="1"/>
          <p:nvPr/>
        </p:nvSpPr>
        <p:spPr>
          <a:xfrm>
            <a:off x="5302763" y="6764498"/>
            <a:ext cx="9519548" cy="1197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3068"/>
              </a:lnSpc>
            </a:pPr>
            <a:r>
              <a:rPr lang="en-US" sz="2600">
                <a:solidFill>
                  <a:srgbClr val="55676D"/>
                </a:solidFill>
                <a:latin typeface="DIN Next"/>
                <a:ea typeface="DIN Next"/>
                <a:cs typeface="DIN Next"/>
                <a:sym typeface="DIN Next"/>
              </a:rPr>
              <a:t>Lorem ipsum dolor sit amet, consectetur adipiscing elit. Quisque non elit mauris. Cras euismod, metus ac finibus finibus, felis dui suscipit purus, a maximus leo ligula at dolor. </a:t>
            </a:r>
          </a:p>
        </p:txBody>
      </p:sp>
      <p:sp>
        <p:nvSpPr>
          <p:cNvPr id="8" name="TextBox 8"/>
          <p:cNvSpPr txBox="1"/>
          <p:nvPr/>
        </p:nvSpPr>
        <p:spPr>
          <a:xfrm>
            <a:off x="3465689" y="3507635"/>
            <a:ext cx="1663030" cy="1363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40"/>
              </a:lnSpc>
            </a:pPr>
            <a:r>
              <a:rPr lang="en-US" sz="8000" b="1">
                <a:solidFill>
                  <a:srgbClr val="3D5871"/>
                </a:solidFill>
                <a:latin typeface="DIN Next Bold"/>
                <a:ea typeface="DIN Next Bold"/>
                <a:cs typeface="DIN Next Bold"/>
                <a:sym typeface="DIN Next Bold"/>
              </a:rPr>
              <a:t>01.</a:t>
            </a:r>
          </a:p>
        </p:txBody>
      </p:sp>
      <p:sp>
        <p:nvSpPr>
          <p:cNvPr id="9" name="TextBox 9"/>
          <p:cNvSpPr txBox="1"/>
          <p:nvPr/>
        </p:nvSpPr>
        <p:spPr>
          <a:xfrm>
            <a:off x="3512868" y="5083679"/>
            <a:ext cx="1663030" cy="1363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40"/>
              </a:lnSpc>
            </a:pPr>
            <a:r>
              <a:rPr lang="en-US" sz="8000" b="1">
                <a:solidFill>
                  <a:srgbClr val="3D5871"/>
                </a:solidFill>
                <a:latin typeface="DIN Next Bold"/>
                <a:ea typeface="DIN Next Bold"/>
                <a:cs typeface="DIN Next Bold"/>
                <a:sym typeface="DIN Next Bold"/>
              </a:rPr>
              <a:t>02.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512868" y="6629053"/>
            <a:ext cx="1663030" cy="1363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40"/>
              </a:lnSpc>
            </a:pPr>
            <a:r>
              <a:rPr lang="en-US" sz="8000" b="1">
                <a:solidFill>
                  <a:srgbClr val="3D5871"/>
                </a:solidFill>
                <a:latin typeface="DIN Next Bold"/>
                <a:ea typeface="DIN Next Bold"/>
                <a:cs typeface="DIN Next Bold"/>
                <a:sym typeface="DIN Next Bold"/>
              </a:rPr>
              <a:t>03.</a:t>
            </a:r>
          </a:p>
        </p:txBody>
      </p:sp>
      <p:sp>
        <p:nvSpPr>
          <p:cNvPr id="11" name="Freeform 11"/>
          <p:cNvSpPr/>
          <p:nvPr/>
        </p:nvSpPr>
        <p:spPr>
          <a:xfrm flipH="1">
            <a:off x="5272698" y="6884796"/>
            <a:ext cx="13316219" cy="3578734"/>
          </a:xfrm>
          <a:custGeom>
            <a:avLst/>
            <a:gdLst/>
            <a:ahLst/>
            <a:cxnLst/>
            <a:rect l="l" t="t" r="r" b="b"/>
            <a:pathLst>
              <a:path w="13316219" h="3578734">
                <a:moveTo>
                  <a:pt x="13316219" y="0"/>
                </a:moveTo>
                <a:lnTo>
                  <a:pt x="0" y="0"/>
                </a:lnTo>
                <a:lnTo>
                  <a:pt x="0" y="3578734"/>
                </a:lnTo>
                <a:lnTo>
                  <a:pt x="13316219" y="3578734"/>
                </a:lnTo>
                <a:lnTo>
                  <a:pt x="13316219" y="0"/>
                </a:lnTo>
                <a:close/>
              </a:path>
            </a:pathLst>
          </a:custGeom>
          <a:blipFill>
            <a:blip r:embed="rId5">
              <a:alphaModFix amt="77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12" name="Group 12"/>
          <p:cNvGrpSpPr/>
          <p:nvPr/>
        </p:nvGrpSpPr>
        <p:grpSpPr>
          <a:xfrm>
            <a:off x="4001106" y="10044900"/>
            <a:ext cx="1860164" cy="484200"/>
            <a:chOff x="0" y="0"/>
            <a:chExt cx="812800" cy="211572"/>
          </a:xfrm>
        </p:grpSpPr>
        <p:sp>
          <p:nvSpPr>
            <p:cNvPr id="13" name="Freeform 13"/>
            <p:cNvSpPr/>
            <p:nvPr/>
          </p:nvSpPr>
          <p:spPr>
            <a:xfrm>
              <a:off x="0" y="0"/>
              <a:ext cx="812800" cy="211572"/>
            </a:xfrm>
            <a:custGeom>
              <a:avLst/>
              <a:gdLst/>
              <a:ahLst/>
              <a:cxnLst/>
              <a:rect l="l" t="t" r="r" b="b"/>
              <a:pathLst>
                <a:path w="812800" h="211572">
                  <a:moveTo>
                    <a:pt x="203200" y="0"/>
                  </a:moveTo>
                  <a:lnTo>
                    <a:pt x="812800" y="0"/>
                  </a:lnTo>
                  <a:lnTo>
                    <a:pt x="609600" y="211572"/>
                  </a:lnTo>
                  <a:lnTo>
                    <a:pt x="0" y="211572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D5871"/>
            </a:solidFill>
          </p:spPr>
        </p:sp>
        <p:sp>
          <p:nvSpPr>
            <p:cNvPr id="14" name="TextBox 14"/>
            <p:cNvSpPr txBox="1"/>
            <p:nvPr/>
          </p:nvSpPr>
          <p:spPr>
            <a:xfrm>
              <a:off x="101600" y="-38100"/>
              <a:ext cx="609600" cy="2496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0473" r="-31580" b="-19235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3508779" y="615331"/>
            <a:ext cx="4114800" cy="826739"/>
          </a:xfrm>
          <a:custGeom>
            <a:avLst/>
            <a:gdLst/>
            <a:ahLst/>
            <a:cxnLst/>
            <a:rect l="l" t="t" r="r" b="b"/>
            <a:pathLst>
              <a:path w="4114800" h="826739">
                <a:moveTo>
                  <a:pt x="4114800" y="0"/>
                </a:moveTo>
                <a:lnTo>
                  <a:pt x="0" y="0"/>
                </a:lnTo>
                <a:lnTo>
                  <a:pt x="0" y="826738"/>
                </a:lnTo>
                <a:lnTo>
                  <a:pt x="4114800" y="826738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397714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405791" y="9486900"/>
            <a:ext cx="12715897" cy="1445680"/>
            <a:chOff x="0" y="0"/>
            <a:chExt cx="16954530" cy="1927573"/>
          </a:xfrm>
        </p:grpSpPr>
        <p:sp>
          <p:nvSpPr>
            <p:cNvPr id="5" name="Freeform 5"/>
            <p:cNvSpPr/>
            <p:nvPr/>
          </p:nvSpPr>
          <p:spPr>
            <a:xfrm flipH="1">
              <a:off x="0" y="0"/>
              <a:ext cx="9753600" cy="1219200"/>
            </a:xfrm>
            <a:custGeom>
              <a:avLst/>
              <a:gdLst/>
              <a:ahLst/>
              <a:cxnLst/>
              <a:rect l="l" t="t" r="r" b="b"/>
              <a:pathLst>
                <a:path w="9753600" h="1219200">
                  <a:moveTo>
                    <a:pt x="9753600" y="0"/>
                  </a:moveTo>
                  <a:lnTo>
                    <a:pt x="0" y="0"/>
                  </a:lnTo>
                  <a:lnTo>
                    <a:pt x="0" y="1219200"/>
                  </a:lnTo>
                  <a:lnTo>
                    <a:pt x="9753600" y="1219200"/>
                  </a:lnTo>
                  <a:lnTo>
                    <a:pt x="9753600" y="0"/>
                  </a:lnTo>
                  <a:close/>
                </a:path>
              </a:pathLst>
            </a:custGeom>
            <a:blipFill>
              <a:blip r:embed="rId5">
                <a:alphaModFix amt="77000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grpSp>
          <p:nvGrpSpPr>
            <p:cNvPr id="6" name="Group 6"/>
            <p:cNvGrpSpPr/>
            <p:nvPr/>
          </p:nvGrpSpPr>
          <p:grpSpPr>
            <a:xfrm>
              <a:off x="4353870" y="798178"/>
              <a:ext cx="12600659" cy="1129395"/>
              <a:chOff x="0" y="0"/>
              <a:chExt cx="4507680" cy="404023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507680" cy="404023"/>
              </a:xfrm>
              <a:custGeom>
                <a:avLst/>
                <a:gdLst/>
                <a:ahLst/>
                <a:cxnLst/>
                <a:rect l="l" t="t" r="r" b="b"/>
                <a:pathLst>
                  <a:path w="4507680" h="404023">
                    <a:moveTo>
                      <a:pt x="203200" y="0"/>
                    </a:moveTo>
                    <a:lnTo>
                      <a:pt x="4507680" y="0"/>
                    </a:lnTo>
                    <a:lnTo>
                      <a:pt x="4304480" y="404023"/>
                    </a:lnTo>
                    <a:lnTo>
                      <a:pt x="0" y="40402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3D5871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01600" y="-38100"/>
                <a:ext cx="4304480" cy="44212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sp>
        <p:nvSpPr>
          <p:cNvPr id="9" name="Freeform 9"/>
          <p:cNvSpPr/>
          <p:nvPr/>
        </p:nvSpPr>
        <p:spPr>
          <a:xfrm>
            <a:off x="3247817" y="3639652"/>
            <a:ext cx="1613377" cy="1353892"/>
          </a:xfrm>
          <a:custGeom>
            <a:avLst/>
            <a:gdLst/>
            <a:ahLst/>
            <a:cxnLst/>
            <a:rect l="l" t="t" r="r" b="b"/>
            <a:pathLst>
              <a:path w="1613377" h="1353892">
                <a:moveTo>
                  <a:pt x="0" y="0"/>
                </a:moveTo>
                <a:lnTo>
                  <a:pt x="1613378" y="0"/>
                </a:lnTo>
                <a:lnTo>
                  <a:pt x="1613378" y="1353892"/>
                </a:lnTo>
                <a:lnTo>
                  <a:pt x="0" y="1353892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</p:spPr>
      </p:sp>
      <p:sp>
        <p:nvSpPr>
          <p:cNvPr id="10" name="Freeform 10"/>
          <p:cNvSpPr/>
          <p:nvPr/>
        </p:nvSpPr>
        <p:spPr>
          <a:xfrm>
            <a:off x="8543559" y="3639652"/>
            <a:ext cx="1200881" cy="1233254"/>
          </a:xfrm>
          <a:custGeom>
            <a:avLst/>
            <a:gdLst/>
            <a:ahLst/>
            <a:cxnLst/>
            <a:rect l="l" t="t" r="r" b="b"/>
            <a:pathLst>
              <a:path w="1200881" h="1233254">
                <a:moveTo>
                  <a:pt x="0" y="0"/>
                </a:moveTo>
                <a:lnTo>
                  <a:pt x="1200882" y="0"/>
                </a:lnTo>
                <a:lnTo>
                  <a:pt x="1200882" y="1233254"/>
                </a:lnTo>
                <a:lnTo>
                  <a:pt x="0" y="123325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1" name="Freeform 11"/>
          <p:cNvSpPr/>
          <p:nvPr/>
        </p:nvSpPr>
        <p:spPr>
          <a:xfrm>
            <a:off x="13430616" y="3639652"/>
            <a:ext cx="832447" cy="1233254"/>
          </a:xfrm>
          <a:custGeom>
            <a:avLst/>
            <a:gdLst/>
            <a:ahLst/>
            <a:cxnLst/>
            <a:rect l="l" t="t" r="r" b="b"/>
            <a:pathLst>
              <a:path w="832447" h="1233254">
                <a:moveTo>
                  <a:pt x="0" y="0"/>
                </a:moveTo>
                <a:lnTo>
                  <a:pt x="832446" y="0"/>
                </a:lnTo>
                <a:lnTo>
                  <a:pt x="832446" y="1233254"/>
                </a:lnTo>
                <a:lnTo>
                  <a:pt x="0" y="123325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12" name="TextBox 12"/>
          <p:cNvSpPr txBox="1"/>
          <p:nvPr/>
        </p:nvSpPr>
        <p:spPr>
          <a:xfrm>
            <a:off x="3584902" y="1994040"/>
            <a:ext cx="11118197" cy="1363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40"/>
              </a:lnSpc>
            </a:pPr>
            <a:r>
              <a:rPr lang="en-US" sz="8000" b="1">
                <a:solidFill>
                  <a:srgbClr val="3D5871"/>
                </a:solidFill>
                <a:latin typeface="DIN Next Bold"/>
                <a:ea typeface="DIN Next Bold"/>
                <a:cs typeface="DIN Next Bold"/>
                <a:sym typeface="DIN Next Bold"/>
              </a:rPr>
              <a:t>Key Features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2545338" y="5228186"/>
            <a:ext cx="3867155" cy="2654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50"/>
              </a:lnSpc>
            </a:pPr>
            <a:r>
              <a:rPr lang="en-US" sz="2500">
                <a:solidFill>
                  <a:srgbClr val="55676D"/>
                </a:solidFill>
                <a:latin typeface="DIN Next"/>
                <a:ea typeface="DIN Next"/>
                <a:cs typeface="DIN Next"/>
                <a:sym typeface="DIN Next"/>
              </a:rPr>
              <a:t>Lorem ipsum dolor sit amet, consectetur adipiscing elit. Quisque non elit mauris. Cras euismod, metus ac finibus finibus, felis dui suscipit purus, a maximus leo ligula at dolor.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7210422" y="5228186"/>
            <a:ext cx="3867155" cy="2654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50"/>
              </a:lnSpc>
            </a:pPr>
            <a:r>
              <a:rPr lang="en-US" sz="2500">
                <a:solidFill>
                  <a:srgbClr val="55676D"/>
                </a:solidFill>
                <a:latin typeface="DIN Next"/>
                <a:ea typeface="DIN Next"/>
                <a:cs typeface="DIN Next"/>
                <a:sym typeface="DIN Next"/>
              </a:rPr>
              <a:t>Lorem ipsum dolor sit amet, consectetur adipiscing elit. Quisque non elit mauris. Cras euismod, metus ac finibus finibus, felis dui suscipit purus, a maximus leo ligula at dolor. 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11875507" y="5228186"/>
            <a:ext cx="3867155" cy="26543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2950"/>
              </a:lnSpc>
            </a:pPr>
            <a:r>
              <a:rPr lang="en-US" sz="2500">
                <a:solidFill>
                  <a:srgbClr val="55676D"/>
                </a:solidFill>
                <a:latin typeface="DIN Next"/>
                <a:ea typeface="DIN Next"/>
                <a:cs typeface="DIN Next"/>
                <a:sym typeface="DIN Next"/>
              </a:rPr>
              <a:t>Lorem ipsum dolor sit amet, consectetur adipiscing elit. Quisque non elit mauris. Cras euismod, metus ac finibus finibus, felis dui suscipit purus, a maximus leo ligula at dolor. 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8333" t="-23232" r="-2272" b="-36746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615331"/>
            <a:ext cx="4114800" cy="826739"/>
          </a:xfrm>
          <a:custGeom>
            <a:avLst/>
            <a:gdLst/>
            <a:ahLst/>
            <a:cxnLst/>
            <a:rect l="l" t="t" r="r" b="b"/>
            <a:pathLst>
              <a:path w="4114800" h="826739">
                <a:moveTo>
                  <a:pt x="0" y="0"/>
                </a:moveTo>
                <a:lnTo>
                  <a:pt x="4114800" y="0"/>
                </a:lnTo>
                <a:lnTo>
                  <a:pt x="4114800" y="826738"/>
                </a:lnTo>
                <a:lnTo>
                  <a:pt x="0" y="8267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397714"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5346569" y="7393497"/>
            <a:ext cx="12941431" cy="3478010"/>
          </a:xfrm>
          <a:custGeom>
            <a:avLst/>
            <a:gdLst/>
            <a:ahLst/>
            <a:cxnLst/>
            <a:rect l="l" t="t" r="r" b="b"/>
            <a:pathLst>
              <a:path w="12941431" h="3478010">
                <a:moveTo>
                  <a:pt x="12941431" y="0"/>
                </a:moveTo>
                <a:lnTo>
                  <a:pt x="0" y="0"/>
                </a:lnTo>
                <a:lnTo>
                  <a:pt x="0" y="3478010"/>
                </a:lnTo>
                <a:lnTo>
                  <a:pt x="12941431" y="3478010"/>
                </a:lnTo>
                <a:lnTo>
                  <a:pt x="12941431" y="0"/>
                </a:lnTo>
                <a:close/>
              </a:path>
            </a:pathLst>
          </a:custGeom>
          <a:blipFill>
            <a:blip r:embed="rId5">
              <a:alphaModFix amt="77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grpSp>
        <p:nvGrpSpPr>
          <p:cNvPr id="5" name="Group 5"/>
          <p:cNvGrpSpPr/>
          <p:nvPr/>
        </p:nvGrpSpPr>
        <p:grpSpPr>
          <a:xfrm>
            <a:off x="4001106" y="10044900"/>
            <a:ext cx="1860164" cy="484200"/>
            <a:chOff x="0" y="0"/>
            <a:chExt cx="812800" cy="211572"/>
          </a:xfrm>
        </p:grpSpPr>
        <p:sp>
          <p:nvSpPr>
            <p:cNvPr id="6" name="Freeform 6"/>
            <p:cNvSpPr/>
            <p:nvPr/>
          </p:nvSpPr>
          <p:spPr>
            <a:xfrm>
              <a:off x="0" y="0"/>
              <a:ext cx="812800" cy="211572"/>
            </a:xfrm>
            <a:custGeom>
              <a:avLst/>
              <a:gdLst/>
              <a:ahLst/>
              <a:cxnLst/>
              <a:rect l="l" t="t" r="r" b="b"/>
              <a:pathLst>
                <a:path w="812800" h="211572">
                  <a:moveTo>
                    <a:pt x="203200" y="0"/>
                  </a:moveTo>
                  <a:lnTo>
                    <a:pt x="812800" y="0"/>
                  </a:lnTo>
                  <a:lnTo>
                    <a:pt x="609600" y="211572"/>
                  </a:lnTo>
                  <a:lnTo>
                    <a:pt x="0" y="211572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D5871"/>
            </a:solidFill>
          </p:spPr>
        </p:sp>
        <p:sp>
          <p:nvSpPr>
            <p:cNvPr id="7" name="TextBox 7"/>
            <p:cNvSpPr txBox="1"/>
            <p:nvPr/>
          </p:nvSpPr>
          <p:spPr>
            <a:xfrm>
              <a:off x="101600" y="-38100"/>
              <a:ext cx="609600" cy="2496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sp>
        <p:nvSpPr>
          <p:cNvPr id="8" name="Freeform 8"/>
          <p:cNvSpPr/>
          <p:nvPr/>
        </p:nvSpPr>
        <p:spPr>
          <a:xfrm>
            <a:off x="7864595" y="4624792"/>
            <a:ext cx="2558809" cy="2558809"/>
          </a:xfrm>
          <a:custGeom>
            <a:avLst/>
            <a:gdLst/>
            <a:ahLst/>
            <a:cxnLst/>
            <a:rect l="l" t="t" r="r" b="b"/>
            <a:pathLst>
              <a:path w="2558809" h="2558809">
                <a:moveTo>
                  <a:pt x="0" y="0"/>
                </a:moveTo>
                <a:lnTo>
                  <a:pt x="2558810" y="0"/>
                </a:lnTo>
                <a:lnTo>
                  <a:pt x="2558810" y="2558809"/>
                </a:lnTo>
                <a:lnTo>
                  <a:pt x="0" y="2558809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TextBox 9"/>
          <p:cNvSpPr txBox="1"/>
          <p:nvPr/>
        </p:nvSpPr>
        <p:spPr>
          <a:xfrm>
            <a:off x="4344383" y="1496298"/>
            <a:ext cx="9569672" cy="1363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40"/>
              </a:lnSpc>
            </a:pPr>
            <a:r>
              <a:rPr lang="en-US" sz="8000" b="1">
                <a:solidFill>
                  <a:srgbClr val="3D5871"/>
                </a:solidFill>
                <a:latin typeface="DIN Next Bold"/>
                <a:ea typeface="DIN Next Bold"/>
                <a:cs typeface="DIN Next Bold"/>
                <a:sym typeface="DIN Next Bold"/>
              </a:rPr>
              <a:t>Business Model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580531" y="3123276"/>
            <a:ext cx="4200248" cy="2177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2"/>
              </a:lnSpc>
            </a:pPr>
            <a:r>
              <a:rPr lang="en-US" sz="2400">
                <a:solidFill>
                  <a:srgbClr val="55676D"/>
                </a:solidFill>
                <a:latin typeface="DIN Next"/>
                <a:ea typeface="DIN Next"/>
                <a:cs typeface="DIN Next"/>
                <a:sym typeface="DIN Next"/>
              </a:rPr>
              <a:t>Lorem ipsum dolor sit amet, consectetur adipiscing elit. Quisque non elit mauris. Cras euismod, metus ac finibus finibus, felis dui suscipit purus, a maximus leo ligula at dolor. </a:t>
            </a:r>
          </a:p>
        </p:txBody>
      </p:sp>
      <p:sp>
        <p:nvSpPr>
          <p:cNvPr id="11" name="TextBox 11"/>
          <p:cNvSpPr txBox="1"/>
          <p:nvPr/>
        </p:nvSpPr>
        <p:spPr>
          <a:xfrm>
            <a:off x="3580531" y="6066128"/>
            <a:ext cx="4200248" cy="2177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2"/>
              </a:lnSpc>
            </a:pPr>
            <a:r>
              <a:rPr lang="en-US" sz="2400">
                <a:solidFill>
                  <a:srgbClr val="55676D"/>
                </a:solidFill>
                <a:latin typeface="DIN Next"/>
                <a:ea typeface="DIN Next"/>
                <a:cs typeface="DIN Next"/>
                <a:sym typeface="DIN Next"/>
              </a:rPr>
              <a:t>Lorem ipsum dolor sit amet, consectetur adipiscing elit. Quisque non elit mauris. Cras euismod, metus ac finibus finibus, felis dui suscipit purus, a maximus leo ligula at dolor. 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10883465" y="3123276"/>
            <a:ext cx="4200248" cy="2177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2"/>
              </a:lnSpc>
            </a:pPr>
            <a:r>
              <a:rPr lang="en-US" sz="2400">
                <a:solidFill>
                  <a:srgbClr val="55676D"/>
                </a:solidFill>
                <a:latin typeface="DIN Next"/>
                <a:ea typeface="DIN Next"/>
                <a:cs typeface="DIN Next"/>
                <a:sym typeface="DIN Next"/>
              </a:rPr>
              <a:t>Lorem ipsum dolor sit amet, consectetur adipiscing elit. Quisque non elit mauris. Cras euismod, metus ac finibus finibus, felis dui suscipit purus, a maximus leo ligula at dolor. </a:t>
            </a:r>
          </a:p>
        </p:txBody>
      </p:sp>
      <p:sp>
        <p:nvSpPr>
          <p:cNvPr id="13" name="TextBox 13"/>
          <p:cNvSpPr txBox="1"/>
          <p:nvPr/>
        </p:nvSpPr>
        <p:spPr>
          <a:xfrm>
            <a:off x="11036068" y="6066128"/>
            <a:ext cx="4200248" cy="2177796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2832"/>
              </a:lnSpc>
            </a:pPr>
            <a:r>
              <a:rPr lang="en-US" sz="2400">
                <a:solidFill>
                  <a:srgbClr val="55676D"/>
                </a:solidFill>
                <a:latin typeface="DIN Next"/>
                <a:ea typeface="DIN Next"/>
                <a:cs typeface="DIN Next"/>
                <a:sym typeface="DIN Next"/>
              </a:rPr>
              <a:t>Lorem ipsum dolor sit amet, consectetur adipiscing elit. Quisque non elit mauris. Cras euismod, metus ac finibus finibus, felis dui suscipit purus, a maximus leo ligula at dolor. </a:t>
            </a:r>
          </a:p>
        </p:txBody>
      </p:sp>
      <p:sp>
        <p:nvSpPr>
          <p:cNvPr id="14" name="TextBox 14"/>
          <p:cNvSpPr txBox="1"/>
          <p:nvPr/>
        </p:nvSpPr>
        <p:spPr>
          <a:xfrm>
            <a:off x="8035249" y="4760427"/>
            <a:ext cx="632185" cy="850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00"/>
              </a:lnSpc>
            </a:pPr>
            <a:r>
              <a:rPr lang="en-US" sz="5000" b="1">
                <a:solidFill>
                  <a:srgbClr val="3D5871"/>
                </a:solidFill>
                <a:latin typeface="DIN Next Bold"/>
                <a:ea typeface="DIN Next Bold"/>
                <a:cs typeface="DIN Next Bold"/>
                <a:sym typeface="DIN Next Bold"/>
              </a:rPr>
              <a:t>1</a:t>
            </a:r>
          </a:p>
        </p:txBody>
      </p:sp>
      <p:sp>
        <p:nvSpPr>
          <p:cNvPr id="15" name="TextBox 15"/>
          <p:cNvSpPr txBox="1"/>
          <p:nvPr/>
        </p:nvSpPr>
        <p:spPr>
          <a:xfrm>
            <a:off x="9612679" y="4760427"/>
            <a:ext cx="632185" cy="850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00"/>
              </a:lnSpc>
            </a:pPr>
            <a:r>
              <a:rPr lang="en-US" sz="5000" b="1">
                <a:solidFill>
                  <a:srgbClr val="3D5871"/>
                </a:solidFill>
                <a:latin typeface="DIN Next Bold"/>
                <a:ea typeface="DIN Next Bold"/>
                <a:cs typeface="DIN Next Bold"/>
                <a:sym typeface="DIN Next Bold"/>
              </a:rPr>
              <a:t>2</a:t>
            </a:r>
          </a:p>
        </p:txBody>
      </p:sp>
      <p:sp>
        <p:nvSpPr>
          <p:cNvPr id="16" name="TextBox 16"/>
          <p:cNvSpPr txBox="1"/>
          <p:nvPr/>
        </p:nvSpPr>
        <p:spPr>
          <a:xfrm>
            <a:off x="8039193" y="6142852"/>
            <a:ext cx="632185" cy="850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00"/>
              </a:lnSpc>
            </a:pPr>
            <a:r>
              <a:rPr lang="en-US" sz="5000" b="1">
                <a:solidFill>
                  <a:srgbClr val="3D5871"/>
                </a:solidFill>
                <a:latin typeface="DIN Next Bold"/>
                <a:ea typeface="DIN Next Bold"/>
                <a:cs typeface="DIN Next Bold"/>
                <a:sym typeface="DIN Next Bold"/>
              </a:rPr>
              <a:t>4</a:t>
            </a:r>
          </a:p>
        </p:txBody>
      </p:sp>
      <p:sp>
        <p:nvSpPr>
          <p:cNvPr id="17" name="TextBox 17"/>
          <p:cNvSpPr txBox="1"/>
          <p:nvPr/>
        </p:nvSpPr>
        <p:spPr>
          <a:xfrm>
            <a:off x="9616622" y="6142852"/>
            <a:ext cx="632185" cy="85090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5900"/>
              </a:lnSpc>
            </a:pPr>
            <a:r>
              <a:rPr lang="en-US" sz="5000" b="1">
                <a:solidFill>
                  <a:srgbClr val="3D5871"/>
                </a:solidFill>
                <a:latin typeface="DIN Next Bold"/>
                <a:ea typeface="DIN Next Bold"/>
                <a:cs typeface="DIN Next Bold"/>
                <a:sym typeface="DIN Next Bold"/>
              </a:rPr>
              <a:t>3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0473" r="-31580" b="-19235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3508779" y="615331"/>
            <a:ext cx="4114800" cy="826739"/>
          </a:xfrm>
          <a:custGeom>
            <a:avLst/>
            <a:gdLst/>
            <a:ahLst/>
            <a:cxnLst/>
            <a:rect l="l" t="t" r="r" b="b"/>
            <a:pathLst>
              <a:path w="4114800" h="826739">
                <a:moveTo>
                  <a:pt x="4114800" y="0"/>
                </a:moveTo>
                <a:lnTo>
                  <a:pt x="0" y="0"/>
                </a:lnTo>
                <a:lnTo>
                  <a:pt x="0" y="826738"/>
                </a:lnTo>
                <a:lnTo>
                  <a:pt x="4114800" y="826738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397714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72698" y="8069580"/>
            <a:ext cx="12382805" cy="2863000"/>
            <a:chOff x="0" y="0"/>
            <a:chExt cx="16510407" cy="3817333"/>
          </a:xfrm>
        </p:grpSpPr>
        <p:sp>
          <p:nvSpPr>
            <p:cNvPr id="5" name="Freeform 5"/>
            <p:cNvSpPr/>
            <p:nvPr/>
          </p:nvSpPr>
          <p:spPr>
            <a:xfrm flipH="1">
              <a:off x="0" y="0"/>
              <a:ext cx="9753600" cy="3169920"/>
            </a:xfrm>
            <a:custGeom>
              <a:avLst/>
              <a:gdLst/>
              <a:ahLst/>
              <a:cxnLst/>
              <a:rect l="l" t="t" r="r" b="b"/>
              <a:pathLst>
                <a:path w="9753600" h="3169920">
                  <a:moveTo>
                    <a:pt x="9753600" y="0"/>
                  </a:moveTo>
                  <a:lnTo>
                    <a:pt x="0" y="0"/>
                  </a:lnTo>
                  <a:lnTo>
                    <a:pt x="0" y="3169920"/>
                  </a:lnTo>
                  <a:lnTo>
                    <a:pt x="9753600" y="3169920"/>
                  </a:lnTo>
                  <a:lnTo>
                    <a:pt x="9753600" y="0"/>
                  </a:lnTo>
                  <a:close/>
                </a:path>
              </a:pathLst>
            </a:custGeom>
            <a:blipFill>
              <a:blip r:embed="rId5">
                <a:alphaModFix amt="77000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grpSp>
          <p:nvGrpSpPr>
            <p:cNvPr id="6" name="Group 6"/>
            <p:cNvGrpSpPr/>
            <p:nvPr/>
          </p:nvGrpSpPr>
          <p:grpSpPr>
            <a:xfrm>
              <a:off x="3909747" y="2687938"/>
              <a:ext cx="12600659" cy="1129395"/>
              <a:chOff x="0" y="0"/>
              <a:chExt cx="4507680" cy="404023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507680" cy="404023"/>
              </a:xfrm>
              <a:custGeom>
                <a:avLst/>
                <a:gdLst/>
                <a:ahLst/>
                <a:cxnLst/>
                <a:rect l="l" t="t" r="r" b="b"/>
                <a:pathLst>
                  <a:path w="4507680" h="404023">
                    <a:moveTo>
                      <a:pt x="203200" y="0"/>
                    </a:moveTo>
                    <a:lnTo>
                      <a:pt x="4507680" y="0"/>
                    </a:lnTo>
                    <a:lnTo>
                      <a:pt x="4304480" y="404023"/>
                    </a:lnTo>
                    <a:lnTo>
                      <a:pt x="0" y="40402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3D5871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01600" y="-38100"/>
                <a:ext cx="4304480" cy="44212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9" name="Group 9"/>
          <p:cNvGrpSpPr/>
          <p:nvPr/>
        </p:nvGrpSpPr>
        <p:grpSpPr>
          <a:xfrm>
            <a:off x="9807338" y="4670050"/>
            <a:ext cx="6349875" cy="4036695"/>
            <a:chOff x="0" y="0"/>
            <a:chExt cx="983762" cy="625390"/>
          </a:xfrm>
        </p:grpSpPr>
        <p:sp>
          <p:nvSpPr>
            <p:cNvPr id="10" name="Freeform 10"/>
            <p:cNvSpPr/>
            <p:nvPr/>
          </p:nvSpPr>
          <p:spPr>
            <a:xfrm>
              <a:off x="0" y="0"/>
              <a:ext cx="983762" cy="625390"/>
            </a:xfrm>
            <a:custGeom>
              <a:avLst/>
              <a:gdLst/>
              <a:ahLst/>
              <a:cxnLst/>
              <a:rect l="l" t="t" r="r" b="b"/>
              <a:pathLst>
                <a:path w="983762" h="625390">
                  <a:moveTo>
                    <a:pt x="0" y="0"/>
                  </a:moveTo>
                  <a:lnTo>
                    <a:pt x="983762" y="0"/>
                  </a:lnTo>
                  <a:lnTo>
                    <a:pt x="983762" y="625390"/>
                  </a:lnTo>
                  <a:lnTo>
                    <a:pt x="0" y="625390"/>
                  </a:lnTo>
                  <a:close/>
                </a:path>
              </a:pathLst>
            </a:custGeom>
            <a:blipFill>
              <a:blip r:embed="rId7"/>
              <a:stretch>
                <a:fillRect l="-5642" r="-5642"/>
              </a:stretch>
            </a:blipFill>
          </p:spPr>
        </p:sp>
      </p:grpSp>
      <p:sp>
        <p:nvSpPr>
          <p:cNvPr id="11" name="TextBox 11"/>
          <p:cNvSpPr txBox="1"/>
          <p:nvPr/>
        </p:nvSpPr>
        <p:spPr>
          <a:xfrm>
            <a:off x="4502321" y="1702875"/>
            <a:ext cx="9283359" cy="255397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40"/>
              </a:lnSpc>
            </a:pPr>
            <a:r>
              <a:rPr lang="en-US" sz="8000" b="1">
                <a:solidFill>
                  <a:srgbClr val="3D5871"/>
                </a:solidFill>
                <a:latin typeface="DIN Next Bold"/>
                <a:ea typeface="DIN Next Bold"/>
                <a:cs typeface="DIN Next Bold"/>
                <a:sym typeface="DIN Next Bold"/>
              </a:rPr>
              <a:t>Market Approach &amp; Strategy</a:t>
            </a:r>
          </a:p>
        </p:txBody>
      </p:sp>
      <p:sp>
        <p:nvSpPr>
          <p:cNvPr id="12" name="TextBox 12"/>
          <p:cNvSpPr txBox="1"/>
          <p:nvPr/>
        </p:nvSpPr>
        <p:spPr>
          <a:xfrm>
            <a:off x="2824109" y="4612900"/>
            <a:ext cx="5993531" cy="40938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just">
              <a:lnSpc>
                <a:spcPts val="3540"/>
              </a:lnSpc>
            </a:pPr>
            <a:r>
              <a:rPr lang="en-US" sz="3000">
                <a:solidFill>
                  <a:srgbClr val="55676D"/>
                </a:solidFill>
                <a:latin typeface="DIN Next"/>
                <a:ea typeface="DIN Next"/>
                <a:cs typeface="DIN Next"/>
                <a:sym typeface="DIN Next"/>
              </a:rPr>
              <a:t>Lorem ipsum dolor sit amet, consectetur adipiscing elit. Quisque non elit mauris. Cras euismod, metus ac finibus finibus, felis dui suscipit purus, a maximus leo ligula at dolor. Morbi et malesuada purus. Phasellus a lacus sit amet urna tempor sollicitudin. Cras pretium tempor elit blandit egestas.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38333" t="-23232" r="-2272" b="-36746"/>
            </a:stretch>
          </a:blipFill>
        </p:spPr>
      </p:sp>
      <p:sp>
        <p:nvSpPr>
          <p:cNvPr id="3" name="Freeform 3"/>
          <p:cNvSpPr/>
          <p:nvPr/>
        </p:nvSpPr>
        <p:spPr>
          <a:xfrm>
            <a:off x="1028700" y="615331"/>
            <a:ext cx="4114800" cy="826739"/>
          </a:xfrm>
          <a:custGeom>
            <a:avLst/>
            <a:gdLst/>
            <a:ahLst/>
            <a:cxnLst/>
            <a:rect l="l" t="t" r="r" b="b"/>
            <a:pathLst>
              <a:path w="4114800" h="826739">
                <a:moveTo>
                  <a:pt x="0" y="0"/>
                </a:moveTo>
                <a:lnTo>
                  <a:pt x="4114800" y="0"/>
                </a:lnTo>
                <a:lnTo>
                  <a:pt x="4114800" y="826738"/>
                </a:lnTo>
                <a:lnTo>
                  <a:pt x="0" y="826738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397714"/>
            </a:stretch>
          </a:blipFill>
        </p:spPr>
      </p:sp>
      <p:sp>
        <p:nvSpPr>
          <p:cNvPr id="4" name="TextBox 4"/>
          <p:cNvSpPr txBox="1"/>
          <p:nvPr/>
        </p:nvSpPr>
        <p:spPr>
          <a:xfrm>
            <a:off x="4344383" y="1823304"/>
            <a:ext cx="9569672" cy="1363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40"/>
              </a:lnSpc>
            </a:pPr>
            <a:r>
              <a:rPr lang="en-US" sz="8000" b="1">
                <a:solidFill>
                  <a:srgbClr val="3D5871"/>
                </a:solidFill>
                <a:latin typeface="DIN Next Bold"/>
                <a:ea typeface="DIN Next Bold"/>
                <a:cs typeface="DIN Next Bold"/>
                <a:sym typeface="DIN Next Bold"/>
              </a:rPr>
              <a:t>Financial Outlook</a:t>
            </a:r>
          </a:p>
        </p:txBody>
      </p:sp>
      <p:sp>
        <p:nvSpPr>
          <p:cNvPr id="5" name="Freeform 5"/>
          <p:cNvSpPr/>
          <p:nvPr/>
        </p:nvSpPr>
        <p:spPr>
          <a:xfrm flipH="1">
            <a:off x="5272698" y="6884796"/>
            <a:ext cx="13316219" cy="3578734"/>
          </a:xfrm>
          <a:custGeom>
            <a:avLst/>
            <a:gdLst/>
            <a:ahLst/>
            <a:cxnLst/>
            <a:rect l="l" t="t" r="r" b="b"/>
            <a:pathLst>
              <a:path w="13316219" h="3578734">
                <a:moveTo>
                  <a:pt x="13316219" y="0"/>
                </a:moveTo>
                <a:lnTo>
                  <a:pt x="0" y="0"/>
                </a:lnTo>
                <a:lnTo>
                  <a:pt x="0" y="3578734"/>
                </a:lnTo>
                <a:lnTo>
                  <a:pt x="13316219" y="3578734"/>
                </a:lnTo>
                <a:lnTo>
                  <a:pt x="13316219" y="0"/>
                </a:lnTo>
                <a:close/>
              </a:path>
            </a:pathLst>
          </a:custGeom>
          <a:blipFill>
            <a:blip r:embed="rId5">
              <a:alphaModFix amt="77000"/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TextBox 6"/>
          <p:cNvSpPr txBox="1"/>
          <p:nvPr/>
        </p:nvSpPr>
        <p:spPr>
          <a:xfrm>
            <a:off x="4394507" y="7368933"/>
            <a:ext cx="9519548" cy="1197229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068"/>
              </a:lnSpc>
            </a:pPr>
            <a:r>
              <a:rPr lang="en-US" sz="2600">
                <a:solidFill>
                  <a:srgbClr val="55676D"/>
                </a:solidFill>
                <a:latin typeface="DIN Next"/>
                <a:ea typeface="DIN Next"/>
                <a:cs typeface="DIN Next"/>
                <a:sym typeface="DIN Next"/>
              </a:rPr>
              <a:t>Lorem ipsum dolor sit amet, consectetur adipiscing elit. Quisque non elit mauris. Cras euismod, metus ac finibus finibus, felis dui suscipit purus, a maximus leo ligula at dolor. </a:t>
            </a:r>
          </a:p>
        </p:txBody>
      </p:sp>
      <p:grpSp>
        <p:nvGrpSpPr>
          <p:cNvPr id="7" name="Group 7"/>
          <p:cNvGrpSpPr/>
          <p:nvPr/>
        </p:nvGrpSpPr>
        <p:grpSpPr>
          <a:xfrm>
            <a:off x="4001106" y="10044900"/>
            <a:ext cx="1860164" cy="484200"/>
            <a:chOff x="0" y="0"/>
            <a:chExt cx="812800" cy="211572"/>
          </a:xfrm>
        </p:grpSpPr>
        <p:sp>
          <p:nvSpPr>
            <p:cNvPr id="8" name="Freeform 8"/>
            <p:cNvSpPr/>
            <p:nvPr/>
          </p:nvSpPr>
          <p:spPr>
            <a:xfrm>
              <a:off x="0" y="0"/>
              <a:ext cx="812800" cy="211572"/>
            </a:xfrm>
            <a:custGeom>
              <a:avLst/>
              <a:gdLst/>
              <a:ahLst/>
              <a:cxnLst/>
              <a:rect l="l" t="t" r="r" b="b"/>
              <a:pathLst>
                <a:path w="812800" h="211572">
                  <a:moveTo>
                    <a:pt x="203200" y="0"/>
                  </a:moveTo>
                  <a:lnTo>
                    <a:pt x="812800" y="0"/>
                  </a:lnTo>
                  <a:lnTo>
                    <a:pt x="609600" y="211572"/>
                  </a:lnTo>
                  <a:lnTo>
                    <a:pt x="0" y="211572"/>
                  </a:lnTo>
                  <a:lnTo>
                    <a:pt x="203200" y="0"/>
                  </a:lnTo>
                  <a:close/>
                </a:path>
              </a:pathLst>
            </a:custGeom>
            <a:solidFill>
              <a:srgbClr val="3D5871"/>
            </a:solidFill>
          </p:spPr>
        </p:sp>
        <p:sp>
          <p:nvSpPr>
            <p:cNvPr id="9" name="TextBox 9"/>
            <p:cNvSpPr txBox="1"/>
            <p:nvPr/>
          </p:nvSpPr>
          <p:spPr>
            <a:xfrm>
              <a:off x="101600" y="-38100"/>
              <a:ext cx="609600" cy="249672"/>
            </a:xfrm>
            <a:prstGeom prst="rect">
              <a:avLst/>
            </a:prstGeom>
          </p:spPr>
          <p:txBody>
            <a:bodyPr lIns="50800" tIns="50800" rIns="50800" bIns="50800" rtlCol="0" anchor="ctr"/>
            <a:lstStyle/>
            <a:p>
              <a:pPr algn="ctr">
                <a:lnSpc>
                  <a:spcPts val="2659"/>
                </a:lnSpc>
              </a:pPr>
              <a:endParaRPr/>
            </a:p>
          </p:txBody>
        </p:sp>
      </p:grpSp>
      <p:pic>
        <p:nvPicPr>
          <p:cNvPr id="10" name="Picture 10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2860721" y="2139436"/>
            <a:ext cx="12566557" cy="5792573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 flipH="1" flipV="1"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18288000" y="10287000"/>
                </a:moveTo>
                <a:lnTo>
                  <a:pt x="0" y="10287000"/>
                </a:lnTo>
                <a:lnTo>
                  <a:pt x="0" y="0"/>
                </a:lnTo>
                <a:lnTo>
                  <a:pt x="18288000" y="0"/>
                </a:lnTo>
                <a:lnTo>
                  <a:pt x="18288000" y="10287000"/>
                </a:lnTo>
                <a:close/>
              </a:path>
            </a:pathLst>
          </a:custGeom>
          <a:blipFill>
            <a:blip r:embed="rId2"/>
            <a:stretch>
              <a:fillRect t="-30473" r="-31580" b="-19235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13508779" y="615331"/>
            <a:ext cx="4114800" cy="826739"/>
          </a:xfrm>
          <a:custGeom>
            <a:avLst/>
            <a:gdLst/>
            <a:ahLst/>
            <a:cxnLst/>
            <a:rect l="l" t="t" r="r" b="b"/>
            <a:pathLst>
              <a:path w="4114800" h="826739">
                <a:moveTo>
                  <a:pt x="4114800" y="0"/>
                </a:moveTo>
                <a:lnTo>
                  <a:pt x="0" y="0"/>
                </a:lnTo>
                <a:lnTo>
                  <a:pt x="0" y="826738"/>
                </a:lnTo>
                <a:lnTo>
                  <a:pt x="4114800" y="826738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t="-397714"/>
            </a:stretch>
          </a:blipFill>
        </p:spPr>
      </p:sp>
      <p:grpSp>
        <p:nvGrpSpPr>
          <p:cNvPr id="4" name="Group 4"/>
          <p:cNvGrpSpPr/>
          <p:nvPr/>
        </p:nvGrpSpPr>
        <p:grpSpPr>
          <a:xfrm>
            <a:off x="-405791" y="9486900"/>
            <a:ext cx="12715897" cy="1445680"/>
            <a:chOff x="0" y="0"/>
            <a:chExt cx="16954530" cy="1927573"/>
          </a:xfrm>
        </p:grpSpPr>
        <p:sp>
          <p:nvSpPr>
            <p:cNvPr id="5" name="Freeform 5"/>
            <p:cNvSpPr/>
            <p:nvPr/>
          </p:nvSpPr>
          <p:spPr>
            <a:xfrm flipH="1">
              <a:off x="0" y="0"/>
              <a:ext cx="9753600" cy="1219200"/>
            </a:xfrm>
            <a:custGeom>
              <a:avLst/>
              <a:gdLst/>
              <a:ahLst/>
              <a:cxnLst/>
              <a:rect l="l" t="t" r="r" b="b"/>
              <a:pathLst>
                <a:path w="9753600" h="1219200">
                  <a:moveTo>
                    <a:pt x="9753600" y="0"/>
                  </a:moveTo>
                  <a:lnTo>
                    <a:pt x="0" y="0"/>
                  </a:lnTo>
                  <a:lnTo>
                    <a:pt x="0" y="1219200"/>
                  </a:lnTo>
                  <a:lnTo>
                    <a:pt x="9753600" y="1219200"/>
                  </a:lnTo>
                  <a:lnTo>
                    <a:pt x="9753600" y="0"/>
                  </a:lnTo>
                  <a:close/>
                </a:path>
              </a:pathLst>
            </a:custGeom>
            <a:blipFill>
              <a:blip r:embed="rId5">
                <a:alphaModFix amt="77000"/>
                <a:extLst>
                  <a:ext uri="{96DAC541-7B7A-43D3-8B79-37D633B846F1}">
                    <asvg:svgBlip xmlns:asvg="http://schemas.microsoft.com/office/drawing/2016/SVG/main" r:embed="rId6"/>
                  </a:ext>
                </a:extLst>
              </a:blip>
              <a:stretch>
                <a:fillRect/>
              </a:stretch>
            </a:blipFill>
            <a:ln cap="sq">
              <a:noFill/>
              <a:prstDash val="solid"/>
              <a:miter/>
            </a:ln>
          </p:spPr>
        </p:sp>
        <p:grpSp>
          <p:nvGrpSpPr>
            <p:cNvPr id="6" name="Group 6"/>
            <p:cNvGrpSpPr/>
            <p:nvPr/>
          </p:nvGrpSpPr>
          <p:grpSpPr>
            <a:xfrm>
              <a:off x="4353870" y="798178"/>
              <a:ext cx="12600659" cy="1129395"/>
              <a:chOff x="0" y="0"/>
              <a:chExt cx="4507680" cy="404023"/>
            </a:xfrm>
          </p:grpSpPr>
          <p:sp>
            <p:nvSpPr>
              <p:cNvPr id="7" name="Freeform 7"/>
              <p:cNvSpPr/>
              <p:nvPr/>
            </p:nvSpPr>
            <p:spPr>
              <a:xfrm>
                <a:off x="0" y="0"/>
                <a:ext cx="4507680" cy="404023"/>
              </a:xfrm>
              <a:custGeom>
                <a:avLst/>
                <a:gdLst/>
                <a:ahLst/>
                <a:cxnLst/>
                <a:rect l="l" t="t" r="r" b="b"/>
                <a:pathLst>
                  <a:path w="4507680" h="404023">
                    <a:moveTo>
                      <a:pt x="203200" y="0"/>
                    </a:moveTo>
                    <a:lnTo>
                      <a:pt x="4507680" y="0"/>
                    </a:lnTo>
                    <a:lnTo>
                      <a:pt x="4304480" y="404023"/>
                    </a:lnTo>
                    <a:lnTo>
                      <a:pt x="0" y="404023"/>
                    </a:lnTo>
                    <a:lnTo>
                      <a:pt x="203200" y="0"/>
                    </a:lnTo>
                    <a:close/>
                  </a:path>
                </a:pathLst>
              </a:custGeom>
              <a:solidFill>
                <a:srgbClr val="3D5871"/>
              </a:solidFill>
            </p:spPr>
          </p:sp>
          <p:sp>
            <p:nvSpPr>
              <p:cNvPr id="8" name="TextBox 8"/>
              <p:cNvSpPr txBox="1"/>
              <p:nvPr/>
            </p:nvSpPr>
            <p:spPr>
              <a:xfrm>
                <a:off x="101600" y="-38100"/>
                <a:ext cx="4304480" cy="442123"/>
              </a:xfrm>
              <a:prstGeom prst="rect">
                <a:avLst/>
              </a:prstGeom>
            </p:spPr>
            <p:txBody>
              <a:bodyPr lIns="50800" tIns="50800" rIns="50800" bIns="50800" rtlCol="0" anchor="ctr"/>
              <a:lstStyle/>
              <a:p>
                <a:pPr algn="ctr">
                  <a:lnSpc>
                    <a:spcPts val="2659"/>
                  </a:lnSpc>
                </a:pPr>
                <a:endParaRPr/>
              </a:p>
            </p:txBody>
          </p:sp>
        </p:grpSp>
      </p:grpSp>
      <p:grpSp>
        <p:nvGrpSpPr>
          <p:cNvPr id="9" name="Group 9"/>
          <p:cNvGrpSpPr>
            <a:grpSpLocks noChangeAspect="1"/>
          </p:cNvGrpSpPr>
          <p:nvPr/>
        </p:nvGrpSpPr>
        <p:grpSpPr>
          <a:xfrm>
            <a:off x="3025601" y="3755851"/>
            <a:ext cx="2393083" cy="2393083"/>
            <a:chOff x="0" y="0"/>
            <a:chExt cx="14840029" cy="14840029"/>
          </a:xfrm>
        </p:grpSpPr>
        <p:sp>
          <p:nvSpPr>
            <p:cNvPr id="10" name="Freeform 10"/>
            <p:cNvSpPr/>
            <p:nvPr/>
          </p:nvSpPr>
          <p:spPr>
            <a:xfrm>
              <a:off x="-33258" y="-75"/>
              <a:ext cx="14906544" cy="14840178"/>
            </a:xfrm>
            <a:custGeom>
              <a:avLst/>
              <a:gdLst/>
              <a:ahLst/>
              <a:cxnLst/>
              <a:rect l="l" t="t" r="r" b="b"/>
              <a:pathLst>
                <a:path w="14906544" h="14840178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solidFill>
              <a:srgbClr val="59BCCF"/>
            </a:solidFill>
          </p:spPr>
        </p:sp>
        <p:sp>
          <p:nvSpPr>
            <p:cNvPr id="11" name="Freeform 11"/>
            <p:cNvSpPr/>
            <p:nvPr/>
          </p:nvSpPr>
          <p:spPr>
            <a:xfrm>
              <a:off x="168022" y="200309"/>
              <a:ext cx="14503985" cy="14439411"/>
            </a:xfrm>
            <a:custGeom>
              <a:avLst/>
              <a:gdLst/>
              <a:ahLst/>
              <a:cxnLst/>
              <a:rect l="l" t="t" r="r" b="b"/>
              <a:pathLst>
                <a:path w="14503985" h="14439411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2" name="Freeform 12"/>
            <p:cNvSpPr/>
            <p:nvPr/>
          </p:nvSpPr>
          <p:spPr>
            <a:xfrm>
              <a:off x="531276" y="561946"/>
              <a:ext cx="13777477" cy="13716137"/>
            </a:xfrm>
            <a:custGeom>
              <a:avLst/>
              <a:gdLst/>
              <a:ahLst/>
              <a:cxnLst/>
              <a:rect l="l" t="t" r="r" b="b"/>
              <a:pathLst>
                <a:path w="13777477" h="1371613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7"/>
              <a:stretch>
                <a:fillRect l="-11769" t="-27966" r="-79086"/>
              </a:stretch>
            </a:blipFill>
          </p:spPr>
        </p:sp>
      </p:grpSp>
      <p:grpSp>
        <p:nvGrpSpPr>
          <p:cNvPr id="13" name="Group 13"/>
          <p:cNvGrpSpPr>
            <a:grpSpLocks noChangeAspect="1"/>
          </p:cNvGrpSpPr>
          <p:nvPr/>
        </p:nvGrpSpPr>
        <p:grpSpPr>
          <a:xfrm>
            <a:off x="6306839" y="3755851"/>
            <a:ext cx="2393083" cy="2393083"/>
            <a:chOff x="0" y="0"/>
            <a:chExt cx="14840029" cy="14840029"/>
          </a:xfrm>
        </p:grpSpPr>
        <p:sp>
          <p:nvSpPr>
            <p:cNvPr id="14" name="Freeform 14"/>
            <p:cNvSpPr/>
            <p:nvPr/>
          </p:nvSpPr>
          <p:spPr>
            <a:xfrm>
              <a:off x="-33258" y="-75"/>
              <a:ext cx="14906544" cy="14840178"/>
            </a:xfrm>
            <a:custGeom>
              <a:avLst/>
              <a:gdLst/>
              <a:ahLst/>
              <a:cxnLst/>
              <a:rect l="l" t="t" r="r" b="b"/>
              <a:pathLst>
                <a:path w="14906544" h="14840178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solidFill>
              <a:srgbClr val="59BCCF"/>
            </a:solidFill>
          </p:spPr>
        </p:sp>
        <p:sp>
          <p:nvSpPr>
            <p:cNvPr id="15" name="Freeform 15"/>
            <p:cNvSpPr/>
            <p:nvPr/>
          </p:nvSpPr>
          <p:spPr>
            <a:xfrm>
              <a:off x="168022" y="200309"/>
              <a:ext cx="14503985" cy="14439411"/>
            </a:xfrm>
            <a:custGeom>
              <a:avLst/>
              <a:gdLst/>
              <a:ahLst/>
              <a:cxnLst/>
              <a:rect l="l" t="t" r="r" b="b"/>
              <a:pathLst>
                <a:path w="14503985" h="14439411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16" name="Freeform 16"/>
            <p:cNvSpPr/>
            <p:nvPr/>
          </p:nvSpPr>
          <p:spPr>
            <a:xfrm>
              <a:off x="531276" y="561946"/>
              <a:ext cx="13777477" cy="13716137"/>
            </a:xfrm>
            <a:custGeom>
              <a:avLst/>
              <a:gdLst/>
              <a:ahLst/>
              <a:cxnLst/>
              <a:rect l="l" t="t" r="r" b="b"/>
              <a:pathLst>
                <a:path w="13777477" h="1371613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8"/>
              <a:stretch>
                <a:fillRect l="-54318" t="-37692" r="-58634" b="-4821"/>
              </a:stretch>
            </a:blipFill>
          </p:spPr>
        </p:sp>
      </p:grpSp>
      <p:grpSp>
        <p:nvGrpSpPr>
          <p:cNvPr id="17" name="Group 17"/>
          <p:cNvGrpSpPr>
            <a:grpSpLocks noChangeAspect="1"/>
          </p:cNvGrpSpPr>
          <p:nvPr/>
        </p:nvGrpSpPr>
        <p:grpSpPr>
          <a:xfrm>
            <a:off x="9588078" y="3739441"/>
            <a:ext cx="2393083" cy="2393083"/>
            <a:chOff x="0" y="0"/>
            <a:chExt cx="14840029" cy="14840029"/>
          </a:xfrm>
        </p:grpSpPr>
        <p:sp>
          <p:nvSpPr>
            <p:cNvPr id="18" name="Freeform 18"/>
            <p:cNvSpPr/>
            <p:nvPr/>
          </p:nvSpPr>
          <p:spPr>
            <a:xfrm>
              <a:off x="-33258" y="-75"/>
              <a:ext cx="14906544" cy="14840178"/>
            </a:xfrm>
            <a:custGeom>
              <a:avLst/>
              <a:gdLst/>
              <a:ahLst/>
              <a:cxnLst/>
              <a:rect l="l" t="t" r="r" b="b"/>
              <a:pathLst>
                <a:path w="14906544" h="14840178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solidFill>
              <a:srgbClr val="59BCCF"/>
            </a:solidFill>
          </p:spPr>
        </p:sp>
        <p:sp>
          <p:nvSpPr>
            <p:cNvPr id="19" name="Freeform 19"/>
            <p:cNvSpPr/>
            <p:nvPr/>
          </p:nvSpPr>
          <p:spPr>
            <a:xfrm>
              <a:off x="168022" y="200309"/>
              <a:ext cx="14503985" cy="14439411"/>
            </a:xfrm>
            <a:custGeom>
              <a:avLst/>
              <a:gdLst/>
              <a:ahLst/>
              <a:cxnLst/>
              <a:rect l="l" t="t" r="r" b="b"/>
              <a:pathLst>
                <a:path w="14503985" h="14439411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0" name="Freeform 20"/>
            <p:cNvSpPr/>
            <p:nvPr/>
          </p:nvSpPr>
          <p:spPr>
            <a:xfrm>
              <a:off x="531276" y="561946"/>
              <a:ext cx="13777477" cy="13716137"/>
            </a:xfrm>
            <a:custGeom>
              <a:avLst/>
              <a:gdLst/>
              <a:ahLst/>
              <a:cxnLst/>
              <a:rect l="l" t="t" r="r" b="b"/>
              <a:pathLst>
                <a:path w="13777477" h="1371613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9"/>
              <a:stretch>
                <a:fillRect l="223" t="-42613" r="223" b="-7248"/>
              </a:stretch>
            </a:blipFill>
          </p:spPr>
        </p:sp>
      </p:grpSp>
      <p:grpSp>
        <p:nvGrpSpPr>
          <p:cNvPr id="21" name="Group 21"/>
          <p:cNvGrpSpPr>
            <a:grpSpLocks noChangeAspect="1"/>
          </p:cNvGrpSpPr>
          <p:nvPr/>
        </p:nvGrpSpPr>
        <p:grpSpPr>
          <a:xfrm>
            <a:off x="12869316" y="3755851"/>
            <a:ext cx="2393083" cy="2393083"/>
            <a:chOff x="0" y="0"/>
            <a:chExt cx="14840029" cy="14840029"/>
          </a:xfrm>
        </p:grpSpPr>
        <p:sp>
          <p:nvSpPr>
            <p:cNvPr id="22" name="Freeform 22"/>
            <p:cNvSpPr/>
            <p:nvPr/>
          </p:nvSpPr>
          <p:spPr>
            <a:xfrm>
              <a:off x="-33258" y="-75"/>
              <a:ext cx="14906544" cy="14840178"/>
            </a:xfrm>
            <a:custGeom>
              <a:avLst/>
              <a:gdLst/>
              <a:ahLst/>
              <a:cxnLst/>
              <a:rect l="l" t="t" r="r" b="b"/>
              <a:pathLst>
                <a:path w="14906544" h="14840178">
                  <a:moveTo>
                    <a:pt x="7453273" y="75"/>
                  </a:moveTo>
                  <a:cubicBezTo>
                    <a:pt x="4794451" y="-11816"/>
                    <a:pt x="2332496" y="1399825"/>
                    <a:pt x="999642" y="3700470"/>
                  </a:cubicBezTo>
                  <a:cubicBezTo>
                    <a:pt x="-333213" y="6001115"/>
                    <a:pt x="-333213" y="8839064"/>
                    <a:pt x="999642" y="11139709"/>
                  </a:cubicBezTo>
                  <a:cubicBezTo>
                    <a:pt x="2332496" y="13440354"/>
                    <a:pt x="4794451" y="14851995"/>
                    <a:pt x="7453273" y="14840104"/>
                  </a:cubicBezTo>
                  <a:cubicBezTo>
                    <a:pt x="10112093" y="14851995"/>
                    <a:pt x="12574049" y="13440354"/>
                    <a:pt x="13906904" y="11139709"/>
                  </a:cubicBezTo>
                  <a:cubicBezTo>
                    <a:pt x="15239758" y="8839064"/>
                    <a:pt x="15239758" y="6001115"/>
                    <a:pt x="13906904" y="3700470"/>
                  </a:cubicBezTo>
                  <a:cubicBezTo>
                    <a:pt x="12574049" y="1399825"/>
                    <a:pt x="10112093" y="-11816"/>
                    <a:pt x="7453273" y="75"/>
                  </a:cubicBezTo>
                  <a:close/>
                </a:path>
              </a:pathLst>
            </a:custGeom>
            <a:solidFill>
              <a:srgbClr val="59BCCF"/>
            </a:solidFill>
          </p:spPr>
        </p:sp>
        <p:sp>
          <p:nvSpPr>
            <p:cNvPr id="23" name="Freeform 23"/>
            <p:cNvSpPr/>
            <p:nvPr/>
          </p:nvSpPr>
          <p:spPr>
            <a:xfrm>
              <a:off x="168022" y="200309"/>
              <a:ext cx="14503985" cy="14439411"/>
            </a:xfrm>
            <a:custGeom>
              <a:avLst/>
              <a:gdLst/>
              <a:ahLst/>
              <a:cxnLst/>
              <a:rect l="l" t="t" r="r" b="b"/>
              <a:pathLst>
                <a:path w="14503985" h="14439411">
                  <a:moveTo>
                    <a:pt x="7251993" y="73"/>
                  </a:moveTo>
                  <a:cubicBezTo>
                    <a:pt x="4664974" y="-11497"/>
                    <a:pt x="2269506" y="1362022"/>
                    <a:pt x="972645" y="3600537"/>
                  </a:cubicBezTo>
                  <a:cubicBezTo>
                    <a:pt x="-324215" y="5839051"/>
                    <a:pt x="-324215" y="8600360"/>
                    <a:pt x="972645" y="10838875"/>
                  </a:cubicBezTo>
                  <a:cubicBezTo>
                    <a:pt x="2269506" y="13077389"/>
                    <a:pt x="4664974" y="14450908"/>
                    <a:pt x="7251993" y="14439338"/>
                  </a:cubicBezTo>
                  <a:cubicBezTo>
                    <a:pt x="9839011" y="14450908"/>
                    <a:pt x="12234479" y="13077389"/>
                    <a:pt x="13531340" y="10838875"/>
                  </a:cubicBezTo>
                  <a:cubicBezTo>
                    <a:pt x="14828201" y="8600360"/>
                    <a:pt x="14828201" y="5839051"/>
                    <a:pt x="13531340" y="3600537"/>
                  </a:cubicBezTo>
                  <a:cubicBezTo>
                    <a:pt x="12234479" y="1362022"/>
                    <a:pt x="9839011" y="-11497"/>
                    <a:pt x="7251993" y="73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id="24" name="Freeform 24"/>
            <p:cNvSpPr/>
            <p:nvPr/>
          </p:nvSpPr>
          <p:spPr>
            <a:xfrm>
              <a:off x="531276" y="561946"/>
              <a:ext cx="13777477" cy="13716137"/>
            </a:xfrm>
            <a:custGeom>
              <a:avLst/>
              <a:gdLst/>
              <a:ahLst/>
              <a:cxnLst/>
              <a:rect l="l" t="t" r="r" b="b"/>
              <a:pathLst>
                <a:path w="13777477" h="13716137">
                  <a:moveTo>
                    <a:pt x="6888739" y="68"/>
                  </a:moveTo>
                  <a:cubicBezTo>
                    <a:pt x="4431305" y="-10922"/>
                    <a:pt x="2155826" y="1293797"/>
                    <a:pt x="923925" y="3420184"/>
                  </a:cubicBezTo>
                  <a:cubicBezTo>
                    <a:pt x="-307975" y="5546571"/>
                    <a:pt x="-307975" y="8169565"/>
                    <a:pt x="923925" y="10295952"/>
                  </a:cubicBezTo>
                  <a:cubicBezTo>
                    <a:pt x="2155826" y="12422339"/>
                    <a:pt x="4431305" y="13727058"/>
                    <a:pt x="6888739" y="13716068"/>
                  </a:cubicBezTo>
                  <a:cubicBezTo>
                    <a:pt x="9346172" y="13727058"/>
                    <a:pt x="11621651" y="12422339"/>
                    <a:pt x="12853552" y="10295952"/>
                  </a:cubicBezTo>
                  <a:cubicBezTo>
                    <a:pt x="14085452" y="8169565"/>
                    <a:pt x="14085452" y="5546571"/>
                    <a:pt x="12853552" y="3420184"/>
                  </a:cubicBezTo>
                  <a:cubicBezTo>
                    <a:pt x="11621651" y="1293797"/>
                    <a:pt x="9346172" y="-10922"/>
                    <a:pt x="6888739" y="68"/>
                  </a:cubicBezTo>
                  <a:close/>
                </a:path>
              </a:pathLst>
            </a:custGeom>
            <a:blipFill>
              <a:blip r:embed="rId10"/>
              <a:stretch>
                <a:fillRect l="-21371" t="-41959" r="-92751" b="-1606"/>
              </a:stretch>
            </a:blipFill>
          </p:spPr>
        </p:sp>
      </p:grpSp>
      <p:sp>
        <p:nvSpPr>
          <p:cNvPr id="25" name="TextBox 25"/>
          <p:cNvSpPr txBox="1"/>
          <p:nvPr/>
        </p:nvSpPr>
        <p:spPr>
          <a:xfrm>
            <a:off x="3584902" y="1994040"/>
            <a:ext cx="11118197" cy="136334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9440"/>
              </a:lnSpc>
            </a:pPr>
            <a:r>
              <a:rPr lang="en-US" sz="8000" b="1">
                <a:solidFill>
                  <a:srgbClr val="3D5871"/>
                </a:solidFill>
                <a:latin typeface="DIN Next Bold"/>
                <a:ea typeface="DIN Next Bold"/>
                <a:cs typeface="DIN Next Bold"/>
                <a:sym typeface="DIN Next Bold"/>
              </a:rPr>
              <a:t>Team Behind the Project</a:t>
            </a:r>
          </a:p>
        </p:txBody>
      </p:sp>
      <p:sp>
        <p:nvSpPr>
          <p:cNvPr id="26" name="TextBox 26"/>
          <p:cNvSpPr txBox="1"/>
          <p:nvPr/>
        </p:nvSpPr>
        <p:spPr>
          <a:xfrm>
            <a:off x="2288565" y="6457429"/>
            <a:ext cx="3867155" cy="522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57"/>
              </a:lnSpc>
            </a:pPr>
            <a:r>
              <a:rPr lang="en-US" sz="3099" b="1">
                <a:solidFill>
                  <a:srgbClr val="55676D"/>
                </a:solidFill>
                <a:latin typeface="DIN Next Bold"/>
                <a:ea typeface="DIN Next Bold"/>
                <a:cs typeface="DIN Next Bold"/>
                <a:sym typeface="DIN Next Bold"/>
              </a:rPr>
              <a:t>Aaron Loeb</a:t>
            </a:r>
          </a:p>
        </p:txBody>
      </p:sp>
      <p:sp>
        <p:nvSpPr>
          <p:cNvPr id="27" name="TextBox 27"/>
          <p:cNvSpPr txBox="1"/>
          <p:nvPr/>
        </p:nvSpPr>
        <p:spPr>
          <a:xfrm>
            <a:off x="2288565" y="6932028"/>
            <a:ext cx="3867155" cy="425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50"/>
              </a:lnSpc>
            </a:pPr>
            <a:r>
              <a:rPr lang="en-US" sz="2500">
                <a:solidFill>
                  <a:srgbClr val="55676D"/>
                </a:solidFill>
                <a:latin typeface="DIN Next"/>
                <a:ea typeface="DIN Next"/>
                <a:cs typeface="DIN Next"/>
                <a:sym typeface="DIN Next"/>
              </a:rPr>
              <a:t>Project Lead</a:t>
            </a:r>
          </a:p>
        </p:txBody>
      </p:sp>
      <p:sp>
        <p:nvSpPr>
          <p:cNvPr id="28" name="TextBox 28"/>
          <p:cNvSpPr txBox="1"/>
          <p:nvPr/>
        </p:nvSpPr>
        <p:spPr>
          <a:xfrm>
            <a:off x="5569803" y="6457429"/>
            <a:ext cx="3867155" cy="522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57"/>
              </a:lnSpc>
            </a:pPr>
            <a:r>
              <a:rPr lang="en-US" sz="3099" b="1">
                <a:solidFill>
                  <a:srgbClr val="55676D"/>
                </a:solidFill>
                <a:latin typeface="DIN Next Bold"/>
                <a:ea typeface="DIN Next Bold"/>
                <a:cs typeface="DIN Next Bold"/>
                <a:sym typeface="DIN Next Bold"/>
              </a:rPr>
              <a:t>Ndemi Etiono</a:t>
            </a:r>
          </a:p>
        </p:txBody>
      </p:sp>
      <p:sp>
        <p:nvSpPr>
          <p:cNvPr id="29" name="TextBox 29"/>
          <p:cNvSpPr txBox="1"/>
          <p:nvPr/>
        </p:nvSpPr>
        <p:spPr>
          <a:xfrm>
            <a:off x="5569803" y="6932028"/>
            <a:ext cx="3867155" cy="425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50"/>
              </a:lnSpc>
            </a:pPr>
            <a:r>
              <a:rPr lang="en-US" sz="2500">
                <a:solidFill>
                  <a:srgbClr val="55676D"/>
                </a:solidFill>
                <a:latin typeface="DIN Next"/>
                <a:ea typeface="DIN Next"/>
                <a:cs typeface="DIN Next"/>
                <a:sym typeface="DIN Next"/>
              </a:rPr>
              <a:t>Marketing</a:t>
            </a:r>
          </a:p>
        </p:txBody>
      </p:sp>
      <p:sp>
        <p:nvSpPr>
          <p:cNvPr id="30" name="TextBox 30"/>
          <p:cNvSpPr txBox="1"/>
          <p:nvPr/>
        </p:nvSpPr>
        <p:spPr>
          <a:xfrm>
            <a:off x="8851041" y="6457429"/>
            <a:ext cx="3867155" cy="522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57"/>
              </a:lnSpc>
            </a:pPr>
            <a:r>
              <a:rPr lang="en-US" sz="3099" b="1">
                <a:solidFill>
                  <a:srgbClr val="55676D"/>
                </a:solidFill>
                <a:latin typeface="DIN Next Bold"/>
                <a:ea typeface="DIN Next Bold"/>
                <a:cs typeface="DIN Next Bold"/>
                <a:sym typeface="DIN Next Bold"/>
              </a:rPr>
              <a:t>Rufus Stewart</a:t>
            </a:r>
          </a:p>
        </p:txBody>
      </p:sp>
      <p:sp>
        <p:nvSpPr>
          <p:cNvPr id="31" name="TextBox 31"/>
          <p:cNvSpPr txBox="1"/>
          <p:nvPr/>
        </p:nvSpPr>
        <p:spPr>
          <a:xfrm>
            <a:off x="8851041" y="6932028"/>
            <a:ext cx="3867155" cy="425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50"/>
              </a:lnSpc>
            </a:pPr>
            <a:r>
              <a:rPr lang="en-US" sz="2500">
                <a:solidFill>
                  <a:srgbClr val="55676D"/>
                </a:solidFill>
                <a:latin typeface="DIN Next"/>
                <a:ea typeface="DIN Next"/>
                <a:cs typeface="DIN Next"/>
                <a:sym typeface="DIN Next"/>
              </a:rPr>
              <a:t>Product Design</a:t>
            </a:r>
          </a:p>
        </p:txBody>
      </p:sp>
      <p:sp>
        <p:nvSpPr>
          <p:cNvPr id="32" name="TextBox 32"/>
          <p:cNvSpPr txBox="1"/>
          <p:nvPr/>
        </p:nvSpPr>
        <p:spPr>
          <a:xfrm>
            <a:off x="12132280" y="6457429"/>
            <a:ext cx="3867155" cy="522224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3657"/>
              </a:lnSpc>
            </a:pPr>
            <a:r>
              <a:rPr lang="en-US" sz="3099" b="1">
                <a:solidFill>
                  <a:srgbClr val="55676D"/>
                </a:solidFill>
                <a:latin typeface="DIN Next Bold"/>
                <a:ea typeface="DIN Next Bold"/>
                <a:cs typeface="DIN Next Bold"/>
                <a:sym typeface="DIN Next Bold"/>
              </a:rPr>
              <a:t>Dani Martinez</a:t>
            </a:r>
          </a:p>
        </p:txBody>
      </p:sp>
      <p:sp>
        <p:nvSpPr>
          <p:cNvPr id="33" name="TextBox 33"/>
          <p:cNvSpPr txBox="1"/>
          <p:nvPr/>
        </p:nvSpPr>
        <p:spPr>
          <a:xfrm>
            <a:off x="12132280" y="6932028"/>
            <a:ext cx="3867155" cy="4254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ctr">
              <a:lnSpc>
                <a:spcPts val="2950"/>
              </a:lnSpc>
            </a:pPr>
            <a:r>
              <a:rPr lang="en-US" sz="2500">
                <a:solidFill>
                  <a:srgbClr val="55676D"/>
                </a:solidFill>
                <a:latin typeface="DIN Next"/>
                <a:ea typeface="DIN Next"/>
                <a:cs typeface="DIN Next"/>
                <a:sym typeface="DIN Next"/>
              </a:rPr>
              <a:t>Finance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 2"/>
          <p:cNvSpPr/>
          <p:nvPr/>
        </p:nvSpPr>
        <p:spPr>
          <a:xfrm>
            <a:off x="0" y="0"/>
            <a:ext cx="18288000" cy="10287000"/>
          </a:xfrm>
          <a:custGeom>
            <a:avLst/>
            <a:gdLst/>
            <a:ahLst/>
            <a:cxnLst/>
            <a:rect l="l" t="t" r="r" b="b"/>
            <a:pathLst>
              <a:path w="18288000" h="10287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-9231" t="-19061" r="-11075" b="-17820"/>
            </a:stretch>
          </a:blipFill>
        </p:spPr>
      </p:sp>
      <p:sp>
        <p:nvSpPr>
          <p:cNvPr id="3" name="Freeform 3"/>
          <p:cNvSpPr/>
          <p:nvPr/>
        </p:nvSpPr>
        <p:spPr>
          <a:xfrm flipH="1">
            <a:off x="-350080" y="9092685"/>
            <a:ext cx="9961255" cy="1344769"/>
          </a:xfrm>
          <a:custGeom>
            <a:avLst/>
            <a:gdLst/>
            <a:ahLst/>
            <a:cxnLst/>
            <a:rect l="l" t="t" r="r" b="b"/>
            <a:pathLst>
              <a:path w="9961255" h="1344769">
                <a:moveTo>
                  <a:pt x="9961255" y="0"/>
                </a:moveTo>
                <a:lnTo>
                  <a:pt x="0" y="0"/>
                </a:lnTo>
                <a:lnTo>
                  <a:pt x="0" y="1344769"/>
                </a:lnTo>
                <a:lnTo>
                  <a:pt x="9961255" y="1344769"/>
                </a:lnTo>
                <a:lnTo>
                  <a:pt x="9961255" y="0"/>
                </a:lnTo>
                <a:close/>
              </a:path>
            </a:pathLst>
          </a:custGeom>
          <a:blipFill>
            <a:blip r:embed="rId3">
              <a:alphaModFix amt="77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a:blipFill>
        </p:spPr>
      </p:sp>
      <p:sp>
        <p:nvSpPr>
          <p:cNvPr id="4" name="Freeform 4"/>
          <p:cNvSpPr/>
          <p:nvPr/>
        </p:nvSpPr>
        <p:spPr>
          <a:xfrm flipH="1">
            <a:off x="11459798" y="615331"/>
            <a:ext cx="4114800" cy="826739"/>
          </a:xfrm>
          <a:custGeom>
            <a:avLst/>
            <a:gdLst/>
            <a:ahLst/>
            <a:cxnLst/>
            <a:rect l="l" t="t" r="r" b="b"/>
            <a:pathLst>
              <a:path w="4114800" h="826739">
                <a:moveTo>
                  <a:pt x="4114800" y="0"/>
                </a:moveTo>
                <a:lnTo>
                  <a:pt x="0" y="0"/>
                </a:lnTo>
                <a:lnTo>
                  <a:pt x="0" y="826738"/>
                </a:lnTo>
                <a:lnTo>
                  <a:pt x="4114800" y="826738"/>
                </a:lnTo>
                <a:lnTo>
                  <a:pt x="411480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t="-397714"/>
            </a:stretch>
          </a:blipFill>
        </p:spPr>
      </p:sp>
      <p:sp>
        <p:nvSpPr>
          <p:cNvPr id="5" name="Freeform 5"/>
          <p:cNvSpPr/>
          <p:nvPr/>
        </p:nvSpPr>
        <p:spPr>
          <a:xfrm>
            <a:off x="2677783" y="6905112"/>
            <a:ext cx="479303" cy="479303"/>
          </a:xfrm>
          <a:custGeom>
            <a:avLst/>
            <a:gdLst/>
            <a:ahLst/>
            <a:cxnLst/>
            <a:rect l="l" t="t" r="r" b="b"/>
            <a:pathLst>
              <a:path w="479303" h="479303">
                <a:moveTo>
                  <a:pt x="0" y="0"/>
                </a:moveTo>
                <a:lnTo>
                  <a:pt x="479303" y="0"/>
                </a:lnTo>
                <a:lnTo>
                  <a:pt x="479303" y="479303"/>
                </a:lnTo>
                <a:lnTo>
                  <a:pt x="0" y="479303"/>
                </a:lnTo>
                <a:lnTo>
                  <a:pt x="0" y="0"/>
                </a:lnTo>
                <a:close/>
              </a:path>
            </a:pathLst>
          </a:custGeom>
          <a:blipFill>
            <a:blip r:embed="rId7">
              <a:extLst>
                <a:ext uri="{96DAC541-7B7A-43D3-8B79-37D633B846F1}">
                  <asvg:svgBlip xmlns:asvg="http://schemas.microsoft.com/office/drawing/2016/SVG/main" r:embed="rId8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6" name="Freeform 6"/>
          <p:cNvSpPr/>
          <p:nvPr/>
        </p:nvSpPr>
        <p:spPr>
          <a:xfrm>
            <a:off x="2677783" y="6238222"/>
            <a:ext cx="479303" cy="479303"/>
          </a:xfrm>
          <a:custGeom>
            <a:avLst/>
            <a:gdLst/>
            <a:ahLst/>
            <a:cxnLst/>
            <a:rect l="l" t="t" r="r" b="b"/>
            <a:pathLst>
              <a:path w="479303" h="479303">
                <a:moveTo>
                  <a:pt x="0" y="0"/>
                </a:moveTo>
                <a:lnTo>
                  <a:pt x="479303" y="0"/>
                </a:lnTo>
                <a:lnTo>
                  <a:pt x="479303" y="479304"/>
                </a:lnTo>
                <a:lnTo>
                  <a:pt x="0" y="479304"/>
                </a:lnTo>
                <a:lnTo>
                  <a:pt x="0" y="0"/>
                </a:lnTo>
                <a:close/>
              </a:path>
            </a:pathLst>
          </a:custGeom>
          <a:blipFill>
            <a:blip r:embed="rId9">
              <a:extLst>
                <a:ext uri="{96DAC541-7B7A-43D3-8B79-37D633B846F1}">
                  <asvg:svgBlip xmlns:asvg="http://schemas.microsoft.com/office/drawing/2016/SVG/main" r:embed="rId10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7" name="Freeform 7"/>
          <p:cNvSpPr/>
          <p:nvPr/>
        </p:nvSpPr>
        <p:spPr>
          <a:xfrm>
            <a:off x="2677783" y="5529829"/>
            <a:ext cx="479303" cy="479303"/>
          </a:xfrm>
          <a:custGeom>
            <a:avLst/>
            <a:gdLst/>
            <a:ahLst/>
            <a:cxnLst/>
            <a:rect l="l" t="t" r="r" b="b"/>
            <a:pathLst>
              <a:path w="479303" h="479303">
                <a:moveTo>
                  <a:pt x="0" y="0"/>
                </a:moveTo>
                <a:lnTo>
                  <a:pt x="479303" y="0"/>
                </a:lnTo>
                <a:lnTo>
                  <a:pt x="479303" y="479304"/>
                </a:lnTo>
                <a:lnTo>
                  <a:pt x="0" y="479304"/>
                </a:lnTo>
                <a:lnTo>
                  <a:pt x="0" y="0"/>
                </a:lnTo>
                <a:close/>
              </a:path>
            </a:pathLst>
          </a:custGeom>
          <a:blipFill>
            <a:blip r:embed="rId11">
              <a:extLst>
                <a:ext uri="{96DAC541-7B7A-43D3-8B79-37D633B846F1}">
                  <asvg:svgBlip xmlns:asvg="http://schemas.microsoft.com/office/drawing/2016/SVG/main" r:embed="rId12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8" name="Freeform 8"/>
          <p:cNvSpPr/>
          <p:nvPr/>
        </p:nvSpPr>
        <p:spPr>
          <a:xfrm>
            <a:off x="2677783" y="4843145"/>
            <a:ext cx="419495" cy="419495"/>
          </a:xfrm>
          <a:custGeom>
            <a:avLst/>
            <a:gdLst/>
            <a:ahLst/>
            <a:cxnLst/>
            <a:rect l="l" t="t" r="r" b="b"/>
            <a:pathLst>
              <a:path w="419495" h="419495">
                <a:moveTo>
                  <a:pt x="0" y="0"/>
                </a:moveTo>
                <a:lnTo>
                  <a:pt x="419495" y="0"/>
                </a:lnTo>
                <a:lnTo>
                  <a:pt x="419495" y="419495"/>
                </a:lnTo>
                <a:lnTo>
                  <a:pt x="0" y="419495"/>
                </a:lnTo>
                <a:lnTo>
                  <a:pt x="0" y="0"/>
                </a:lnTo>
                <a:close/>
              </a:path>
            </a:pathLst>
          </a:custGeom>
          <a:blipFill>
            <a:blip r:embed="rId13">
              <a:extLst>
                <a:ext uri="{96DAC541-7B7A-43D3-8B79-37D633B846F1}">
                  <asvg:svgBlip xmlns:asvg="http://schemas.microsoft.com/office/drawing/2016/SVG/main" r:embed="rId14"/>
                </a:ext>
              </a:extLst>
            </a:blip>
            <a:stretch>
              <a:fillRect/>
            </a:stretch>
          </a:blipFill>
          <a:ln cap="sq">
            <a:noFill/>
            <a:prstDash val="solid"/>
            <a:miter/>
          </a:ln>
        </p:spPr>
      </p:sp>
      <p:sp>
        <p:nvSpPr>
          <p:cNvPr id="9" name="TextBox 9"/>
          <p:cNvSpPr txBox="1"/>
          <p:nvPr/>
        </p:nvSpPr>
        <p:spPr>
          <a:xfrm>
            <a:off x="2381568" y="2619072"/>
            <a:ext cx="11441754" cy="2011350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14006"/>
              </a:lnSpc>
            </a:pPr>
            <a:r>
              <a:rPr lang="en-US" sz="11870" b="1">
                <a:solidFill>
                  <a:srgbClr val="3D5871"/>
                </a:solidFill>
                <a:latin typeface="DIN Next Bold"/>
                <a:ea typeface="DIN Next Bold"/>
                <a:cs typeface="DIN Next Bold"/>
                <a:sym typeface="DIN Next Bold"/>
              </a:rPr>
              <a:t>THANK YOU</a:t>
            </a:r>
          </a:p>
        </p:txBody>
      </p:sp>
      <p:sp>
        <p:nvSpPr>
          <p:cNvPr id="10" name="TextBox 10"/>
          <p:cNvSpPr txBox="1"/>
          <p:nvPr/>
        </p:nvSpPr>
        <p:spPr>
          <a:xfrm>
            <a:off x="3305998" y="4605020"/>
            <a:ext cx="7087928" cy="2779395"/>
          </a:xfrm>
          <a:prstGeom prst="rect">
            <a:avLst/>
          </a:prstGeom>
        </p:spPr>
        <p:txBody>
          <a:bodyPr lIns="0" tIns="0" rIns="0" bIns="0" rtlCol="0" anchor="t">
            <a:spAutoFit/>
          </a:bodyPr>
          <a:lstStyle/>
          <a:p>
            <a:pPr algn="l">
              <a:lnSpc>
                <a:spcPts val="5490"/>
              </a:lnSpc>
            </a:pPr>
            <a:r>
              <a:rPr lang="en-US" sz="3000">
                <a:solidFill>
                  <a:srgbClr val="55676D"/>
                </a:solidFill>
                <a:latin typeface="DIN Next"/>
                <a:ea typeface="DIN Next"/>
                <a:cs typeface="DIN Next"/>
                <a:sym typeface="DIN Next"/>
              </a:rPr>
              <a:t>123-456-7890</a:t>
            </a:r>
          </a:p>
          <a:p>
            <a:pPr algn="l">
              <a:lnSpc>
                <a:spcPts val="5490"/>
              </a:lnSpc>
            </a:pPr>
            <a:r>
              <a:rPr lang="en-US" sz="3000">
                <a:solidFill>
                  <a:srgbClr val="55676D"/>
                </a:solidFill>
                <a:latin typeface="DIN Next"/>
                <a:ea typeface="DIN Next"/>
                <a:cs typeface="DIN Next"/>
                <a:sym typeface="DIN Next"/>
              </a:rPr>
              <a:t>www.reallygreatsite.com</a:t>
            </a:r>
          </a:p>
          <a:p>
            <a:pPr algn="l">
              <a:lnSpc>
                <a:spcPts val="5490"/>
              </a:lnSpc>
            </a:pPr>
            <a:r>
              <a:rPr lang="en-US" sz="3000">
                <a:solidFill>
                  <a:srgbClr val="55676D"/>
                </a:solidFill>
                <a:latin typeface="DIN Next"/>
                <a:ea typeface="DIN Next"/>
                <a:cs typeface="DIN Next"/>
                <a:sym typeface="DIN Next"/>
              </a:rPr>
              <a:t>hello@reallygreatsite.com</a:t>
            </a:r>
          </a:p>
          <a:p>
            <a:pPr algn="l">
              <a:lnSpc>
                <a:spcPts val="5490"/>
              </a:lnSpc>
            </a:pPr>
            <a:r>
              <a:rPr lang="en-US" sz="3000">
                <a:solidFill>
                  <a:srgbClr val="55676D"/>
                </a:solidFill>
                <a:latin typeface="DIN Next"/>
                <a:ea typeface="DIN Next"/>
                <a:cs typeface="DIN Next"/>
                <a:sym typeface="DIN Next"/>
              </a:rPr>
              <a:t>123 Anywhere St., Any City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52</TotalTime>
  <Words>667</Words>
  <Application>Microsoft Office PowerPoint</Application>
  <PresentationFormat>مخصص</PresentationFormat>
  <Paragraphs>60</Paragraphs>
  <Slides>10</Slides>
  <Notes>0</Notes>
  <HiddenSlides>0</HiddenSlides>
  <MMClips>0</MMClips>
  <ScaleCrop>false</ScaleCrop>
  <HeadingPairs>
    <vt:vector size="6" baseType="variant">
      <vt:variant>
        <vt:lpstr>الخطوط المستخدمة</vt:lpstr>
      </vt:variant>
      <vt:variant>
        <vt:i4>6</vt:i4>
      </vt:variant>
      <vt:variant>
        <vt:lpstr>نسق</vt:lpstr>
      </vt:variant>
      <vt:variant>
        <vt:i4>1</vt:i4>
      </vt:variant>
      <vt:variant>
        <vt:lpstr>عناوين الشرائح</vt:lpstr>
      </vt:variant>
      <vt:variant>
        <vt:i4>10</vt:i4>
      </vt:variant>
    </vt:vector>
  </HeadingPairs>
  <TitlesOfParts>
    <vt:vector size="17" baseType="lpstr">
      <vt:lpstr>Quattrocento Sans</vt:lpstr>
      <vt:lpstr>Calibri</vt:lpstr>
      <vt:lpstr>DIN Next</vt:lpstr>
      <vt:lpstr>Liter</vt:lpstr>
      <vt:lpstr>DIN Next Bold</vt:lpstr>
      <vt:lpstr>Arial</vt:lpstr>
      <vt:lpstr>Office Theme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  <vt:lpstr>عرض تقديمي في PowerPoint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Blue and White Simple Elegant Project Presentation</dc:title>
  <cp:lastModifiedBy>ذي يزن المنصوب</cp:lastModifiedBy>
  <cp:revision>3</cp:revision>
  <dcterms:created xsi:type="dcterms:W3CDTF">2006-08-16T00:00:00Z</dcterms:created>
  <dcterms:modified xsi:type="dcterms:W3CDTF">2026-02-15T20:06:13Z</dcterms:modified>
  <dc:identifier>DAHBa1D_78k</dc:identifier>
</cp:coreProperties>
</file>